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7" r:id="rId1"/>
  </p:sldMasterIdLst>
  <p:notesMasterIdLst>
    <p:notesMasterId r:id="rId62"/>
  </p:notesMasterIdLst>
  <p:handoutMasterIdLst>
    <p:handoutMasterId r:id="rId63"/>
  </p:handoutMasterIdLst>
  <p:sldIdLst>
    <p:sldId id="256" r:id="rId2"/>
    <p:sldId id="270" r:id="rId3"/>
    <p:sldId id="469" r:id="rId4"/>
    <p:sldId id="410" r:id="rId5"/>
    <p:sldId id="470" r:id="rId6"/>
    <p:sldId id="502" r:id="rId7"/>
    <p:sldId id="473" r:id="rId8"/>
    <p:sldId id="293" r:id="rId9"/>
    <p:sldId id="471" r:id="rId10"/>
    <p:sldId id="472" r:id="rId11"/>
    <p:sldId id="503" r:id="rId12"/>
    <p:sldId id="504" r:id="rId13"/>
    <p:sldId id="505" r:id="rId14"/>
    <p:sldId id="506" r:id="rId15"/>
    <p:sldId id="507" r:id="rId16"/>
    <p:sldId id="508" r:id="rId17"/>
    <p:sldId id="474" r:id="rId18"/>
    <p:sldId id="509" r:id="rId19"/>
    <p:sldId id="510" r:id="rId20"/>
    <p:sldId id="511" r:id="rId21"/>
    <p:sldId id="512" r:id="rId22"/>
    <p:sldId id="513" r:id="rId23"/>
    <p:sldId id="321" r:id="rId24"/>
    <p:sldId id="514" r:id="rId25"/>
    <p:sldId id="515" r:id="rId26"/>
    <p:sldId id="516" r:id="rId27"/>
    <p:sldId id="517" r:id="rId28"/>
    <p:sldId id="518" r:id="rId29"/>
    <p:sldId id="519" r:id="rId30"/>
    <p:sldId id="327" r:id="rId31"/>
    <p:sldId id="486" r:id="rId32"/>
    <p:sldId id="520" r:id="rId33"/>
    <p:sldId id="521" r:id="rId34"/>
    <p:sldId id="522" r:id="rId35"/>
    <p:sldId id="523" r:id="rId36"/>
    <p:sldId id="524" r:id="rId37"/>
    <p:sldId id="525" r:id="rId38"/>
    <p:sldId id="526" r:id="rId39"/>
    <p:sldId id="334" r:id="rId40"/>
    <p:sldId id="375" r:id="rId41"/>
    <p:sldId id="527" r:id="rId42"/>
    <p:sldId id="528" r:id="rId43"/>
    <p:sldId id="529" r:id="rId44"/>
    <p:sldId id="530" r:id="rId45"/>
    <p:sldId id="531" r:id="rId46"/>
    <p:sldId id="532" r:id="rId47"/>
    <p:sldId id="533" r:id="rId48"/>
    <p:sldId id="534" r:id="rId49"/>
    <p:sldId id="535" r:id="rId50"/>
    <p:sldId id="495" r:id="rId51"/>
    <p:sldId id="501" r:id="rId52"/>
    <p:sldId id="657" r:id="rId53"/>
    <p:sldId id="658" r:id="rId54"/>
    <p:sldId id="660" r:id="rId55"/>
    <p:sldId id="725" r:id="rId56"/>
    <p:sldId id="726" r:id="rId57"/>
    <p:sldId id="727" r:id="rId58"/>
    <p:sldId id="728" r:id="rId59"/>
    <p:sldId id="729" r:id="rId60"/>
    <p:sldId id="730" r:id="rId61"/>
  </p:sldIdLst>
  <p:sldSz cx="12192000" cy="6858000"/>
  <p:notesSz cx="6858000" cy="91170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sura Embuldeniya" initials="TE" lastIdx="1" clrIdx="0">
    <p:extLst>
      <p:ext uri="{19B8F6BF-5375-455C-9EA6-DF929625EA0E}">
        <p15:presenceInfo xmlns:p15="http://schemas.microsoft.com/office/powerpoint/2012/main" userId="Thisura Embuldeni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84"/>
    <a:srgbClr val="007000"/>
    <a:srgbClr val="990000"/>
    <a:srgbClr val="008101"/>
    <a:srgbClr val="00D500"/>
    <a:srgbClr val="00D5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92" autoAdjust="0"/>
    <p:restoredTop sz="76553" autoAdjust="0"/>
  </p:normalViewPr>
  <p:slideViewPr>
    <p:cSldViewPr>
      <p:cViewPr varScale="1">
        <p:scale>
          <a:sx n="88" d="100"/>
          <a:sy n="88" d="100"/>
        </p:scale>
        <p:origin x="171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20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0006009-C8A5-F11E-E268-93F974210E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C0CA48C-09AF-7C9A-4195-3D2328B8982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7776C944-EA5B-1FAF-B28C-8D8CA6F34CC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4F00AD5-AD79-FF2F-0790-B8A4F97E4A1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4317DC3-BFDA-0947-A178-1C298ABF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8A19D3-F2AC-CA32-3DA3-E3ED416DC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5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7701A-D056-2203-2DC3-AE192D1E50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5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D6B0F57A-04E5-0540-A1A0-952260D73BE1}" type="datetimeFigureOut">
              <a:rPr lang="en-US" altLang="en-US"/>
              <a:pPr>
                <a:defRPr/>
              </a:pPr>
              <a:t>8/25/2025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896BB95-6A69-34AB-1339-78BD7D188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2113" y="684213"/>
            <a:ext cx="6073775" cy="3417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727E08-A12F-E29B-335E-D474A0326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FFD0A-71DC-9E9D-A3BD-CA756C07BF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BAAF5-D0F0-5094-5D9A-B211B413B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BD23AC-336B-CE4A-AE44-9815AB59A4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998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9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self.item</a:t>
            </a:r>
            <a:r>
              <a:rPr lang="en-US" dirty="0"/>
              <a:t>: keeps the </a:t>
            </a:r>
            <a:r>
              <a:rPr lang="en-US" b="1" dirty="0"/>
              <a:t>value</a:t>
            </a:r>
            <a:r>
              <a:rPr lang="en-US" dirty="0"/>
              <a:t> that the node holds (e.g., 5, "hello", etc.).</a:t>
            </a:r>
          </a:p>
          <a:p>
            <a:r>
              <a:rPr lang="en-US" dirty="0" err="1"/>
              <a:t>self.next</a:t>
            </a:r>
            <a:r>
              <a:rPr lang="en-US" dirty="0"/>
              <a:t>: is a </a:t>
            </a:r>
            <a:r>
              <a:rPr lang="en-US" b="1" dirty="0"/>
              <a:t>reference to the next node</a:t>
            </a:r>
            <a:r>
              <a:rPr lang="en-US" dirty="0"/>
              <a:t> in the linked list. Initially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53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37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13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79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You can refer to the Linked List Lab Answers for the Linked List class’s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1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You can refer to the Linked List Lab Answers for the Linked List class’s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49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You can refer to the Linked List Lab Answers for the Linked List class’s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68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You can refer to the Linked List Lab Answers for the Linked List class’s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30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07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33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18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8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30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078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46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40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826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139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95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447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88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512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595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775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96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805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077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444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36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417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173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337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08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620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40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354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995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60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074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388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416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330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03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941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362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9895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676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852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9458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EA742-99EB-4477-84A0-2686E17B26C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7066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EA742-99EB-4477-84A0-2686E17B26C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707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1091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257E-3053-48F9-AF47-8B01721D4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174E0-5944-4878-AEF1-C5259EDCE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80E95-E146-4257-8F12-3E0D566F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C5C43-CA97-470C-ADE9-4AC83332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95057-47E6-487A-BAEE-43A95AC0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30A5-D5CA-A246-A156-56ED2EC776E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88DE-A057-42F6-A6DC-1E6DF10A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4FE7-DE29-4220-B45B-E3165A57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E7D05-41BE-4646-ADC0-F29FF52F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FC04D-2B6D-4F02-9379-39DFF221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C647-66B2-43EA-9EED-9BA0B148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12656-71E1-C743-8C98-B63CD25CF2C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508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D9EB-7DC7-4DB2-8F4F-CFC94777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C1CF0-6AB6-49D7-BECC-7021BA4C3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DE906-1373-4F27-A451-5D3267D2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0FA46-69A7-4811-90E1-DEDA05B5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AD46-5D9D-4D4A-A154-E4EF4B1D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46413-4138-1741-9544-A971B9E4B9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58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648D-C56C-438A-A0B5-241602DB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DFEC0-93F6-4BD7-BB41-54D2A7877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46F53-6ED2-4C35-A945-F0DB5BB6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E855A-2919-49A1-9404-A262E1AB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CF54-A1EF-4ABE-88A3-1958B154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EBC3D-C887-42C4-B1FC-D798377A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B943D-DA51-A44E-9BC0-B926421C4F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9CD365C-8F07-492B-BA5A-847747DB0CCC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159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B275-7417-43D8-9207-B8A69C1A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D745B-7392-4FF0-B273-B59D5BB33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A104B-C8A4-4139-A010-907410F45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191E3-BE5A-4659-8984-E68769E89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5E952-80E1-40AA-9342-48B3C6807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33580-B74A-4F2A-AD5E-261D58F9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028E1-C39E-4724-BB9B-5A310E0B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42FC7-CCA5-45FB-A278-92F4FC46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C4715-6A71-1C46-9980-4AE305EAD29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58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1C20-B2EB-48DC-A5EC-875632D2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DF8CB-93B7-409D-97EF-356CB343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394EB-F370-4E97-9997-BE95563E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02EBB-F440-4B59-B9FD-2AD261BC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47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0B2A47-46D6-42D5-BDBE-E52134F7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62E42-B7B3-4F33-84D7-831A1B12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FE50F-0B21-4838-90C1-7F40FB4E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62868-DD1E-A642-8FEC-D36C027838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825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B924-D81C-44C0-BCB3-553AB7B0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D6CF-C78F-4B8A-9B44-1FB03E17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BBEC-DD5A-499C-A78A-03DEA8384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498EE-3406-4371-8BC1-4EFAC61D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95007-4873-4C8D-B644-8C0C3EE8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8359E-A9CF-4F4B-8649-D470D91C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E60E2-CFCD-8D45-BC62-DECE35FE1F6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15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AB15-9B2D-438E-BC92-9D0A8F42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4865A-3459-441D-8F43-4997461B0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2B3DD-A484-4942-8A0C-B7C3E1672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CE3D4-C063-49D7-9B3B-782D063E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D7425-E34A-4A52-BCF8-D008C185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D05D9-6E17-46C2-A1DD-9681823A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E8B059-8C46-F247-8A74-0D28BDE5E33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65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5B43-A193-4493-A2BE-590A4341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B9682-392E-4813-AD6E-F3DCE6BF9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28A7-1DD5-422E-BEC2-46438760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B67C8-162D-4B22-AD42-B006811C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B4873-B533-4221-8469-57AA3753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490574-997A-3847-9212-FE26D54637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35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123116-7B90-4155-BA93-0075939EB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8B8FC-A1A9-43F9-AFDC-2D5477B47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D2FD-FD11-4EDB-AB71-E449803E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F371-418F-48A7-B0BC-45A3E60E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3C50-2A85-45FB-BCC2-76043CB7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33E6B6-6649-824A-9F70-3BBE9847395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097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ADD7B6AD-B9ED-4C48-BBA7-9F84CB1D22F9}"/>
              </a:ext>
            </a:extLst>
          </p:cNvPr>
          <p:cNvSpPr/>
          <p:nvPr userDrawn="1"/>
        </p:nvSpPr>
        <p:spPr>
          <a:xfrm>
            <a:off x="1191685" y="1241425"/>
            <a:ext cx="9808633" cy="4872038"/>
          </a:xfrm>
          <a:prstGeom prst="roundRect">
            <a:avLst>
              <a:gd name="adj" fmla="val 648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190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-23222" y="1"/>
            <a:ext cx="12215223" cy="5691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idx="1"/>
          </p:nvPr>
        </p:nvSpPr>
        <p:spPr>
          <a:xfrm>
            <a:off x="1504545" y="1439694"/>
            <a:ext cx="9234792" cy="4438591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FE65A-B79F-410B-A509-8C2B4CF4F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82251" y="6627814"/>
            <a:ext cx="1809749" cy="2301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F3920142-E640-47F8-8504-76285CEA73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12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>
            <a:extLst>
              <a:ext uri="{FF2B5EF4-FFF2-40B4-BE49-F238E27FC236}">
                <a16:creationId xmlns:a16="http://schemas.microsoft.com/office/drawing/2014/main" id="{B16F45E7-D03F-4586-B0E0-EC63E966491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38200" y="1066800"/>
            <a:ext cx="10363200" cy="510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tlCol="0"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sz="2800" i="1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8F009-9366-4850-9E23-2A84A3F79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1130530"/>
            <a:ext cx="10020300" cy="5041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422F-6D07-497F-B7A0-A689BBB3B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7E0829-F0AB-F54C-9D83-2E2209BD69B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6C82-C460-43F0-9B4C-C710E9B5099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0"/>
            <a:ext cx="12192000" cy="712560"/>
          </a:xfrm>
          <a:prstGeom prst="rect">
            <a:avLst/>
          </a:prstGeom>
          <a:solidFill>
            <a:srgbClr val="005684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0534D-CF79-4C82-943E-954E07D7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978768-B8C8-4719-8F17-5A23840DCCE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638300" y="6416675"/>
            <a:ext cx="87630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Content Copyright Nanyang Technological University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F39C9BC-F78C-4B17-929F-32B2ED95D225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37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bldLvl="4" autoUpdateAnimBg="0"/>
      <p:bldP spid="3" grpId="0" build="p" bldLvl="4" autoUpdateAnimBg="0"/>
    </p:bldLst>
  </p:timing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4E137-ACEE-41BF-87CB-D2B72CD5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91" r="1898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1DDACFC5-EB70-4F0D-A5C1-F08AA8632C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719" y="2865536"/>
            <a:ext cx="6128481" cy="1672517"/>
          </a:xfrm>
        </p:spPr>
        <p:txBody>
          <a:bodyPr rtlCol="0" anchor="b">
            <a:noAutofit/>
          </a:bodyPr>
          <a:lstStyle/>
          <a:p>
            <a:pPr algn="l">
              <a:defRPr/>
            </a:pPr>
            <a: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Data Structures &amp; Algorithms in Python</a:t>
            </a: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b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lang="en-US" sz="1800" dirty="0"/>
              <a:t>Stacks and Queues – Tutorials Answers</a:t>
            </a: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lang="fr-FR" alt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Dr. Owen Noel Newton Fernando</a:t>
            </a:r>
            <a:br>
              <a:rPr lang="en-US" altLang="en-US" sz="2000" dirty="0">
                <a:solidFill>
                  <a:schemeClr val="bg1"/>
                </a:solidFill>
                <a:latin typeface="Verdana" panose="020B0604030504040204" pitchFamily="34" charset="0"/>
              </a:rPr>
            </a:b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57AFD-D505-4500-9697-EDFFEF0B2629}"/>
              </a:ext>
            </a:extLst>
          </p:cNvPr>
          <p:cNvSpPr txBox="1"/>
          <p:nvPr/>
        </p:nvSpPr>
        <p:spPr>
          <a:xfrm>
            <a:off x="43719" y="5641705"/>
            <a:ext cx="4248279" cy="10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1400" b="1" dirty="0">
                <a:solidFill>
                  <a:schemeClr val="bg1"/>
                </a:solidFill>
              </a:rPr>
              <a:t>College of Engineering </a:t>
            </a:r>
            <a:br>
              <a:rPr lang="en-SG" sz="1400" dirty="0">
                <a:solidFill>
                  <a:schemeClr val="bg1"/>
                </a:solidFill>
              </a:rPr>
            </a:br>
            <a:r>
              <a:rPr lang="en-SG" sz="1400" dirty="0">
                <a:solidFill>
                  <a:schemeClr val="bg1"/>
                </a:solidFill>
              </a:rPr>
              <a:t>School of Computer Science and Engineering</a:t>
            </a:r>
          </a:p>
          <a:p>
            <a:pPr>
              <a:lnSpc>
                <a:spcPct val="150000"/>
              </a:lnSpc>
            </a:pPr>
            <a:endParaRPr lang="en-SG" sz="14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DDBA02-A0B9-4A7D-9F97-3DA4C9378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6704"/>
            <a:ext cx="3878519" cy="1551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BD78E2-8F60-4FE9-AB92-C50D665E75DF}"/>
              </a:ext>
            </a:extLst>
          </p:cNvPr>
          <p:cNvSpPr/>
          <p:nvPr/>
        </p:nvSpPr>
        <p:spPr>
          <a:xfrm>
            <a:off x="1295400" y="1566208"/>
            <a:ext cx="9601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reverseStack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function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reverse_stack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that reverses a stack using a queue. Note that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reverse_stack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only uses push() and pop() when adding or removing integers from the stack, and only uses enqueue() and dequeue() when adding or removing integers from the queue.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prototypes are given as follows: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reverse_stack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(stack): </a:t>
            </a:r>
            <a:endParaRPr lang="en-US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6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24775-85BF-4C1C-9047-247B2D1723ED}"/>
              </a:ext>
            </a:extLst>
          </p:cNvPr>
          <p:cNvSpPr/>
          <p:nvPr/>
        </p:nvSpPr>
        <p:spPr>
          <a:xfrm>
            <a:off x="1143000" y="13716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Let’s go through the answer step-by-step 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676400" y="20574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Class Definitions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BA9FA-D73C-4053-80FD-7453C6451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215825"/>
            <a:ext cx="9067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defines a node in a singly linked list.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linked list, each node stores: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actual value)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(pointer) to the next node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704C9-9165-4AA5-9618-179A08EF07F2}"/>
              </a:ext>
            </a:extLst>
          </p:cNvPr>
          <p:cNvSpPr/>
          <p:nvPr/>
        </p:nvSpPr>
        <p:spPr>
          <a:xfrm>
            <a:off x="3048000" y="2743200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__init__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427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24775-85BF-4C1C-9047-247B2D1723ED}"/>
              </a:ext>
            </a:extLst>
          </p:cNvPr>
          <p:cNvSpPr/>
          <p:nvPr/>
        </p:nvSpPr>
        <p:spPr>
          <a:xfrm>
            <a:off x="1143000" y="13716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Let’s go through the answer step-by-step 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676400" y="20574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Class Definitions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BA9FA-D73C-4053-80FD-7453C6451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354324"/>
            <a:ext cx="9067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represents the entire linked list structure, which is basically a collection of connected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ListNode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objects.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self.size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of how many nodes are currently in the list.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self.head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to the first node in the list (the "entry point").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03D476-9D25-4C80-B440-85F63A48948C}"/>
              </a:ext>
            </a:extLst>
          </p:cNvPr>
          <p:cNvSpPr/>
          <p:nvPr/>
        </p:nvSpPr>
        <p:spPr>
          <a:xfrm>
            <a:off x="3048000" y="2743200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LinkedList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__init__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485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24775-85BF-4C1C-9047-247B2D1723ED}"/>
              </a:ext>
            </a:extLst>
          </p:cNvPr>
          <p:cNvSpPr/>
          <p:nvPr/>
        </p:nvSpPr>
        <p:spPr>
          <a:xfrm>
            <a:off x="1143000" y="13716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Let’s go through the answer step-by-step 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676400" y="20574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Class Definitions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BA9FA-D73C-4053-80FD-7453C6451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902150"/>
            <a:ext cx="9067800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stack here is implemented using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self.ll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 empty linked list inside the stack to store elements.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CF98ED-6E26-4E20-BE6F-8E983AD6D764}"/>
              </a:ext>
            </a:extLst>
          </p:cNvPr>
          <p:cNvSpPr/>
          <p:nvPr/>
        </p:nvSpPr>
        <p:spPr>
          <a:xfrm>
            <a:off x="3048000" y="2743200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__init__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LinkedList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948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24775-85BF-4C1C-9047-247B2D1723ED}"/>
              </a:ext>
            </a:extLst>
          </p:cNvPr>
          <p:cNvSpPr/>
          <p:nvPr/>
        </p:nvSpPr>
        <p:spPr>
          <a:xfrm>
            <a:off x="1143000" y="13716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Let’s go through the answer step-by-step 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676400" y="20574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Class Definitions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BA9FA-D73C-4053-80FD-7453C6451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905905"/>
            <a:ext cx="9067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defines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class that models a queue data structure.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self.ll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instance of the LinkedList class.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86C6C4-9D90-4BCE-811F-52C1F039EA23}"/>
              </a:ext>
            </a:extLst>
          </p:cNvPr>
          <p:cNvSpPr/>
          <p:nvPr/>
        </p:nvSpPr>
        <p:spPr>
          <a:xfrm>
            <a:off x="3048000" y="2690634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__init__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LinkedList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955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488B9-893A-4933-92B4-2DD1CA2952A3}"/>
              </a:ext>
            </a:extLst>
          </p:cNvPr>
          <p:cNvSpPr/>
          <p:nvPr/>
        </p:nvSpPr>
        <p:spPr>
          <a:xfrm>
            <a:off x="6248400" y="1814862"/>
            <a:ext cx="4874284" cy="87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Stack: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isEmpty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(self)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090" y="1939841"/>
            <a:ext cx="3618787" cy="378565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the stack has no elements.</a:t>
            </a:r>
            <a:b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our stack is backed by a LinkedList (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self.ll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the linked list keeps track of its size using </a:t>
            </a: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self.ll.size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size is 0, the stack is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→ return True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Otherwise → return False.</a:t>
            </a:r>
            <a:endParaRPr kumimoji="0" lang="en-US" altLang="en-US" sz="2000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334000" y="2254276"/>
            <a:ext cx="800100" cy="33416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477000" y="1826314"/>
            <a:ext cx="4084319" cy="9239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12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Stack: push(self, item) , pop(self) and peek(self)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316" y="2459504"/>
            <a:ext cx="3618787" cy="193899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 new element to the top of the stack.</a:t>
            </a:r>
            <a:b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calls </a:t>
            </a: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insert_node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 item),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inserts the item at index 0 of the linked list (the head).</a:t>
            </a:r>
            <a:endParaRPr kumimoji="0" lang="en-US" altLang="en-US" sz="20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 rot="19904457">
            <a:off x="4942193" y="2087195"/>
            <a:ext cx="899717" cy="33416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096000" y="1334837"/>
            <a:ext cx="3886199" cy="7078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14DAB2-F588-46E7-839B-924AAF79AB7F}"/>
              </a:ext>
            </a:extLst>
          </p:cNvPr>
          <p:cNvSpPr/>
          <p:nvPr/>
        </p:nvSpPr>
        <p:spPr>
          <a:xfrm>
            <a:off x="5715000" y="1290804"/>
            <a:ext cx="6096000" cy="49051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insertNode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data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peek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624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D3623A-979B-4810-973B-419EB88650BD}"/>
              </a:ext>
            </a:extLst>
          </p:cNvPr>
          <p:cNvSpPr/>
          <p:nvPr/>
        </p:nvSpPr>
        <p:spPr>
          <a:xfrm>
            <a:off x="5715000" y="1290804"/>
            <a:ext cx="6096000" cy="49051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insertNode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data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peek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Stack: push(self, item) , pop(self) and peek(self)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70" y="2111057"/>
            <a:ext cx="4228388" cy="3970318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and return the top element of the stack.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First, check if stack is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is_empty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not:</a:t>
            </a:r>
            <a:b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the value of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self.ll.head.item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 from the linked list (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remove_node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stored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344731" y="3135407"/>
            <a:ext cx="725197" cy="35394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122074" y="2325670"/>
            <a:ext cx="3987572" cy="2246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20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87FE62-B8ED-4A1F-9015-BBB018D0AE1F}"/>
              </a:ext>
            </a:extLst>
          </p:cNvPr>
          <p:cNvSpPr/>
          <p:nvPr/>
        </p:nvSpPr>
        <p:spPr>
          <a:xfrm>
            <a:off x="5715000" y="1290804"/>
            <a:ext cx="6096000" cy="49051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insertNode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data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peek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Stack: push(self, item) , pop(self) and peek(self)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70" y="4057852"/>
            <a:ext cx="4228388" cy="203132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at the top element without removing it.</a:t>
            </a:r>
            <a:b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return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Otherwise,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stored in head.</a:t>
            </a:r>
            <a:endParaRPr kumimoji="0" lang="en-US" altLang="en-US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332703" y="4896544"/>
            <a:ext cx="725197" cy="35394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096000" y="4648200"/>
            <a:ext cx="3324355" cy="14596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00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9134DE-23CA-4597-93E4-52790AB6AA3C}"/>
              </a:ext>
            </a:extLst>
          </p:cNvPr>
          <p:cNvSpPr/>
          <p:nvPr/>
        </p:nvSpPr>
        <p:spPr>
          <a:xfrm>
            <a:off x="5401578" y="2299341"/>
            <a:ext cx="6096000" cy="8788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9820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Queue: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is_empty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(self)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518" y="2208675"/>
            <a:ext cx="3714926" cy="193899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method checks whether the queue has any elements or not.</a:t>
            </a:r>
            <a:b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self.ll.size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0, the linked list is empty, meaning the queue has no elements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4984278" y="2672567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5867400" y="2392784"/>
            <a:ext cx="3886199" cy="8788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46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26F6A6-3C39-4BD1-B460-A76E9FFCE0A3}"/>
              </a:ext>
            </a:extLst>
          </p:cNvPr>
          <p:cNvSpPr/>
          <p:nvPr/>
        </p:nvSpPr>
        <p:spPr>
          <a:xfrm>
            <a:off x="6248400" y="1534892"/>
            <a:ext cx="6096000" cy="41154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insert_node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1" y="1334837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Queue: enqueue(self, item)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71" y="2106843"/>
            <a:ext cx="4637772" cy="341632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an element to the end of the queue.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self.ll.insert_node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self.ll.size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item)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self.ll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linked list storing the queue elements.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insert_node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(index, value) inserts a new node at a given position.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self.ll.size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current number of elements, so inserting at this index appends the new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the end of the list, which is the rear of the queue.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 rot="20163398">
            <a:off x="5730140" y="2304269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551394" y="1609549"/>
            <a:ext cx="5257798" cy="8788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52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26F6A6-3C39-4BD1-B460-A76E9FFCE0A3}"/>
              </a:ext>
            </a:extLst>
          </p:cNvPr>
          <p:cNvSpPr/>
          <p:nvPr/>
        </p:nvSpPr>
        <p:spPr>
          <a:xfrm>
            <a:off x="6248400" y="1534892"/>
            <a:ext cx="6096000" cy="41154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insert_node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1" y="1334837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Queue:  dequeue(self)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50" y="2440633"/>
            <a:ext cx="4075899" cy="70788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and returns the front element of the queue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710765" y="2673391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609705" y="2590800"/>
            <a:ext cx="2762895" cy="533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01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26F6A6-3C39-4BD1-B460-A76E9FFCE0A3}"/>
              </a:ext>
            </a:extLst>
          </p:cNvPr>
          <p:cNvSpPr/>
          <p:nvPr/>
        </p:nvSpPr>
        <p:spPr>
          <a:xfrm>
            <a:off x="6248400" y="1534892"/>
            <a:ext cx="6096000" cy="41154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insert_node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1" y="1334837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Queue:  dequeue(self)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213" y="2610424"/>
            <a:ext cx="4075899" cy="163121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self.is_empty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None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if the queue is empty; if yes, there’s nothing to remove, so returns None.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881636" y="3241695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951448" y="3041608"/>
            <a:ext cx="2762895" cy="7683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9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26F6A6-3C39-4BD1-B460-A76E9FFCE0A3}"/>
              </a:ext>
            </a:extLst>
          </p:cNvPr>
          <p:cNvSpPr/>
          <p:nvPr/>
        </p:nvSpPr>
        <p:spPr>
          <a:xfrm>
            <a:off x="6248400" y="1534892"/>
            <a:ext cx="6096000" cy="41154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insert_node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1" y="1334837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Queue:  dequeue(self)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404" y="3272144"/>
            <a:ext cx="4297682" cy="193899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self.ll.head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 to the first node of the linked list, which represents the front of the queue.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its value in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before removing it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882641" y="3873423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966688" y="3810000"/>
            <a:ext cx="3320312" cy="4316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25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26F6A6-3C39-4BD1-B460-A76E9FFCE0A3}"/>
              </a:ext>
            </a:extLst>
          </p:cNvPr>
          <p:cNvSpPr/>
          <p:nvPr/>
        </p:nvSpPr>
        <p:spPr>
          <a:xfrm>
            <a:off x="6248400" y="1534892"/>
            <a:ext cx="6096000" cy="41154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insert_node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.ll.head.item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item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1" y="1334837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Class Queue:  dequeue(self)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667" y="3917916"/>
            <a:ext cx="4297682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the first node in the linked list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effectively removing the front element from the queue.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964733" y="4184370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997168" y="4241640"/>
            <a:ext cx="3320312" cy="3682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95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A443F-7B83-4B68-8F3D-02B4643A316D}"/>
              </a:ext>
            </a:extLst>
          </p:cNvPr>
          <p:cNvSpPr/>
          <p:nvPr/>
        </p:nvSpPr>
        <p:spPr>
          <a:xfrm>
            <a:off x="6324600" y="1734947"/>
            <a:ext cx="5181600" cy="3612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reverse_stack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924601"/>
            <a:ext cx="3579950" cy="1477328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First, we check if the stack is empty.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it’s empty, nothing needs to be reversed, so we just return.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370803" y="2228194"/>
            <a:ext cx="725197" cy="35394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324600" y="2133601"/>
            <a:ext cx="3429000" cy="6095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23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A443F-7B83-4B68-8F3D-02B4643A316D}"/>
              </a:ext>
            </a:extLst>
          </p:cNvPr>
          <p:cNvSpPr/>
          <p:nvPr/>
        </p:nvSpPr>
        <p:spPr>
          <a:xfrm>
            <a:off x="6324600" y="1734947"/>
            <a:ext cx="5181600" cy="3612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reverse_stack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494" y="2536218"/>
            <a:ext cx="3989980" cy="175432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create a queue object to help with the reversal.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→ LIFO (last in, first out)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→ FIFO (first in, first out)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337161" y="3059438"/>
            <a:ext cx="725197" cy="35394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309360" y="2931611"/>
            <a:ext cx="3429000" cy="6095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2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A443F-7B83-4B68-8F3D-02B4643A316D}"/>
              </a:ext>
            </a:extLst>
          </p:cNvPr>
          <p:cNvSpPr/>
          <p:nvPr/>
        </p:nvSpPr>
        <p:spPr>
          <a:xfrm>
            <a:off x="6324600" y="1734947"/>
            <a:ext cx="5181600" cy="3612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reverse_stack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460" y="3356413"/>
            <a:ext cx="3989980" cy="175432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the stack is not empty: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(pop) the top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of the stack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(enqueue) it into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485103" y="3879633"/>
            <a:ext cx="725197" cy="35394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553200" y="3541210"/>
            <a:ext cx="3429000" cy="10307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59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A443F-7B83-4B68-8F3D-02B4643A316D}"/>
              </a:ext>
            </a:extLst>
          </p:cNvPr>
          <p:cNvSpPr/>
          <p:nvPr/>
        </p:nvSpPr>
        <p:spPr>
          <a:xfrm>
            <a:off x="6324600" y="1734947"/>
            <a:ext cx="5181600" cy="3612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reverse_stack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179" y="4134032"/>
            <a:ext cx="4081421" cy="175432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the queue is not empty: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(dequeue)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element of the queue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 it back into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538444" y="4756796"/>
            <a:ext cx="725197" cy="35394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629400" y="4495800"/>
            <a:ext cx="3429000" cy="10307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02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reverse_stack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014503"/>
            <a:ext cx="4081421" cy="400110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64E87E2-CD3A-4728-B847-EB2E560E7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383984"/>
            <a:ext cx="6390532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walkthrough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(stack initially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&lt;5,4,3,2,1&gt;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5 is top):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 5 → enqueue 5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 4 → enqueue 4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 3 → enqueue 3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 2 → enqueue 2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 1 → enqueue 1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now: &lt;5,4,3,2,1&gt; (front = 5). Stack is empty.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392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143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reverse_stack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014503"/>
            <a:ext cx="4081421" cy="400110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64E87E2-CD3A-4728-B847-EB2E560E7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384177"/>
            <a:ext cx="6390532" cy="3366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 5 → push 5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 4 → push 4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 3 → push 3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 2 → push 2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 1 → push 1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now: &lt;1,2,3,4,5&gt;  reversed!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363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86DB3B-CA49-4486-AED1-8850C8855838}"/>
              </a:ext>
            </a:extLst>
          </p:cNvPr>
          <p:cNvSpPr/>
          <p:nvPr/>
        </p:nvSpPr>
        <p:spPr>
          <a:xfrm>
            <a:off x="5715000" y="1364040"/>
            <a:ext cx="628739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1: Insert an integer into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2: Reverse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0: Quit;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Please input your choice(1/2/0):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Input an integer that you want to insert into the stack: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after reversing its elements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break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Choice unknown.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412" y="2349306"/>
            <a:ext cx="3390002" cy="36933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empty stack is created.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 rot="20277043">
            <a:off x="4616478" y="1822125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901869" y="1580615"/>
            <a:ext cx="1641931" cy="2481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140940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86DB3B-CA49-4486-AED1-8850C8855838}"/>
              </a:ext>
            </a:extLst>
          </p:cNvPr>
          <p:cNvSpPr/>
          <p:nvPr/>
        </p:nvSpPr>
        <p:spPr>
          <a:xfrm>
            <a:off x="5715000" y="1364040"/>
            <a:ext cx="628739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1: Insert an integer into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2: Reverse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0: Quit;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Please input your choice(1/2/0):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Input an integer that you want to insert into the stack: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after reversing its elements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break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Choice unknown.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624" y="1879381"/>
            <a:ext cx="3390002" cy="646331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menu options for the user.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878641" y="2008819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052457" y="1749626"/>
            <a:ext cx="4310743" cy="8411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730163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86DB3B-CA49-4486-AED1-8850C8855838}"/>
              </a:ext>
            </a:extLst>
          </p:cNvPr>
          <p:cNvSpPr/>
          <p:nvPr/>
        </p:nvSpPr>
        <p:spPr>
          <a:xfrm>
            <a:off x="5715000" y="1364040"/>
            <a:ext cx="628739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1: Insert an integer into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2: Reverse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0: Quit;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Please input your choice(1/2/0):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Input an integer that you want to insert into the stack: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after reversing its elements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break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Choice unknown.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911" y="2596633"/>
            <a:ext cx="3390002" cy="36933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 user input for the choice.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900413" y="2576884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096000" y="2667000"/>
            <a:ext cx="5334000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43331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86DB3B-CA49-4486-AED1-8850C8855838}"/>
              </a:ext>
            </a:extLst>
          </p:cNvPr>
          <p:cNvSpPr/>
          <p:nvPr/>
        </p:nvSpPr>
        <p:spPr>
          <a:xfrm>
            <a:off x="5715000" y="1364040"/>
            <a:ext cx="628739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1: Insert an integer into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2: Reverse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0: Quit;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Please input your choice(1/2/0):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Input an integer that you want to insert into the stack: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after reversing its elements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break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Choice unknown.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590800"/>
            <a:ext cx="3077465" cy="2585323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user chooses 1: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for an integer.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 that integer into the stack.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the current contents of the stack using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print_list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397870" y="3330019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715000" y="2851664"/>
            <a:ext cx="6172200" cy="11107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241978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86DB3B-CA49-4486-AED1-8850C8855838}"/>
              </a:ext>
            </a:extLst>
          </p:cNvPr>
          <p:cNvSpPr/>
          <p:nvPr/>
        </p:nvSpPr>
        <p:spPr>
          <a:xfrm>
            <a:off x="5715000" y="1364040"/>
            <a:ext cx="628739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1: Insert an integer into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2: Reverse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0: Quit;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Please input your choice(1/2/0):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Input an integer that you want to insert into the stack: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after reversing its elements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break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Choice unknown.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51" y="2518201"/>
            <a:ext cx="3279149" cy="341632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user chooses 2: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reverse_stack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 to reverse the order of stack elements (we discussed this earlier).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the stack after reversing.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remove_all_items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is called to clear the stack completely.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372851" y="4358212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715000" y="3962399"/>
            <a:ext cx="6287396" cy="11430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838712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86DB3B-CA49-4486-AED1-8850C8855838}"/>
              </a:ext>
            </a:extLst>
          </p:cNvPr>
          <p:cNvSpPr/>
          <p:nvPr/>
        </p:nvSpPr>
        <p:spPr>
          <a:xfrm>
            <a:off x="5715000" y="1364040"/>
            <a:ext cx="628739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1: Insert an integer into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2: Reverse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0: Quit;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Please input your choice(1/2/0):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Input an integer that you want to insert into the stack: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after reversing its elements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break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Choice unknown.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22" y="4112748"/>
            <a:ext cx="3279149" cy="203132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user chooses 0: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the stack.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 out of the loop.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ends.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465882" y="5177211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638800" y="5052180"/>
            <a:ext cx="5943600" cy="6014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88970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86DB3B-CA49-4486-AED1-8850C8855838}"/>
              </a:ext>
            </a:extLst>
          </p:cNvPr>
          <p:cNvSpPr/>
          <p:nvPr/>
        </p:nvSpPr>
        <p:spPr>
          <a:xfrm>
            <a:off x="5715000" y="1364040"/>
            <a:ext cx="628739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1: Insert an integer into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2: Reverse the stack;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0: Quit;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Please input your choice(1/2/0):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Input an integer that you want to insert into the stack: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reverse_stack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The resulting stack after reversing its elements is: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8F08C4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choice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remove_all_items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break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Choice unknown.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07" y="5180796"/>
            <a:ext cx="3279149" cy="92333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user enters anything other than 1, 2, or 0, print "Choice unknown".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465882" y="5638800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699760" y="5638800"/>
            <a:ext cx="5943600" cy="4342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172969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295400" y="1371600"/>
            <a:ext cx="960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reverseFirstKItems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function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reverse_first_k_items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that reverses the order of the first k elements of a queue using a stack, leaving the other elements in the same relative order for a given integer k and a queue of integers. Note that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reverse_first_k_items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only uses push() and pop() when adding or removing integers from the stack, and only uses enqueue() and dequeue() when adding or removing integers from the queue.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prototypes are given as follows: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reverse_first_k_items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(queue, k): </a:t>
            </a:r>
            <a:endParaRPr lang="en-US" sz="12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17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5C8367-AFAF-4AC2-AA1D-6ED83FB0C55E}"/>
              </a:ext>
            </a:extLst>
          </p:cNvPr>
          <p:cNvSpPr/>
          <p:nvPr/>
        </p:nvSpPr>
        <p:spPr>
          <a:xfrm>
            <a:off x="6324600" y="1534892"/>
            <a:ext cx="629468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reverse_first_k_items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753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reverse_first_k_items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(queue, 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050" y="1816433"/>
            <a:ext cx="4297682" cy="3170099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check</a:t>
            </a:r>
            <a:b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nothing to reverse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nothing to reverse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568212" y="2258785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705600" y="1912079"/>
            <a:ext cx="5257800" cy="7870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77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5C8367-AFAF-4AC2-AA1D-6ED83FB0C55E}"/>
              </a:ext>
            </a:extLst>
          </p:cNvPr>
          <p:cNvSpPr/>
          <p:nvPr/>
        </p:nvSpPr>
        <p:spPr>
          <a:xfrm>
            <a:off x="6324600" y="1534892"/>
            <a:ext cx="629468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reverse_first_k_items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753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reverse_first_k_items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(queue, 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050" y="2644891"/>
            <a:ext cx="4297682" cy="70788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stack → we’ll use it to reverse order.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540188" y="2823837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549740" y="2614411"/>
            <a:ext cx="5257800" cy="7870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67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5C8367-AFAF-4AC2-AA1D-6ED83FB0C55E}"/>
              </a:ext>
            </a:extLst>
          </p:cNvPr>
          <p:cNvSpPr/>
          <p:nvPr/>
        </p:nvSpPr>
        <p:spPr>
          <a:xfrm>
            <a:off x="6324600" y="1534892"/>
            <a:ext cx="629468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reverse_first_k_items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753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reverse_first_k_items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(queue, 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810" y="2141394"/>
            <a:ext cx="4297682" cy="347787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Move first k elements from queue → stack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queue.dequeue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removes items from the front of the queue.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s.push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puts them on top of the stack.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stacks are LIFO, this reverses their order.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516320" y="3641795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553200" y="3447202"/>
            <a:ext cx="5257800" cy="7870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3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5C8367-AFAF-4AC2-AA1D-6ED83FB0C55E}"/>
              </a:ext>
            </a:extLst>
          </p:cNvPr>
          <p:cNvSpPr/>
          <p:nvPr/>
        </p:nvSpPr>
        <p:spPr>
          <a:xfrm>
            <a:off x="6324600" y="1534892"/>
            <a:ext cx="629468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reverse_first_k_items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753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reverse_first_k_items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(queue, 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70" y="3535861"/>
            <a:ext cx="4297682" cy="255454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Put stack items back into queue</a:t>
            </a:r>
            <a:b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s.pop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gives elements in reverse order.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queue.enqueue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appends them at the back of the queue.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524948" y="4629026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553200" y="4419600"/>
            <a:ext cx="5257800" cy="7870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87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5C8367-AFAF-4AC2-AA1D-6ED83FB0C55E}"/>
              </a:ext>
            </a:extLst>
          </p:cNvPr>
          <p:cNvSpPr/>
          <p:nvPr/>
        </p:nvSpPr>
        <p:spPr>
          <a:xfrm>
            <a:off x="6324600" y="1534892"/>
            <a:ext cx="629468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reverse_first_k_items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.ll.size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.enqueue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753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reverse_first_k_items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(queue, 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70" y="2550986"/>
            <a:ext cx="4297682" cy="347787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Restore correct order of remaining items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now, the reversed part is at the back of the queue.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it at the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we move the remaining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(n-k)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from front →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one by one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5508257" y="5523163"/>
            <a:ext cx="718288" cy="36821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6339840" y="5354916"/>
            <a:ext cx="5257800" cy="7870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26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753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reverse_first_k_items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(queue, 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18" y="2183929"/>
            <a:ext cx="4297682" cy="400110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6659CE-9BBA-46E6-A65B-B5C4E40A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895600"/>
            <a:ext cx="4876800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 = [1, 2, 3, 4, 5], k = 3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Dequeue → stack = [1]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Dequeue → stack = [2, 1]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Dequeue → stack = [3, 2, 1]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 now = [4, 5]</a:t>
            </a:r>
          </a:p>
        </p:txBody>
      </p:sp>
    </p:spTree>
    <p:extLst>
      <p:ext uri="{BB962C8B-B14F-4D97-AF65-F5344CB8AC3E}">
        <p14:creationId xmlns:p14="http://schemas.microsoft.com/office/powerpoint/2010/main" val="1084635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753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reverse_first_k_items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(queue, 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18" y="2183929"/>
            <a:ext cx="4297682" cy="400110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6659CE-9BBA-46E6-A65B-B5C4E40A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017781"/>
            <a:ext cx="4876800" cy="96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= [3, 2, 1] → pop → </a:t>
            </a:r>
            <a:r>
              <a:rPr lang="fr-F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endParaRPr lang="fr-F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= [4, 5, 3, 2, 1]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125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0" y="1334837"/>
            <a:ext cx="4753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</a:t>
            </a:r>
            <a:r>
              <a:rPr lang="en-US" sz="2000" b="1" u="sng" dirty="0" err="1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reverse_first_k_items</a:t>
            </a: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(queue, k)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18" y="2183929"/>
            <a:ext cx="4297682" cy="400110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6659CE-9BBA-46E6-A65B-B5C4E40A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584039"/>
            <a:ext cx="5334000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pt-B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[4, 5, 3, 2, 1]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pt-B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 </a:t>
            </a:r>
            <a:r>
              <a:rPr lang="pt-B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pt-B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[5, 3, 2, 1, 4]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pt-B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5, </a:t>
            </a:r>
            <a:r>
              <a:rPr lang="pt-B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pt-B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[3, 2, 1, 4, 5]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B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the first k items are reversed in place.</a:t>
            </a:r>
            <a:endParaRPr lang="pt-B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561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/>
          <a:lstStyle/>
          <a:p>
            <a:r>
              <a:rPr lang="en-US" dirty="0"/>
              <a:t>Q03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295400" y="1752600"/>
            <a:ext cx="9906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sortStack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function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sort_stack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that sorts a given stack in ascending order using another temporary stack. Note that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sort_stack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only uses push() and pop() when adding or removing integers from the stack.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prototype is given as follows: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sort_stack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(stack)</a:t>
            </a:r>
            <a:endParaRPr lang="en-US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581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393F6A-1D87-4EB7-904D-C2ECCD32E35B}"/>
              </a:ext>
            </a:extLst>
          </p:cNvPr>
          <p:cNvSpPr/>
          <p:nvPr/>
        </p:nvSpPr>
        <p:spPr>
          <a:xfrm>
            <a:off x="7132320" y="1590176"/>
            <a:ext cx="478536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sort_stack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peek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959725"/>
            <a:ext cx="4050263" cy="646331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stack is empty, nothing to sort → just return.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7315200" y="1999534"/>
            <a:ext cx="2590800" cy="6674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5812234" y="2077771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84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393F6A-1D87-4EB7-904D-C2ECCD32E35B}"/>
              </a:ext>
            </a:extLst>
          </p:cNvPr>
          <p:cNvSpPr/>
          <p:nvPr/>
        </p:nvSpPr>
        <p:spPr>
          <a:xfrm>
            <a:off x="7132320" y="1590176"/>
            <a:ext cx="478536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sort_stack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peek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657" y="2724834"/>
            <a:ext cx="4050263" cy="646331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temporary stack that will help with sorting.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7391400" y="2819400"/>
            <a:ext cx="259080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5980016" y="2868704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0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393F6A-1D87-4EB7-904D-C2ECCD32E35B}"/>
              </a:ext>
            </a:extLst>
          </p:cNvPr>
          <p:cNvSpPr/>
          <p:nvPr/>
        </p:nvSpPr>
        <p:spPr>
          <a:xfrm>
            <a:off x="7132320" y="1590176"/>
            <a:ext cx="478536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sort_stack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peek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812" y="3227296"/>
            <a:ext cx="4050263" cy="646331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the top element out of the original stack and store it in temp.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7321278" y="3227296"/>
            <a:ext cx="3194321" cy="6589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6096000" y="3377452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6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393F6A-1D87-4EB7-904D-C2ECCD32E35B}"/>
              </a:ext>
            </a:extLst>
          </p:cNvPr>
          <p:cNvSpPr/>
          <p:nvPr/>
        </p:nvSpPr>
        <p:spPr>
          <a:xfrm>
            <a:off x="7132320" y="1590176"/>
            <a:ext cx="478536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sort_stack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peek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099941"/>
            <a:ext cx="4343400" cy="2585323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temp_stack’s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greater than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move it back to the original stack.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makes room in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temp_stack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that temp can be inserted in the right position.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Basically, this ensures that numbers in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temp_stack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always sorted in ascending order from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→ bottom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7132320" y="3883854"/>
            <a:ext cx="4450080" cy="9929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5966227" y="4201030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14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393F6A-1D87-4EB7-904D-C2ECCD32E35B}"/>
              </a:ext>
            </a:extLst>
          </p:cNvPr>
          <p:cNvSpPr/>
          <p:nvPr/>
        </p:nvSpPr>
        <p:spPr>
          <a:xfrm>
            <a:off x="7132320" y="1590176"/>
            <a:ext cx="478536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sort_stack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peek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708266"/>
            <a:ext cx="4343400" cy="646331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correct position in 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temp_stack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7117080" y="4800600"/>
            <a:ext cx="4450080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5966227" y="4831080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04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393F6A-1D87-4EB7-904D-C2ECCD32E35B}"/>
              </a:ext>
            </a:extLst>
          </p:cNvPr>
          <p:cNvSpPr/>
          <p:nvPr/>
        </p:nvSpPr>
        <p:spPr>
          <a:xfrm>
            <a:off x="7132320" y="1590176"/>
            <a:ext cx="4785360" cy="4582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sort_stack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peek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&gt;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is_empty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temp_stack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107" y="4639704"/>
            <a:ext cx="4343400" cy="147732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Finally, move all elements from 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temp_stack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to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stack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this,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stack is sorted in ascending order (smallest on top).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7040880" y="5486400"/>
            <a:ext cx="4450080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5966227" y="5550485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75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29245"/>
            <a:ext cx="25908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DA2EC9-10AE-48B1-BF6A-2C43D85F6C3B}"/>
              </a:ext>
            </a:extLst>
          </p:cNvPr>
          <p:cNvSpPr/>
          <p:nvPr/>
        </p:nvSpPr>
        <p:spPr>
          <a:xfrm>
            <a:off x="1743847" y="2505670"/>
            <a:ext cx="618095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the original stack (top → bottom) is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3, 1, 4, 2</a:t>
            </a:r>
          </a:p>
        </p:txBody>
      </p:sp>
    </p:spTree>
    <p:extLst>
      <p:ext uri="{BB962C8B-B14F-4D97-AF65-F5344CB8AC3E}">
        <p14:creationId xmlns:p14="http://schemas.microsoft.com/office/powerpoint/2010/main" val="3093026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29245"/>
            <a:ext cx="25908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DA2EC9-10AE-48B1-BF6A-2C43D85F6C3B}"/>
              </a:ext>
            </a:extLst>
          </p:cNvPr>
          <p:cNvSpPr/>
          <p:nvPr/>
        </p:nvSpPr>
        <p:spPr>
          <a:xfrm>
            <a:off x="2286001" y="2438400"/>
            <a:ext cx="73152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3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put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temp_stack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[3]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1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temp_stack.peek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()=3 &gt; 1 → move 3 back, then push 1.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stack: [3, 4, 2]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 stack: [1]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643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29245"/>
            <a:ext cx="25908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DA2EC9-10AE-48B1-BF6A-2C43D85F6C3B}"/>
              </a:ext>
            </a:extLst>
          </p:cNvPr>
          <p:cNvSpPr/>
          <p:nvPr/>
        </p:nvSpPr>
        <p:spPr>
          <a:xfrm>
            <a:off x="2819400" y="2438400"/>
            <a:ext cx="754379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3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to </a:t>
            </a:r>
            <a:r>
              <a:rPr lang="en-US" sz="2000" b="1" dirty="0" err="1">
                <a:solidFill>
                  <a:srgbClr val="007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temp_stack</a:t>
            </a:r>
            <a:r>
              <a:rPr lang="en-US" sz="2000" b="1" dirty="0">
                <a:solidFill>
                  <a:srgbClr val="007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[3, 1]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4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temp_stack.peek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()=3 &lt; 4, so push 4.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 stack: [4, 3, 1]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temp_stack.peek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()=4 &gt; 2, move 4 back.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temp_stack.peek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()=3 &gt; 2, move 3 back.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740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sort_stack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(stack)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29245"/>
            <a:ext cx="25908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DA2EC9-10AE-48B1-BF6A-2C43D85F6C3B}"/>
              </a:ext>
            </a:extLst>
          </p:cNvPr>
          <p:cNvSpPr/>
          <p:nvPr/>
        </p:nvSpPr>
        <p:spPr>
          <a:xfrm>
            <a:off x="2819400" y="2438400"/>
            <a:ext cx="754379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2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lang="en-US" sz="2000" b="1" dirty="0" err="1">
                <a:solidFill>
                  <a:srgbClr val="007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temp_stack</a:t>
            </a:r>
            <a:r>
              <a:rPr lang="en-US" sz="2000" b="1" dirty="0">
                <a:solidFill>
                  <a:srgbClr val="007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[2, 1]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3, then 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 stack: [4, 3, 2, 1]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move everything back → sorted stack: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b="1" dirty="0">
                <a:solidFill>
                  <a:srgbClr val="0056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1, 2, 3, 4</a:t>
            </a:r>
            <a:br>
              <a:rPr lang="en-US" sz="2000" b="1" dirty="0">
                <a:solidFill>
                  <a:srgbClr val="0056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solidFill>
                <a:srgbClr val="00568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906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/>
          <a:lstStyle/>
          <a:p>
            <a:r>
              <a:rPr lang="en-US" dirty="0"/>
              <a:t>Q04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295400" y="17526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precedence of some operators, </a:t>
            </a:r>
            <a:endParaRPr lang="en-US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EFAC83-A0A2-4225-BDDC-921C98794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419540"/>
            <a:ext cx="3411342" cy="22241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DD94126-B0F4-46BD-9BE5-BC5CF369E058}"/>
              </a:ext>
            </a:extLst>
          </p:cNvPr>
          <p:cNvSpPr/>
          <p:nvPr/>
        </p:nvSpPr>
        <p:spPr>
          <a:xfrm>
            <a:off x="1714500" y="4643736"/>
            <a:ext cx="9067800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an infix expression,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 + b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c%d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 postfix expression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 prefix expression,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y&amp;&amp; &lt;&lt; ab &gt;&gt; c + 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an infix expression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 postfix expression,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xabc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d% + e &gt;&gt;=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prefix expression</a:t>
            </a:r>
          </a:p>
        </p:txBody>
      </p:sp>
    </p:spTree>
    <p:extLst>
      <p:ext uri="{BB962C8B-B14F-4D97-AF65-F5344CB8AC3E}">
        <p14:creationId xmlns:p14="http://schemas.microsoft.com/office/powerpoint/2010/main" val="1792571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A7EB9-738F-4746-B69C-77D174D3412A}"/>
              </a:ext>
            </a:extLst>
          </p:cNvPr>
          <p:cNvSpPr/>
          <p:nvPr/>
        </p:nvSpPr>
        <p:spPr>
          <a:xfrm>
            <a:off x="1219200" y="1219200"/>
            <a:ext cx="10210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arenBoth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an infix expression,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 + b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c%d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 postfix expression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∗ d% + e &gt;&gt;= </a:t>
            </a:r>
          </a:p>
          <a:p>
            <a:pPr marL="342900" indent="-342900">
              <a:buAutoNum type="alphaLcParenBoth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lphaLcParenBoth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a prefix expression,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y&amp;&amp; &lt;&lt; ab &gt;&gt; c + 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an infix expression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Ans: y = a &lt;&lt; b&amp;&amp;c &gt;&gt; d + e </a:t>
            </a:r>
          </a:p>
          <a:p>
            <a:pPr marL="342900" indent="-342900">
              <a:buAutoNum type="alphaLcParenBoth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lphaLcParenBoth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a postfix expression,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d% + e &gt;&gt;=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 prefix expression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: = x &gt;&gt; +a% ∗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bcde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350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F551-DE37-229F-D44E-3EFA70E7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Infix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EF1FB-D3AA-FF5C-E2D7-C463E4038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8188" y="1447800"/>
            <a:ext cx="8012611" cy="425527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writing an arithmetic expression using 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Infix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notation, the operator is placed between the operands.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US" altLang="en-US" sz="1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here, plus operator is placed between the two operands A and B.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 * ( B + C ) / D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means: "First add B and C together, then multiply the result by A, then divide by D to give the final answer." 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needed about </a:t>
            </a:r>
            <a:r>
              <a:rPr lang="en-US" alt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precedence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associativity rules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brackets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overrides these rules.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it is easy to write expressions using infix notation, 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computers find it difficult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parse as they need a lot of information to evaluate the expression. </a:t>
            </a:r>
          </a:p>
          <a:p>
            <a:pPr eaLnBrk="1" hangingPunct="1">
              <a:lnSpc>
                <a:spcPct val="150000"/>
              </a:lnSpc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SG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9059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F551-DE37-229F-D44E-3EFA70E7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Postfix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EF1FB-D3AA-FF5C-E2D7-C463E4038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Postfix notation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is better known as </a:t>
            </a:r>
            <a:r>
              <a:rPr lang="en-US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Polish Notation or RPN.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notation, the operator is placed after the operands. For example, if an expression is written as </a:t>
            </a:r>
            <a:r>
              <a:rPr lang="en-US" altLang="en-US" sz="1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Infix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notation, the same expression can be written as </a:t>
            </a:r>
            <a:r>
              <a:rPr lang="en-US" altLang="en-US" sz="17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AB+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notation. </a:t>
            </a:r>
            <a:endParaRPr lang="en-SG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postfix operation 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follow the rules of </a:t>
            </a:r>
            <a:r>
              <a:rPr lang="en-US" alt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precedence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operator which occurs first in the expression is operated first on the operands.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given a postfix notation </a:t>
            </a:r>
            <a:r>
              <a:rPr lang="en-US" alt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AB+C*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While evaluation, addition will be performed prior to multiplication.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of evaluation 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altLang="en-US" sz="1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postfix expression 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always from </a:t>
            </a:r>
            <a:r>
              <a:rPr lang="en-US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to right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50000"/>
              </a:lnSpc>
            </a:pP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SG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7870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F551-DE37-229F-D44E-3EFA70E7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Prefix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EF1FB-D3AA-FF5C-E2D7-C463E4038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alt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 notation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operator is placed before the operands.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</a:t>
            </a:r>
            <a:r>
              <a:rPr lang="en-US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expression in </a:t>
            </a:r>
            <a:r>
              <a:rPr lang="en-US" alt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Infix notation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corresponding expression in prefix notation is given by </a:t>
            </a:r>
            <a:r>
              <a:rPr lang="en-US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+AB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evaluating a prefix expression, the operators are applied to the operands that are present immediately on the right of the operator. </a:t>
            </a: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expressions also do not follow the rules of operator precedence and associativity.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expression </a:t>
            </a:r>
            <a:r>
              <a:rPr lang="en-US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+ B) * C 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written as: </a:t>
            </a:r>
            <a:r>
              <a:rPr lang="en-US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*+ABC 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prefix notation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SG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computers work more efficiently with expressions written using </a:t>
            </a:r>
            <a:r>
              <a:rPr lang="en-SG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en-SG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SG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SG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notations.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endParaRPr lang="en-SG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4309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62F1-5BAE-489A-8198-3F3F4049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Infix to postfix (stack based)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14CD9E-58A2-4A5D-9014-8E6857B15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317958"/>
            <a:ext cx="9448800" cy="4849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empty stack for operators.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empty list/output for postfix expression.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 the infix expression from left to right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Operand (number/variable):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 it to the postfix output.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 (+, -, , /, ^, …):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the stack is not empty and the top of the stack has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or equal precedence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(and is left-associative), pop from stack to output.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 the current operator onto the stack.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Left parenthesis (: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Push it on the stack.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parenthesis 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Pop operators from stack to output until a left parenthesis ( is encountered. Remove the (.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the expression is fully scanned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 any remaining operators from the stack to the output.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C938AEBB-5E0A-4D67-81D1-CCD679C92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904191"/>
              </p:ext>
            </p:extLst>
          </p:nvPr>
        </p:nvGraphicFramePr>
        <p:xfrm>
          <a:off x="8610600" y="1447800"/>
          <a:ext cx="2362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02372491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545952784"/>
                    </a:ext>
                  </a:extLst>
                </a:gridCol>
              </a:tblGrid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Operators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Precedence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88187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*, /,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Highest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71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+,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868059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&lt;&lt;, &gt;&gt;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08566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&amp;&amp;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072015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Lowest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51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265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9FC2F-743B-4AD2-BC14-A4232C3E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– (a) Answer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5242-9754-4FB1-93C6-A43E4C2DE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743010"/>
            <a:ext cx="8610600" cy="476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an </a:t>
            </a:r>
            <a:r>
              <a:rPr lang="en-S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infix</a:t>
            </a: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expression, </a:t>
            </a:r>
            <a:r>
              <a:rPr lang="en-SG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a + b ∗ </a:t>
            </a:r>
            <a:r>
              <a:rPr lang="en-SG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c%d</a:t>
            </a:r>
            <a:r>
              <a:rPr lang="en-SG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&gt;&gt; e</a:t>
            </a: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 </a:t>
            </a:r>
            <a:r>
              <a:rPr lang="en-S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expression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C52A90C1-E4DD-4248-B52B-A9E388876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42052"/>
              </p:ext>
            </p:extLst>
          </p:nvPr>
        </p:nvGraphicFramePr>
        <p:xfrm>
          <a:off x="9525000" y="3125880"/>
          <a:ext cx="2362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02372491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545952784"/>
                    </a:ext>
                  </a:extLst>
                </a:gridCol>
              </a:tblGrid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Operators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Precedence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88187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*, /,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Highest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71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+,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868059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&lt;&lt;, &gt;&gt;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08566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&amp;&amp;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072015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Lowest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511008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E725130D-7D24-4A7E-9366-6D5807BB9F10}"/>
              </a:ext>
            </a:extLst>
          </p:cNvPr>
          <p:cNvGrpSpPr/>
          <p:nvPr/>
        </p:nvGrpSpPr>
        <p:grpSpPr>
          <a:xfrm>
            <a:off x="5524501" y="2362200"/>
            <a:ext cx="1142999" cy="1184310"/>
            <a:chOff x="1143000" y="2667000"/>
            <a:chExt cx="1295400" cy="31242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1FAC8F0-54BD-4905-8321-847E457F6F4B}"/>
                </a:ext>
              </a:extLst>
            </p:cNvPr>
            <p:cNvCxnSpPr/>
            <p:nvPr/>
          </p:nvCxnSpPr>
          <p:spPr>
            <a:xfrm>
              <a:off x="1143000" y="2667000"/>
              <a:ext cx="0" cy="3124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DCB7FCF-13BA-473C-8BA1-8661957AEA6B}"/>
                </a:ext>
              </a:extLst>
            </p:cNvPr>
            <p:cNvCxnSpPr/>
            <p:nvPr/>
          </p:nvCxnSpPr>
          <p:spPr>
            <a:xfrm>
              <a:off x="2438400" y="2667000"/>
              <a:ext cx="0" cy="3124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AA975F3-49EF-494D-81DA-D6D09C2D4572}"/>
                </a:ext>
              </a:extLst>
            </p:cNvPr>
            <p:cNvCxnSpPr/>
            <p:nvPr/>
          </p:nvCxnSpPr>
          <p:spPr>
            <a:xfrm flipH="1">
              <a:off x="1143000" y="5791200"/>
              <a:ext cx="12954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8625654-4C37-4ADC-9872-90E5782A38F3}"/>
              </a:ext>
            </a:extLst>
          </p:cNvPr>
          <p:cNvSpPr/>
          <p:nvPr/>
        </p:nvSpPr>
        <p:spPr>
          <a:xfrm>
            <a:off x="5716727" y="2598852"/>
            <a:ext cx="777873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289B5F-1916-451E-B7A0-31F36C9D7245}"/>
              </a:ext>
            </a:extLst>
          </p:cNvPr>
          <p:cNvSpPr/>
          <p:nvPr/>
        </p:nvSpPr>
        <p:spPr>
          <a:xfrm>
            <a:off x="5716727" y="2862366"/>
            <a:ext cx="777873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EDA6F4-E41C-43EA-8B83-929367976A69}"/>
              </a:ext>
            </a:extLst>
          </p:cNvPr>
          <p:cNvSpPr/>
          <p:nvPr/>
        </p:nvSpPr>
        <p:spPr>
          <a:xfrm>
            <a:off x="5716727" y="3125880"/>
            <a:ext cx="777873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=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C98DE0-E2E3-4CD3-9223-3D209AC699B1}"/>
              </a:ext>
            </a:extLst>
          </p:cNvPr>
          <p:cNvSpPr/>
          <p:nvPr/>
        </p:nvSpPr>
        <p:spPr>
          <a:xfrm>
            <a:off x="2971794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B76D75-D95D-4FA1-8FBA-B7CA9FD7F20E}"/>
              </a:ext>
            </a:extLst>
          </p:cNvPr>
          <p:cNvSpPr/>
          <p:nvPr/>
        </p:nvSpPr>
        <p:spPr>
          <a:xfrm>
            <a:off x="3539831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5D6418-1D9B-4C3C-980A-1310B8E3DD08}"/>
              </a:ext>
            </a:extLst>
          </p:cNvPr>
          <p:cNvSpPr/>
          <p:nvPr/>
        </p:nvSpPr>
        <p:spPr>
          <a:xfrm>
            <a:off x="4107868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6B5021-66A9-4B9F-A116-77F228068FF7}"/>
              </a:ext>
            </a:extLst>
          </p:cNvPr>
          <p:cNvSpPr/>
          <p:nvPr/>
        </p:nvSpPr>
        <p:spPr>
          <a:xfrm>
            <a:off x="4675905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B3D01D-3BCF-4B31-BCD4-035C217E0D67}"/>
              </a:ext>
            </a:extLst>
          </p:cNvPr>
          <p:cNvSpPr/>
          <p:nvPr/>
        </p:nvSpPr>
        <p:spPr>
          <a:xfrm>
            <a:off x="5243942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A37781-833B-4C90-8700-2184DA107511}"/>
              </a:ext>
            </a:extLst>
          </p:cNvPr>
          <p:cNvSpPr/>
          <p:nvPr/>
        </p:nvSpPr>
        <p:spPr>
          <a:xfrm>
            <a:off x="5811979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B25DA5-C7F8-4C23-88B3-0FC46261C86F}"/>
              </a:ext>
            </a:extLst>
          </p:cNvPr>
          <p:cNvSpPr/>
          <p:nvPr/>
        </p:nvSpPr>
        <p:spPr>
          <a:xfrm>
            <a:off x="6380016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F15038-83C9-4241-83FD-6BC1E1C3AE9B}"/>
              </a:ext>
            </a:extLst>
          </p:cNvPr>
          <p:cNvSpPr/>
          <p:nvPr/>
        </p:nvSpPr>
        <p:spPr>
          <a:xfrm>
            <a:off x="6948053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DB6681-CEDB-4C00-B592-1445F81BA1BA}"/>
              </a:ext>
            </a:extLst>
          </p:cNvPr>
          <p:cNvSpPr/>
          <p:nvPr/>
        </p:nvSpPr>
        <p:spPr>
          <a:xfrm>
            <a:off x="7516090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5CE1B0-0A12-4119-AE7D-11C2CD0CC28E}"/>
              </a:ext>
            </a:extLst>
          </p:cNvPr>
          <p:cNvSpPr/>
          <p:nvPr/>
        </p:nvSpPr>
        <p:spPr>
          <a:xfrm>
            <a:off x="8084127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bg1"/>
                </a:solidFill>
              </a:rPr>
              <a:t>&gt;&gt;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E41E64-6EFE-4808-8148-9131794B6899}"/>
              </a:ext>
            </a:extLst>
          </p:cNvPr>
          <p:cNvSpPr/>
          <p:nvPr/>
        </p:nvSpPr>
        <p:spPr>
          <a:xfrm>
            <a:off x="8652164" y="388620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F2214E-0911-44C7-A83E-3CF6E8BB134D}"/>
              </a:ext>
            </a:extLst>
          </p:cNvPr>
          <p:cNvSpPr/>
          <p:nvPr/>
        </p:nvSpPr>
        <p:spPr>
          <a:xfrm>
            <a:off x="5716727" y="2599705"/>
            <a:ext cx="777873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8E81FA-3D24-4569-B81E-086F0E938D28}"/>
              </a:ext>
            </a:extLst>
          </p:cNvPr>
          <p:cNvSpPr/>
          <p:nvPr/>
        </p:nvSpPr>
        <p:spPr>
          <a:xfrm>
            <a:off x="5716726" y="2866275"/>
            <a:ext cx="777873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&gt;&gt;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9923CC-1A57-44FA-B14A-1E6AEBF8807D}"/>
              </a:ext>
            </a:extLst>
          </p:cNvPr>
          <p:cNvSpPr/>
          <p:nvPr/>
        </p:nvSpPr>
        <p:spPr>
          <a:xfrm>
            <a:off x="2975259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938C49-6EE1-458D-9FE7-9A8323247BF3}"/>
              </a:ext>
            </a:extLst>
          </p:cNvPr>
          <p:cNvSpPr/>
          <p:nvPr/>
        </p:nvSpPr>
        <p:spPr>
          <a:xfrm>
            <a:off x="3543296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A364D5-F280-471C-BE56-61836FD2B9FC}"/>
              </a:ext>
            </a:extLst>
          </p:cNvPr>
          <p:cNvSpPr/>
          <p:nvPr/>
        </p:nvSpPr>
        <p:spPr>
          <a:xfrm>
            <a:off x="4111333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505D3A-9C7E-4DAF-83D4-80494627B9E8}"/>
              </a:ext>
            </a:extLst>
          </p:cNvPr>
          <p:cNvSpPr/>
          <p:nvPr/>
        </p:nvSpPr>
        <p:spPr>
          <a:xfrm>
            <a:off x="4679370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B01E70-6B0C-4F9A-9735-7605ABC90D65}"/>
              </a:ext>
            </a:extLst>
          </p:cNvPr>
          <p:cNvSpPr/>
          <p:nvPr/>
        </p:nvSpPr>
        <p:spPr>
          <a:xfrm>
            <a:off x="5247407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B7A373-7FC9-4A41-8A92-B6F3A8470F2A}"/>
              </a:ext>
            </a:extLst>
          </p:cNvPr>
          <p:cNvSpPr/>
          <p:nvPr/>
        </p:nvSpPr>
        <p:spPr>
          <a:xfrm>
            <a:off x="5815444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747334-2368-4883-9A1D-EF47AEC4C8A3}"/>
              </a:ext>
            </a:extLst>
          </p:cNvPr>
          <p:cNvSpPr/>
          <p:nvPr/>
        </p:nvSpPr>
        <p:spPr>
          <a:xfrm>
            <a:off x="6383481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711DD8-A677-4E72-85F1-2CF4A6D88C7C}"/>
              </a:ext>
            </a:extLst>
          </p:cNvPr>
          <p:cNvSpPr/>
          <p:nvPr/>
        </p:nvSpPr>
        <p:spPr>
          <a:xfrm>
            <a:off x="6951518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2F92BC-094F-49B6-B6FB-57D9B754A671}"/>
              </a:ext>
            </a:extLst>
          </p:cNvPr>
          <p:cNvSpPr/>
          <p:nvPr/>
        </p:nvSpPr>
        <p:spPr>
          <a:xfrm>
            <a:off x="7519555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4BF4B8-CFEF-4AD9-9990-DD4521231CAB}"/>
              </a:ext>
            </a:extLst>
          </p:cNvPr>
          <p:cNvSpPr/>
          <p:nvPr/>
        </p:nvSpPr>
        <p:spPr>
          <a:xfrm>
            <a:off x="8087592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&gt;&gt;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BD8A33-44AB-4608-8F7B-ECFD0C35217F}"/>
              </a:ext>
            </a:extLst>
          </p:cNvPr>
          <p:cNvSpPr/>
          <p:nvPr/>
        </p:nvSpPr>
        <p:spPr>
          <a:xfrm>
            <a:off x="8655629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9FDB7-3C05-4DF8-A2BE-EC465539450F}"/>
              </a:ext>
            </a:extLst>
          </p:cNvPr>
          <p:cNvSpPr txBox="1"/>
          <p:nvPr/>
        </p:nvSpPr>
        <p:spPr>
          <a:xfrm>
            <a:off x="2611583" y="4864827"/>
            <a:ext cx="6324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Infix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An expression is called the Infix expression if the operator appears in between the operands in the expression. Simply of the form (operand1 operator operand2). Example : </a:t>
            </a:r>
            <a:r>
              <a:rPr lang="en-SG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(A+B) * (C-D)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SG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expression is called the postfix expression if the operator appears in the expression after the operands. Simply of the form (operand1 operand2 operator).  </a:t>
            </a: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SG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AB+CD-* (Infix : (A+B) * (C-D) )</a:t>
            </a:r>
          </a:p>
          <a:p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83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4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16" grpId="0" animBg="1"/>
      <p:bldP spid="16" grpId="1" animBg="1"/>
      <p:bldP spid="15" grpId="0" animBg="1"/>
      <p:bldP spid="15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62F1-5BAE-489A-8198-3F3F4049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Prefix to infix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3DB9A-AE63-4591-B8D5-D106DE166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524000"/>
            <a:ext cx="8763000" cy="458010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prefix expression from </a:t>
            </a:r>
            <a:r>
              <a:rPr lang="en-US" sz="1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to left 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character is an operand, push it into the stack.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if the character is an operator, pop the top two values from stack.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 this operator with these two values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1st top value+operator+2nd top value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a new string.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this resulting string back into the stack.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Until: 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prefix expression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in the stack is the desired infix expression.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EAF37F53-6D15-456F-BA6C-883A6A887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976857"/>
              </p:ext>
            </p:extLst>
          </p:nvPr>
        </p:nvGraphicFramePr>
        <p:xfrm>
          <a:off x="8321040" y="3844532"/>
          <a:ext cx="2362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02372491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545952784"/>
                    </a:ext>
                  </a:extLst>
                </a:gridCol>
              </a:tblGrid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Operators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Precedence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88187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*, /,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Highest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71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+,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868059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&lt;&lt;, &gt;&gt;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08566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&amp;&amp;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072015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Lowest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51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5279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9FC2F-743B-4AD2-BC14-A4232C3E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– (b) Answer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5242-9754-4FB1-93C6-A43E4C2DE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743010"/>
            <a:ext cx="8610600" cy="476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 </a:t>
            </a:r>
            <a:r>
              <a:rPr lang="en-S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expression, </a:t>
            </a:r>
            <a:r>
              <a:rPr lang="en-SG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y&amp;&amp; &lt;&lt; ab &gt;&gt; c + de</a:t>
            </a: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an </a:t>
            </a:r>
            <a:r>
              <a:rPr lang="en-S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infix</a:t>
            </a: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expression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C52A90C1-E4DD-4248-B52B-A9E388876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276003"/>
              </p:ext>
            </p:extLst>
          </p:nvPr>
        </p:nvGraphicFramePr>
        <p:xfrm>
          <a:off x="9464036" y="2761971"/>
          <a:ext cx="2362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02372491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545952784"/>
                    </a:ext>
                  </a:extLst>
                </a:gridCol>
              </a:tblGrid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Operators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Precedence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88187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*, /,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Highest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71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+,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868059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&lt;&lt;, &gt;&gt;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08566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&amp;&amp;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072015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Lowest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511008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E725130D-7D24-4A7E-9366-6D5807BB9F10}"/>
              </a:ext>
            </a:extLst>
          </p:cNvPr>
          <p:cNvGrpSpPr/>
          <p:nvPr/>
        </p:nvGrpSpPr>
        <p:grpSpPr>
          <a:xfrm>
            <a:off x="3055156" y="2438401"/>
            <a:ext cx="2964645" cy="1302741"/>
            <a:chOff x="1143000" y="2667000"/>
            <a:chExt cx="1295400" cy="31242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1FAC8F0-54BD-4905-8321-847E457F6F4B}"/>
                </a:ext>
              </a:extLst>
            </p:cNvPr>
            <p:cNvCxnSpPr/>
            <p:nvPr/>
          </p:nvCxnSpPr>
          <p:spPr>
            <a:xfrm>
              <a:off x="1143000" y="2667000"/>
              <a:ext cx="0" cy="3124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DCB7FCF-13BA-473C-8BA1-8661957AEA6B}"/>
                </a:ext>
              </a:extLst>
            </p:cNvPr>
            <p:cNvCxnSpPr/>
            <p:nvPr/>
          </p:nvCxnSpPr>
          <p:spPr>
            <a:xfrm>
              <a:off x="2438400" y="2667000"/>
              <a:ext cx="0" cy="3124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AA975F3-49EF-494D-81DA-D6D09C2D4572}"/>
                </a:ext>
              </a:extLst>
            </p:cNvPr>
            <p:cNvCxnSpPr/>
            <p:nvPr/>
          </p:nvCxnSpPr>
          <p:spPr>
            <a:xfrm flipH="1">
              <a:off x="1143000" y="5791200"/>
              <a:ext cx="12954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0289B5F-1916-451E-B7A0-31F36C9D7245}"/>
              </a:ext>
            </a:extLst>
          </p:cNvPr>
          <p:cNvSpPr/>
          <p:nvPr/>
        </p:nvSpPr>
        <p:spPr>
          <a:xfrm>
            <a:off x="3204428" y="3061713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EDA6F4-E41C-43EA-8B83-929367976A69}"/>
              </a:ext>
            </a:extLst>
          </p:cNvPr>
          <p:cNvSpPr/>
          <p:nvPr/>
        </p:nvSpPr>
        <p:spPr>
          <a:xfrm>
            <a:off x="3204428" y="3325227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C98DE0-E2E3-4CD3-9223-3D209AC699B1}"/>
              </a:ext>
            </a:extLst>
          </p:cNvPr>
          <p:cNvSpPr/>
          <p:nvPr/>
        </p:nvSpPr>
        <p:spPr>
          <a:xfrm>
            <a:off x="2971794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B76D75-D95D-4FA1-8FBA-B7CA9FD7F20E}"/>
              </a:ext>
            </a:extLst>
          </p:cNvPr>
          <p:cNvSpPr/>
          <p:nvPr/>
        </p:nvSpPr>
        <p:spPr>
          <a:xfrm>
            <a:off x="3539831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5D6418-1D9B-4C3C-980A-1310B8E3DD08}"/>
              </a:ext>
            </a:extLst>
          </p:cNvPr>
          <p:cNvSpPr/>
          <p:nvPr/>
        </p:nvSpPr>
        <p:spPr>
          <a:xfrm>
            <a:off x="4107868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6B5021-66A9-4B9F-A116-77F228068FF7}"/>
              </a:ext>
            </a:extLst>
          </p:cNvPr>
          <p:cNvSpPr/>
          <p:nvPr/>
        </p:nvSpPr>
        <p:spPr>
          <a:xfrm>
            <a:off x="4675905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&lt;&lt;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B3D01D-3BCF-4B31-BCD4-035C217E0D67}"/>
              </a:ext>
            </a:extLst>
          </p:cNvPr>
          <p:cNvSpPr/>
          <p:nvPr/>
        </p:nvSpPr>
        <p:spPr>
          <a:xfrm>
            <a:off x="5243942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A37781-833B-4C90-8700-2184DA107511}"/>
              </a:ext>
            </a:extLst>
          </p:cNvPr>
          <p:cNvSpPr/>
          <p:nvPr/>
        </p:nvSpPr>
        <p:spPr>
          <a:xfrm>
            <a:off x="5811979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&amp;&amp;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B25DA5-C7F8-4C23-88B3-0FC46261C86F}"/>
              </a:ext>
            </a:extLst>
          </p:cNvPr>
          <p:cNvSpPr/>
          <p:nvPr/>
        </p:nvSpPr>
        <p:spPr>
          <a:xfrm>
            <a:off x="6380016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F15038-83C9-4241-83FD-6BC1E1C3AE9B}"/>
              </a:ext>
            </a:extLst>
          </p:cNvPr>
          <p:cNvSpPr/>
          <p:nvPr/>
        </p:nvSpPr>
        <p:spPr>
          <a:xfrm>
            <a:off x="6948053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&gt;&gt;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DB6681-CEDB-4C00-B592-1445F81BA1BA}"/>
              </a:ext>
            </a:extLst>
          </p:cNvPr>
          <p:cNvSpPr/>
          <p:nvPr/>
        </p:nvSpPr>
        <p:spPr>
          <a:xfrm>
            <a:off x="7516090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5CE1B0-0A12-4119-AE7D-11C2CD0CC28E}"/>
              </a:ext>
            </a:extLst>
          </p:cNvPr>
          <p:cNvSpPr/>
          <p:nvPr/>
        </p:nvSpPr>
        <p:spPr>
          <a:xfrm>
            <a:off x="8084127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E41E64-6EFE-4808-8148-9131794B6899}"/>
              </a:ext>
            </a:extLst>
          </p:cNvPr>
          <p:cNvSpPr/>
          <p:nvPr/>
        </p:nvSpPr>
        <p:spPr>
          <a:xfrm>
            <a:off x="8652164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7A96D0-D9A4-4177-939E-328C473FF986}"/>
              </a:ext>
            </a:extLst>
          </p:cNvPr>
          <p:cNvSpPr/>
          <p:nvPr/>
        </p:nvSpPr>
        <p:spPr>
          <a:xfrm>
            <a:off x="2975259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022A6B-8E43-485D-A43A-84197770C309}"/>
              </a:ext>
            </a:extLst>
          </p:cNvPr>
          <p:cNvSpPr/>
          <p:nvPr/>
        </p:nvSpPr>
        <p:spPr>
          <a:xfrm>
            <a:off x="3543296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9F6DF6-DB83-46B0-B114-B82E573D1DAC}"/>
              </a:ext>
            </a:extLst>
          </p:cNvPr>
          <p:cNvSpPr/>
          <p:nvPr/>
        </p:nvSpPr>
        <p:spPr>
          <a:xfrm>
            <a:off x="4111333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&amp;&amp;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AAEF37-281E-4036-A47C-60A76031FE09}"/>
              </a:ext>
            </a:extLst>
          </p:cNvPr>
          <p:cNvSpPr/>
          <p:nvPr/>
        </p:nvSpPr>
        <p:spPr>
          <a:xfrm>
            <a:off x="4679370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&lt;&lt;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962FB3-64BD-4205-9969-0F78540896AD}"/>
              </a:ext>
            </a:extLst>
          </p:cNvPr>
          <p:cNvSpPr/>
          <p:nvPr/>
        </p:nvSpPr>
        <p:spPr>
          <a:xfrm>
            <a:off x="5247407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F14213-5EA8-4A3F-B2B7-4B45CC47A5E7}"/>
              </a:ext>
            </a:extLst>
          </p:cNvPr>
          <p:cNvSpPr/>
          <p:nvPr/>
        </p:nvSpPr>
        <p:spPr>
          <a:xfrm>
            <a:off x="5815444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A2F41E-6C88-4497-917C-9153E0503067}"/>
              </a:ext>
            </a:extLst>
          </p:cNvPr>
          <p:cNvSpPr/>
          <p:nvPr/>
        </p:nvSpPr>
        <p:spPr>
          <a:xfrm>
            <a:off x="6383481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&gt;&gt;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49E415-6124-4593-A8AD-3512A38A8C5C}"/>
              </a:ext>
            </a:extLst>
          </p:cNvPr>
          <p:cNvSpPr/>
          <p:nvPr/>
        </p:nvSpPr>
        <p:spPr>
          <a:xfrm>
            <a:off x="6951518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8A6D6C-A914-4B62-B78C-69DFA3DA25CD}"/>
              </a:ext>
            </a:extLst>
          </p:cNvPr>
          <p:cNvSpPr/>
          <p:nvPr/>
        </p:nvSpPr>
        <p:spPr>
          <a:xfrm>
            <a:off x="7519555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324C9F-6C2E-4696-AA8C-8F0BDEB004FE}"/>
              </a:ext>
            </a:extLst>
          </p:cNvPr>
          <p:cNvSpPr/>
          <p:nvPr/>
        </p:nvSpPr>
        <p:spPr>
          <a:xfrm>
            <a:off x="8087592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d</a:t>
            </a:r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2BFE45-E4DA-4FFF-A2DC-CAAE98EAB7D2}"/>
              </a:ext>
            </a:extLst>
          </p:cNvPr>
          <p:cNvSpPr/>
          <p:nvPr/>
        </p:nvSpPr>
        <p:spPr>
          <a:xfrm>
            <a:off x="8655629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51636-B845-4936-ABDF-F218570AC673}"/>
              </a:ext>
            </a:extLst>
          </p:cNvPr>
          <p:cNvSpPr/>
          <p:nvPr/>
        </p:nvSpPr>
        <p:spPr>
          <a:xfrm>
            <a:off x="6324600" y="2853117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d + 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625654-4C37-4ADC-9872-90E5782A38F3}"/>
              </a:ext>
            </a:extLst>
          </p:cNvPr>
          <p:cNvSpPr/>
          <p:nvPr/>
        </p:nvSpPr>
        <p:spPr>
          <a:xfrm>
            <a:off x="3206195" y="3325227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d + 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8E81FA-3D24-4569-B81E-086F0E938D28}"/>
              </a:ext>
            </a:extLst>
          </p:cNvPr>
          <p:cNvSpPr/>
          <p:nvPr/>
        </p:nvSpPr>
        <p:spPr>
          <a:xfrm>
            <a:off x="3204428" y="3061713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EE558D5-6622-472E-857A-AC155DB64A22}"/>
              </a:ext>
            </a:extLst>
          </p:cNvPr>
          <p:cNvSpPr/>
          <p:nvPr/>
        </p:nvSpPr>
        <p:spPr>
          <a:xfrm>
            <a:off x="6324600" y="2853117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c &gt;&gt; d + 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F2214E-0911-44C7-A83E-3CF6E8BB134D}"/>
              </a:ext>
            </a:extLst>
          </p:cNvPr>
          <p:cNvSpPr/>
          <p:nvPr/>
        </p:nvSpPr>
        <p:spPr>
          <a:xfrm>
            <a:off x="3204428" y="3325227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c &gt;&gt; d + 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1CB619-021E-4959-8E7A-C353D404A949}"/>
              </a:ext>
            </a:extLst>
          </p:cNvPr>
          <p:cNvSpPr/>
          <p:nvPr/>
        </p:nvSpPr>
        <p:spPr>
          <a:xfrm>
            <a:off x="3204428" y="3061713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C643F7-95B3-4178-89C7-590D431E8B60}"/>
              </a:ext>
            </a:extLst>
          </p:cNvPr>
          <p:cNvSpPr/>
          <p:nvPr/>
        </p:nvSpPr>
        <p:spPr>
          <a:xfrm>
            <a:off x="3204427" y="2794389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1E46FCD-07F6-4C62-9188-501BBB732F48}"/>
              </a:ext>
            </a:extLst>
          </p:cNvPr>
          <p:cNvSpPr/>
          <p:nvPr/>
        </p:nvSpPr>
        <p:spPr>
          <a:xfrm>
            <a:off x="6324600" y="2853117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a &lt;&lt;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806613-E7FE-4EA4-8961-4925D3C5777B}"/>
              </a:ext>
            </a:extLst>
          </p:cNvPr>
          <p:cNvSpPr/>
          <p:nvPr/>
        </p:nvSpPr>
        <p:spPr>
          <a:xfrm>
            <a:off x="3203853" y="3061713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a &lt;&lt; 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24BCE54-3514-4B94-9551-ACFA34215FF1}"/>
              </a:ext>
            </a:extLst>
          </p:cNvPr>
          <p:cNvSpPr/>
          <p:nvPr/>
        </p:nvSpPr>
        <p:spPr>
          <a:xfrm>
            <a:off x="6324600" y="2853117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a &lt;&lt; b &amp;&amp; c &gt;&gt; d + 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4DFB7DF-1020-4B7C-B001-E6FF823D2832}"/>
              </a:ext>
            </a:extLst>
          </p:cNvPr>
          <p:cNvSpPr/>
          <p:nvPr/>
        </p:nvSpPr>
        <p:spPr>
          <a:xfrm>
            <a:off x="3203853" y="3325227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/>
              <a:t>a &lt;&lt; b &amp;&amp; c &gt;&gt; d + e</a:t>
            </a:r>
            <a:endParaRPr lang="en-SG" sz="1400" b="1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75197BB-DB4F-48AD-A08D-903DDA5942D3}"/>
              </a:ext>
            </a:extLst>
          </p:cNvPr>
          <p:cNvSpPr/>
          <p:nvPr/>
        </p:nvSpPr>
        <p:spPr>
          <a:xfrm>
            <a:off x="3202086" y="3065523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6A43B1-1DAA-47F2-963A-80449AAC50B5}"/>
              </a:ext>
            </a:extLst>
          </p:cNvPr>
          <p:cNvSpPr/>
          <p:nvPr/>
        </p:nvSpPr>
        <p:spPr>
          <a:xfrm>
            <a:off x="6324600" y="2853117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y = a &lt;&lt; b &amp;&amp; c &gt;&gt; d + 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55FE7E-E040-4CCD-BAD5-2DD9EF730F78}"/>
              </a:ext>
            </a:extLst>
          </p:cNvPr>
          <p:cNvSpPr/>
          <p:nvPr/>
        </p:nvSpPr>
        <p:spPr>
          <a:xfrm>
            <a:off x="3202086" y="3321417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y = a &lt;&lt; b &amp;&amp; c &gt;&gt; d +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FAD0D-6067-4940-B65D-CD6FB1DD6C8B}"/>
              </a:ext>
            </a:extLst>
          </p:cNvPr>
          <p:cNvSpPr txBox="1"/>
          <p:nvPr/>
        </p:nvSpPr>
        <p:spPr>
          <a:xfrm>
            <a:off x="2743200" y="4817785"/>
            <a:ext cx="7086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An expression is called the prefix expression if the operator appears in the expression before the operands. Simply of the form (operator operand1 operand2). </a:t>
            </a: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SG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*+AB-CD (Infix : (A+B) * (C-D) 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SG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Infix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An expression is called the Infix expression if the operator appears in between the operands in the expression. Simply of the form (operand1 operator operand2). </a:t>
            </a: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SG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(A+B) * (C-D)</a:t>
            </a:r>
          </a:p>
          <a:p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15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4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5" grpId="0" animBg="1"/>
      <p:bldP spid="5" grpId="1" animBg="1"/>
      <p:bldP spid="17" grpId="0" animBg="1"/>
      <p:bldP spid="17" grpId="1" animBg="1"/>
      <p:bldP spid="15" grpId="0" animBg="1"/>
      <p:bldP spid="15" grpId="1" animBg="1"/>
      <p:bldP spid="43" grpId="0" animBg="1"/>
      <p:bldP spid="43" grpId="1" animBg="1"/>
      <p:bldP spid="16" grpId="0" animBg="1"/>
      <p:bldP spid="16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44" grpId="0" animBg="1"/>
      <p:bldP spid="44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62F1-5BAE-489A-8198-3F3F4049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Postfix to prefix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3DB9A-AE63-4591-B8D5-D106DE166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447800"/>
            <a:ext cx="8472791" cy="458010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Postfix expression from </a:t>
            </a:r>
            <a:r>
              <a:rPr lang="en-US" sz="1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to right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symbol is an operand, then push it onto the Stack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symbol is an operator, then pop two operands from the Stack 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string by concatenating the two operands and the operator before them.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= </a:t>
            </a:r>
            <a:r>
              <a:rPr lang="en-US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+ operand2 + operand1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push the resultant string back to Stack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Until: 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prefix expression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EEE828-CE0D-4872-9F34-D798A5118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607270"/>
              </p:ext>
            </p:extLst>
          </p:nvPr>
        </p:nvGraphicFramePr>
        <p:xfrm>
          <a:off x="8138160" y="3764280"/>
          <a:ext cx="2362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02372491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545952784"/>
                    </a:ext>
                  </a:extLst>
                </a:gridCol>
              </a:tblGrid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Operators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Precedence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88187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*, /,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Highest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71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+,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868059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&lt;&lt;, &gt;&gt;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08566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&amp;&amp;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072015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Lowest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51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5745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9FC2F-743B-4AD2-BC14-A4232C3E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– (c) Answer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5242-9754-4FB1-93C6-A43E4C2DE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743010"/>
            <a:ext cx="8610600" cy="476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 </a:t>
            </a:r>
            <a:r>
              <a:rPr lang="en-S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expression, </a:t>
            </a:r>
            <a:r>
              <a:rPr lang="en-SG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xabc</a:t>
            </a:r>
            <a:r>
              <a:rPr lang="en-SG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∗ d% + e &gt;&gt;=</a:t>
            </a: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 </a:t>
            </a:r>
            <a:r>
              <a:rPr lang="en-S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en-S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expression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C52A90C1-E4DD-4248-B52B-A9E388876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292792"/>
              </p:ext>
            </p:extLst>
          </p:nvPr>
        </p:nvGraphicFramePr>
        <p:xfrm>
          <a:off x="9524994" y="2794389"/>
          <a:ext cx="2362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02372491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545952784"/>
                    </a:ext>
                  </a:extLst>
                </a:gridCol>
              </a:tblGrid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Operators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Precedence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88187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*, /,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Highest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71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+,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868059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&lt;&lt;, &gt;&gt;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08566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&amp;&amp;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072015"/>
                  </a:ext>
                </a:extLst>
              </a:tr>
              <a:tr h="1354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ysClr val="windowText" lastClr="000000"/>
                          </a:solidFill>
                        </a:rPr>
                        <a:t>Lowest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511008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E725130D-7D24-4A7E-9366-6D5807BB9F10}"/>
              </a:ext>
            </a:extLst>
          </p:cNvPr>
          <p:cNvGrpSpPr/>
          <p:nvPr/>
        </p:nvGrpSpPr>
        <p:grpSpPr>
          <a:xfrm>
            <a:off x="3055156" y="2438401"/>
            <a:ext cx="2964645" cy="1302741"/>
            <a:chOff x="1143000" y="2667000"/>
            <a:chExt cx="1295400" cy="31242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1FAC8F0-54BD-4905-8321-847E457F6F4B}"/>
                </a:ext>
              </a:extLst>
            </p:cNvPr>
            <p:cNvCxnSpPr/>
            <p:nvPr/>
          </p:nvCxnSpPr>
          <p:spPr>
            <a:xfrm>
              <a:off x="1143000" y="2667000"/>
              <a:ext cx="0" cy="3124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DCB7FCF-13BA-473C-8BA1-8661957AEA6B}"/>
                </a:ext>
              </a:extLst>
            </p:cNvPr>
            <p:cNvCxnSpPr/>
            <p:nvPr/>
          </p:nvCxnSpPr>
          <p:spPr>
            <a:xfrm>
              <a:off x="2438400" y="2667000"/>
              <a:ext cx="0" cy="3124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AA975F3-49EF-494D-81DA-D6D09C2D4572}"/>
                </a:ext>
              </a:extLst>
            </p:cNvPr>
            <p:cNvCxnSpPr/>
            <p:nvPr/>
          </p:nvCxnSpPr>
          <p:spPr>
            <a:xfrm flipH="1">
              <a:off x="1143000" y="5791200"/>
              <a:ext cx="12954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DC98DE0-E2E3-4CD3-9223-3D209AC699B1}"/>
              </a:ext>
            </a:extLst>
          </p:cNvPr>
          <p:cNvSpPr/>
          <p:nvPr/>
        </p:nvSpPr>
        <p:spPr>
          <a:xfrm>
            <a:off x="2971794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B76D75-D95D-4FA1-8FBA-B7CA9FD7F20E}"/>
              </a:ext>
            </a:extLst>
          </p:cNvPr>
          <p:cNvSpPr/>
          <p:nvPr/>
        </p:nvSpPr>
        <p:spPr>
          <a:xfrm>
            <a:off x="3539831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5D6418-1D9B-4C3C-980A-1310B8E3DD08}"/>
              </a:ext>
            </a:extLst>
          </p:cNvPr>
          <p:cNvSpPr/>
          <p:nvPr/>
        </p:nvSpPr>
        <p:spPr>
          <a:xfrm>
            <a:off x="4107868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&gt;&gt;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6B5021-66A9-4B9F-A116-77F228068FF7}"/>
              </a:ext>
            </a:extLst>
          </p:cNvPr>
          <p:cNvSpPr/>
          <p:nvPr/>
        </p:nvSpPr>
        <p:spPr>
          <a:xfrm>
            <a:off x="4675905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B3D01D-3BCF-4B31-BCD4-035C217E0D67}"/>
              </a:ext>
            </a:extLst>
          </p:cNvPr>
          <p:cNvSpPr/>
          <p:nvPr/>
        </p:nvSpPr>
        <p:spPr>
          <a:xfrm>
            <a:off x="5243942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A37781-833B-4C90-8700-2184DA107511}"/>
              </a:ext>
            </a:extLst>
          </p:cNvPr>
          <p:cNvSpPr/>
          <p:nvPr/>
        </p:nvSpPr>
        <p:spPr>
          <a:xfrm>
            <a:off x="5811979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%</a:t>
            </a:r>
            <a:endParaRPr lang="en-SG" sz="1600" b="1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B25DA5-C7F8-4C23-88B3-0FC46261C86F}"/>
              </a:ext>
            </a:extLst>
          </p:cNvPr>
          <p:cNvSpPr/>
          <p:nvPr/>
        </p:nvSpPr>
        <p:spPr>
          <a:xfrm>
            <a:off x="6380016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F15038-83C9-4241-83FD-6BC1E1C3AE9B}"/>
              </a:ext>
            </a:extLst>
          </p:cNvPr>
          <p:cNvSpPr/>
          <p:nvPr/>
        </p:nvSpPr>
        <p:spPr>
          <a:xfrm>
            <a:off x="6948053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DB6681-CEDB-4C00-B592-1445F81BA1BA}"/>
              </a:ext>
            </a:extLst>
          </p:cNvPr>
          <p:cNvSpPr/>
          <p:nvPr/>
        </p:nvSpPr>
        <p:spPr>
          <a:xfrm>
            <a:off x="7516090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5CE1B0-0A12-4119-AE7D-11C2CD0CC28E}"/>
              </a:ext>
            </a:extLst>
          </p:cNvPr>
          <p:cNvSpPr/>
          <p:nvPr/>
        </p:nvSpPr>
        <p:spPr>
          <a:xfrm>
            <a:off x="8084127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E41E64-6EFE-4808-8148-9131794B6899}"/>
              </a:ext>
            </a:extLst>
          </p:cNvPr>
          <p:cNvSpPr/>
          <p:nvPr/>
        </p:nvSpPr>
        <p:spPr>
          <a:xfrm>
            <a:off x="8652164" y="412496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7A96D0-D9A4-4177-939E-328C473FF986}"/>
              </a:ext>
            </a:extLst>
          </p:cNvPr>
          <p:cNvSpPr/>
          <p:nvPr/>
        </p:nvSpPr>
        <p:spPr>
          <a:xfrm>
            <a:off x="2987165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022A6B-8E43-485D-A43A-84197770C309}"/>
              </a:ext>
            </a:extLst>
          </p:cNvPr>
          <p:cNvSpPr/>
          <p:nvPr/>
        </p:nvSpPr>
        <p:spPr>
          <a:xfrm>
            <a:off x="3543296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9F6DF6-DB83-46B0-B114-B82E573D1DAC}"/>
              </a:ext>
            </a:extLst>
          </p:cNvPr>
          <p:cNvSpPr/>
          <p:nvPr/>
        </p:nvSpPr>
        <p:spPr>
          <a:xfrm>
            <a:off x="4111333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AAEF37-281E-4036-A47C-60A76031FE09}"/>
              </a:ext>
            </a:extLst>
          </p:cNvPr>
          <p:cNvSpPr/>
          <p:nvPr/>
        </p:nvSpPr>
        <p:spPr>
          <a:xfrm>
            <a:off x="4679370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962FB3-64BD-4205-9969-0F78540896AD}"/>
              </a:ext>
            </a:extLst>
          </p:cNvPr>
          <p:cNvSpPr/>
          <p:nvPr/>
        </p:nvSpPr>
        <p:spPr>
          <a:xfrm>
            <a:off x="5247407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F14213-5EA8-4A3F-B2B7-4B45CC47A5E7}"/>
              </a:ext>
            </a:extLst>
          </p:cNvPr>
          <p:cNvSpPr/>
          <p:nvPr/>
        </p:nvSpPr>
        <p:spPr>
          <a:xfrm>
            <a:off x="5815444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A2F41E-6C88-4497-917C-9153E0503067}"/>
              </a:ext>
            </a:extLst>
          </p:cNvPr>
          <p:cNvSpPr/>
          <p:nvPr/>
        </p:nvSpPr>
        <p:spPr>
          <a:xfrm>
            <a:off x="6383481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%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49E415-6124-4593-A8AD-3512A38A8C5C}"/>
              </a:ext>
            </a:extLst>
          </p:cNvPr>
          <p:cNvSpPr/>
          <p:nvPr/>
        </p:nvSpPr>
        <p:spPr>
          <a:xfrm>
            <a:off x="6951518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8A6D6C-A914-4B62-B78C-69DFA3DA25CD}"/>
              </a:ext>
            </a:extLst>
          </p:cNvPr>
          <p:cNvSpPr/>
          <p:nvPr/>
        </p:nvSpPr>
        <p:spPr>
          <a:xfrm>
            <a:off x="7519555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324C9F-6C2E-4696-AA8C-8F0BDEB004FE}"/>
              </a:ext>
            </a:extLst>
          </p:cNvPr>
          <p:cNvSpPr/>
          <p:nvPr/>
        </p:nvSpPr>
        <p:spPr>
          <a:xfrm>
            <a:off x="8087592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&gt;&gt;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2BFE45-E4DA-4FFF-A2DC-CAAE98EAB7D2}"/>
              </a:ext>
            </a:extLst>
          </p:cNvPr>
          <p:cNvSpPr/>
          <p:nvPr/>
        </p:nvSpPr>
        <p:spPr>
          <a:xfrm>
            <a:off x="8655629" y="1633220"/>
            <a:ext cx="568037" cy="370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18149E-FD25-41A0-88AE-136CA28FCEF7}"/>
              </a:ext>
            </a:extLst>
          </p:cNvPr>
          <p:cNvSpPr/>
          <p:nvPr/>
        </p:nvSpPr>
        <p:spPr>
          <a:xfrm>
            <a:off x="6324600" y="2853117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* b c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660B32C-D26A-4299-9294-50C96C97CB74}"/>
              </a:ext>
            </a:extLst>
          </p:cNvPr>
          <p:cNvSpPr/>
          <p:nvPr/>
        </p:nvSpPr>
        <p:spPr>
          <a:xfrm>
            <a:off x="3204428" y="3325227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x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EF6644-E0F1-42E2-A7C3-1F499D091450}"/>
              </a:ext>
            </a:extLst>
          </p:cNvPr>
          <p:cNvSpPr/>
          <p:nvPr/>
        </p:nvSpPr>
        <p:spPr>
          <a:xfrm>
            <a:off x="3204428" y="3061713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5DE03C-C029-4709-A1EF-67B4D203100C}"/>
              </a:ext>
            </a:extLst>
          </p:cNvPr>
          <p:cNvSpPr/>
          <p:nvPr/>
        </p:nvSpPr>
        <p:spPr>
          <a:xfrm>
            <a:off x="3204427" y="2794389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b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9B6B20C-40B3-449F-8929-BE7BA6FEA252}"/>
              </a:ext>
            </a:extLst>
          </p:cNvPr>
          <p:cNvSpPr/>
          <p:nvPr/>
        </p:nvSpPr>
        <p:spPr>
          <a:xfrm>
            <a:off x="3204426" y="2530875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c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0B690F1-7BCB-4FE0-B6AC-0500E167E3E8}"/>
              </a:ext>
            </a:extLst>
          </p:cNvPr>
          <p:cNvSpPr/>
          <p:nvPr/>
        </p:nvSpPr>
        <p:spPr>
          <a:xfrm>
            <a:off x="3204426" y="2798199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* b c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B29D3D6-45B8-4CD5-86B5-013889B2A761}"/>
              </a:ext>
            </a:extLst>
          </p:cNvPr>
          <p:cNvSpPr/>
          <p:nvPr/>
        </p:nvSpPr>
        <p:spPr>
          <a:xfrm>
            <a:off x="3204426" y="2534685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506DA6F-AEF2-4574-877F-53B006B16542}"/>
              </a:ext>
            </a:extLst>
          </p:cNvPr>
          <p:cNvSpPr/>
          <p:nvPr/>
        </p:nvSpPr>
        <p:spPr>
          <a:xfrm>
            <a:off x="6324600" y="2853117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% * b c 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3718AA9-BB84-4F50-8111-2A6E8EEB9627}"/>
              </a:ext>
            </a:extLst>
          </p:cNvPr>
          <p:cNvSpPr/>
          <p:nvPr/>
        </p:nvSpPr>
        <p:spPr>
          <a:xfrm>
            <a:off x="3204425" y="2799546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% * b c d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D8692BB-6394-4818-8A00-6B293784B752}"/>
              </a:ext>
            </a:extLst>
          </p:cNvPr>
          <p:cNvSpPr/>
          <p:nvPr/>
        </p:nvSpPr>
        <p:spPr>
          <a:xfrm>
            <a:off x="6324600" y="2853117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+ a % * b c d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C2E86EC-842F-4927-9FF8-6A241E926BB5}"/>
              </a:ext>
            </a:extLst>
          </p:cNvPr>
          <p:cNvSpPr/>
          <p:nvPr/>
        </p:nvSpPr>
        <p:spPr>
          <a:xfrm>
            <a:off x="3204425" y="3063045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+ a % * b c 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5257A85-A178-4754-AE2D-5C222A00D4B5}"/>
              </a:ext>
            </a:extLst>
          </p:cNvPr>
          <p:cNvSpPr/>
          <p:nvPr/>
        </p:nvSpPr>
        <p:spPr>
          <a:xfrm>
            <a:off x="3204425" y="2797526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/>
              <a:t>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EA54BFE-B480-4182-A48C-CE0CE70EC40D}"/>
              </a:ext>
            </a:extLst>
          </p:cNvPr>
          <p:cNvSpPr/>
          <p:nvPr/>
        </p:nvSpPr>
        <p:spPr>
          <a:xfrm>
            <a:off x="6324600" y="2858742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&gt;&gt; + a % * b c d 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0B3B7E2-B6FA-4D3B-9F85-307FE4EB43FE}"/>
              </a:ext>
            </a:extLst>
          </p:cNvPr>
          <p:cNvSpPr/>
          <p:nvPr/>
        </p:nvSpPr>
        <p:spPr>
          <a:xfrm>
            <a:off x="3204425" y="3062765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/>
              <a:t>&gt;&gt; + a % * b c d e</a:t>
            </a:r>
            <a:endParaRPr lang="en-SG" sz="1400" b="1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5EFB9F-F3E5-4EA6-970D-5AADD80EF4F3}"/>
              </a:ext>
            </a:extLst>
          </p:cNvPr>
          <p:cNvSpPr/>
          <p:nvPr/>
        </p:nvSpPr>
        <p:spPr>
          <a:xfrm>
            <a:off x="6324600" y="2853117"/>
            <a:ext cx="2819398" cy="3708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 dirty="0">
                <a:solidFill>
                  <a:srgbClr val="FF0000"/>
                </a:solidFill>
              </a:rPr>
              <a:t>= x &gt;&gt; + a % * b c d 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14C2C1D-AC52-4F78-B6DC-333A9A5881E4}"/>
              </a:ext>
            </a:extLst>
          </p:cNvPr>
          <p:cNvSpPr/>
          <p:nvPr/>
        </p:nvSpPr>
        <p:spPr>
          <a:xfrm>
            <a:off x="3204422" y="3327021"/>
            <a:ext cx="2685427" cy="263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/>
              <a:t>= x &gt;&gt; + a % * b c d e</a:t>
            </a:r>
            <a:endParaRPr lang="en-SG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E085C-2065-44FC-9D35-81E7ECE9ABE7}"/>
              </a:ext>
            </a:extLst>
          </p:cNvPr>
          <p:cNvSpPr txBox="1"/>
          <p:nvPr/>
        </p:nvSpPr>
        <p:spPr>
          <a:xfrm>
            <a:off x="2667000" y="4816633"/>
            <a:ext cx="7315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expression is called the postfix expression if the operator appears in the expression after the operands. Simply of the form (operand1 operand2 operator).  </a:t>
            </a: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SG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AB+CD-* (Infix : (A+B) * (C-D) 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SG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An expression is called the prefix expression if the operator appears in the expression before the operands. Simply of the form (operator operand1 operand2).  </a:t>
            </a:r>
            <a:r>
              <a:rPr lang="en-SG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  <a:r>
              <a:rPr lang="en-SG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SG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*+AB-CD (Infix : (A+B) * (C-D) )</a:t>
            </a:r>
          </a:p>
          <a:p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41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7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8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2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53" grpId="0" animBg="1"/>
      <p:bldP spid="53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47" grpId="0" animBg="1"/>
      <p:bldP spid="47" grpId="1" animBg="1"/>
      <p:bldP spid="62" grpId="0" animBg="1"/>
      <p:bldP spid="62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a:spPr>
      <a:bodyPr rtlCol="0">
        <a:normAutofit/>
      </a:bodyPr>
      <a:lstStyle>
        <a:defPPr algn="l" eaLnBrk="1" fontAlgn="auto" hangingPunct="1">
          <a:spcAft>
            <a:spcPts val="0"/>
          </a:spcAft>
          <a:buFont typeface="Arial"/>
          <a:buChar char="•"/>
          <a:defRPr sz="2800" i="1" dirty="0">
            <a:solidFill>
              <a:schemeClr val="tx2"/>
            </a:solidFill>
            <a:latin typeface="Verdana" panose="020B0604030504040204" pitchFamily="34" charset="0"/>
            <a:ea typeface="Verdana" panose="020B0604030504040204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3528</Words>
  <Application>Microsoft Office PowerPoint</Application>
  <PresentationFormat>Widescreen</PresentationFormat>
  <Paragraphs>1080</Paragraphs>
  <Slides>60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1" baseType="lpstr">
      <vt:lpstr>DengXian</vt:lpstr>
      <vt:lpstr>MS PGothic</vt:lpstr>
      <vt:lpstr>MS PGothic</vt:lpstr>
      <vt:lpstr>Arial</vt:lpstr>
      <vt:lpstr>Calibri</vt:lpstr>
      <vt:lpstr>Consolas</vt:lpstr>
      <vt:lpstr>Courier New</vt:lpstr>
      <vt:lpstr>Times</vt:lpstr>
      <vt:lpstr>Times New Roman</vt:lpstr>
      <vt:lpstr>Verdana</vt:lpstr>
      <vt:lpstr>Office Theme</vt:lpstr>
      <vt:lpstr>Data Structures &amp; Algorithms in Python  Stacks and Queues – Tutorials Answers  Dr. Owen Noel Newton Fernando </vt:lpstr>
      <vt:lpstr>Q01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Q02</vt:lpstr>
      <vt:lpstr>Q02 - Answer</vt:lpstr>
      <vt:lpstr>Q02 - Answer</vt:lpstr>
      <vt:lpstr>Q02 - Answer</vt:lpstr>
      <vt:lpstr>Q02 - Answer</vt:lpstr>
      <vt:lpstr>Q02 - Answer</vt:lpstr>
      <vt:lpstr>Q02 - Answer</vt:lpstr>
      <vt:lpstr>Q02 - Answer</vt:lpstr>
      <vt:lpstr>Q02 - Answer</vt:lpstr>
      <vt:lpstr>Q03</vt:lpstr>
      <vt:lpstr>Q03 - Answer</vt:lpstr>
      <vt:lpstr>Q03 - Answer</vt:lpstr>
      <vt:lpstr>Q03 - Answer</vt:lpstr>
      <vt:lpstr>Q03 - Answer</vt:lpstr>
      <vt:lpstr>Q03 - Answer</vt:lpstr>
      <vt:lpstr>Q03 - Answer</vt:lpstr>
      <vt:lpstr>Q03 - Answer</vt:lpstr>
      <vt:lpstr>Q03 - Answer</vt:lpstr>
      <vt:lpstr>Q03 - Answer</vt:lpstr>
      <vt:lpstr>Q03 - Answer</vt:lpstr>
      <vt:lpstr>Q04</vt:lpstr>
      <vt:lpstr>Q04 - Answers</vt:lpstr>
      <vt:lpstr>Infix Notation</vt:lpstr>
      <vt:lpstr>Postfix Notation</vt:lpstr>
      <vt:lpstr>Prefix Notation</vt:lpstr>
      <vt:lpstr>Infix to postfix (stack based)</vt:lpstr>
      <vt:lpstr>Q04 – (a) Answer</vt:lpstr>
      <vt:lpstr>Prefix to infix</vt:lpstr>
      <vt:lpstr>Q04 – (b) Answer</vt:lpstr>
      <vt:lpstr>Postfix to prefix</vt:lpstr>
      <vt:lpstr>Q04 – (c)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&amp; Algorithms in Python  Chapter 01 – Overview  Dr. Owen Noel Newton Fernando </dc:title>
  <dc:creator>Thisura Embuldeniya</dc:creator>
  <cp:lastModifiedBy>Thisura Embuldeniya</cp:lastModifiedBy>
  <cp:revision>406</cp:revision>
  <dcterms:created xsi:type="dcterms:W3CDTF">2024-09-01T19:11:44Z</dcterms:created>
  <dcterms:modified xsi:type="dcterms:W3CDTF">2025-08-25T06:55:56Z</dcterms:modified>
</cp:coreProperties>
</file>