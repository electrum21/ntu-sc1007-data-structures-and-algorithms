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</p:sldIdLst>
  <p:sldSz cy="6858000" cx="12192000"/>
  <p:notesSz cx="6858000" cy="9117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58" roundtripDataSignature="AMtx7mj55fmgZG8D5ukSlUcdMLdVm7ZT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8" Type="http://customschemas.google.com/relationships/presentationmetadata" Target="meta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5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5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92113" y="684213"/>
            <a:ext cx="6073775" cy="34178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30700"/>
            <a:ext cx="5486400" cy="41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59813"/>
            <a:ext cx="2971800" cy="4556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59813"/>
            <a:ext cx="2971800" cy="4556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/>
          <p:nvPr>
            <p:ph idx="2" type="sldImg"/>
          </p:nvPr>
        </p:nvSpPr>
        <p:spPr>
          <a:xfrm>
            <a:off x="392113" y="684213"/>
            <a:ext cx="6073775" cy="34178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1:notes"/>
          <p:cNvSpPr txBox="1"/>
          <p:nvPr>
            <p:ph idx="1" type="body"/>
          </p:nvPr>
        </p:nvSpPr>
        <p:spPr>
          <a:xfrm>
            <a:off x="685800" y="4330700"/>
            <a:ext cx="5486400" cy="41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:notes"/>
          <p:cNvSpPr txBox="1"/>
          <p:nvPr>
            <p:ph idx="12" type="sldNum"/>
          </p:nvPr>
        </p:nvSpPr>
        <p:spPr>
          <a:xfrm>
            <a:off x="3884613" y="8659813"/>
            <a:ext cx="2971800" cy="4556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2:notes"/>
          <p:cNvSpPr txBox="1"/>
          <p:nvPr>
            <p:ph idx="1" type="body"/>
          </p:nvPr>
        </p:nvSpPr>
        <p:spPr>
          <a:xfrm>
            <a:off x="685800" y="4330700"/>
            <a:ext cx="5486400" cy="41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:notes"/>
          <p:cNvSpPr txBox="1"/>
          <p:nvPr>
            <p:ph idx="12" type="sldNum"/>
          </p:nvPr>
        </p:nvSpPr>
        <p:spPr>
          <a:xfrm>
            <a:off x="3884613" y="8659813"/>
            <a:ext cx="2971800" cy="4556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30700"/>
            <a:ext cx="5486400" cy="41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A </a:t>
            </a:r>
            <a:r>
              <a:rPr b="1" lang="en-US"/>
              <a:t>class</a:t>
            </a:r>
            <a:r>
              <a:rPr lang="en-US"/>
              <a:t> is like a blueprint for an object. Here, BTNode represents a </a:t>
            </a:r>
            <a:r>
              <a:rPr b="1" lang="en-US"/>
              <a:t>single node</a:t>
            </a:r>
            <a:r>
              <a:rPr lang="en-US"/>
              <a:t> of a Binary Search Tree (BST).</a:t>
            </a:r>
            <a:br>
              <a:rPr lang="en-US"/>
            </a:b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__init__ is the </a:t>
            </a:r>
            <a:r>
              <a:rPr b="1" lang="en-US"/>
              <a:t>constructor</a:t>
            </a:r>
            <a:r>
              <a:rPr lang="en-US"/>
              <a:t> that runs when a new node is created.</a:t>
            </a:r>
            <a:br>
              <a:rPr lang="en-US"/>
            </a:b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Each node has:</a:t>
            </a:r>
            <a:br>
              <a:rPr lang="en-US"/>
            </a:br>
            <a:endParaRPr/>
          </a:p>
          <a:p>
            <a:pPr indent="-171450" lvl="0" marL="1714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item: The actual data stored in the node (e.g., an integer).</a:t>
            </a:r>
            <a:endParaRPr/>
          </a:p>
          <a:p>
            <a:pPr indent="-171450" lvl="0" marL="1714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left: A link to the </a:t>
            </a:r>
            <a:r>
              <a:rPr b="1" lang="en-US"/>
              <a:t>left child</a:t>
            </a:r>
            <a:r>
              <a:rPr lang="en-US"/>
              <a:t> node (default None, meaning no left child initially).</a:t>
            </a:r>
            <a:endParaRPr/>
          </a:p>
          <a:p>
            <a:pPr indent="-171450" lvl="0" marL="1714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right: A link to the </a:t>
            </a:r>
            <a:r>
              <a:rPr b="1" lang="en-US"/>
              <a:t>right child</a:t>
            </a:r>
            <a:r>
              <a:rPr lang="en-US"/>
              <a:t> node (default None).</a:t>
            </a:r>
            <a:br>
              <a:rPr lang="en-US"/>
            </a:b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In a BST:</a:t>
            </a:r>
            <a:br>
              <a:rPr lang="en-US"/>
            </a:b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Left child stores values </a:t>
            </a:r>
            <a:r>
              <a:rPr b="1" lang="en-US"/>
              <a:t>smaller</a:t>
            </a:r>
            <a:r>
              <a:rPr lang="en-US"/>
              <a:t> than the current node’s item.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Right child stores values </a:t>
            </a:r>
            <a:r>
              <a:rPr b="1" lang="en-US"/>
              <a:t>greater</a:t>
            </a:r>
            <a:r>
              <a:rPr lang="en-US"/>
              <a:t> than the current node’s item.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 txBox="1"/>
          <p:nvPr>
            <p:ph idx="12" type="sldNum"/>
          </p:nvPr>
        </p:nvSpPr>
        <p:spPr>
          <a:xfrm>
            <a:off x="3884613" y="8659813"/>
            <a:ext cx="2971800" cy="4556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330700"/>
            <a:ext cx="5486400" cy="41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insertBSTNode(root, value) inserts a new node with the given value into a </a:t>
            </a:r>
            <a:r>
              <a:rPr b="1" lang="en-US"/>
              <a:t>Binary Search Tree (BST)</a:t>
            </a:r>
            <a:r>
              <a:rPr lang="en-US"/>
              <a:t>. A BST maintains the property that: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71450" lvl="0" marL="1714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All values in the </a:t>
            </a:r>
            <a:r>
              <a:rPr b="1" lang="en-US"/>
              <a:t>left subtree</a:t>
            </a:r>
            <a:r>
              <a:rPr lang="en-US"/>
              <a:t> of a node are smaller than the node’s value.</a:t>
            </a:r>
            <a:endParaRPr/>
          </a:p>
          <a:p>
            <a:pPr indent="-171450" lvl="0" marL="1714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All values in the </a:t>
            </a:r>
            <a:r>
              <a:rPr b="1" lang="en-US"/>
              <a:t>right subtree</a:t>
            </a:r>
            <a:r>
              <a:rPr lang="en-US"/>
              <a:t> of a node are greater than the node’s value.</a:t>
            </a:r>
            <a:endParaRPr/>
          </a:p>
          <a:p>
            <a:pPr indent="-171450" lvl="0" marL="1714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This function uses an </a:t>
            </a:r>
            <a:r>
              <a:rPr b="1" lang="en-US"/>
              <a:t>iterative approach</a:t>
            </a:r>
            <a:r>
              <a:rPr lang="en-US"/>
              <a:t> (looping) instead of </a:t>
            </a:r>
            <a:r>
              <a:rPr b="1" lang="en-US"/>
              <a:t>recursion</a:t>
            </a:r>
            <a:r>
              <a:rPr lang="en-US"/>
              <a:t>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 txBox="1"/>
          <p:nvPr>
            <p:ph idx="12" type="sldNum"/>
          </p:nvPr>
        </p:nvSpPr>
        <p:spPr>
          <a:xfrm>
            <a:off x="3884613" y="8659813"/>
            <a:ext cx="2971800" cy="4556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330700"/>
            <a:ext cx="5486400" cy="41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insertBSTNode(root, value) inserts a new node with the given value into a </a:t>
            </a:r>
            <a:r>
              <a:rPr b="1" lang="en-US"/>
              <a:t>Binary Search Tree (BST)</a:t>
            </a:r>
            <a:r>
              <a:rPr lang="en-US"/>
              <a:t>. A BST maintains the property that: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71450" lvl="0" marL="1714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All values in the </a:t>
            </a:r>
            <a:r>
              <a:rPr b="1" lang="en-US"/>
              <a:t>left subtree</a:t>
            </a:r>
            <a:r>
              <a:rPr lang="en-US"/>
              <a:t> of a node are smaller than the node’s value.</a:t>
            </a:r>
            <a:endParaRPr/>
          </a:p>
          <a:p>
            <a:pPr indent="-171450" lvl="0" marL="1714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All values in the </a:t>
            </a:r>
            <a:r>
              <a:rPr b="1" lang="en-US"/>
              <a:t>right subtree</a:t>
            </a:r>
            <a:r>
              <a:rPr lang="en-US"/>
              <a:t> of a node are greater than the node’s value.</a:t>
            </a:r>
            <a:endParaRPr/>
          </a:p>
          <a:p>
            <a:pPr indent="-171450" lvl="0" marL="1714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This function uses an </a:t>
            </a:r>
            <a:r>
              <a:rPr b="1" lang="en-US"/>
              <a:t>iterative approach</a:t>
            </a:r>
            <a:r>
              <a:rPr lang="en-US"/>
              <a:t> (looping) instead of </a:t>
            </a:r>
            <a:r>
              <a:rPr b="1" lang="en-US"/>
              <a:t>recursion</a:t>
            </a:r>
            <a:r>
              <a:rPr lang="en-US"/>
              <a:t>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 txBox="1"/>
          <p:nvPr>
            <p:ph idx="12" type="sldNum"/>
          </p:nvPr>
        </p:nvSpPr>
        <p:spPr>
          <a:xfrm>
            <a:off x="3884613" y="8659813"/>
            <a:ext cx="2971800" cy="4556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6:notes"/>
          <p:cNvSpPr txBox="1"/>
          <p:nvPr>
            <p:ph idx="1" type="body"/>
          </p:nvPr>
        </p:nvSpPr>
        <p:spPr>
          <a:xfrm>
            <a:off x="685800" y="4330700"/>
            <a:ext cx="5486400" cy="41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insertBSTNode(root, value) inserts a new node with the given value into a </a:t>
            </a:r>
            <a:r>
              <a:rPr b="1" lang="en-US"/>
              <a:t>Binary Search Tree (BST)</a:t>
            </a:r>
            <a:r>
              <a:rPr lang="en-US"/>
              <a:t>. A BST maintains the property that: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71450" lvl="0" marL="1714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All values in the </a:t>
            </a:r>
            <a:r>
              <a:rPr b="1" lang="en-US"/>
              <a:t>left subtree</a:t>
            </a:r>
            <a:r>
              <a:rPr lang="en-US"/>
              <a:t> of a node are smaller than the node’s value.</a:t>
            </a:r>
            <a:endParaRPr/>
          </a:p>
          <a:p>
            <a:pPr indent="-171450" lvl="0" marL="1714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All values in the </a:t>
            </a:r>
            <a:r>
              <a:rPr b="1" lang="en-US"/>
              <a:t>right subtree</a:t>
            </a:r>
            <a:r>
              <a:rPr lang="en-US"/>
              <a:t> of a node are greater than the node’s value.</a:t>
            </a:r>
            <a:endParaRPr/>
          </a:p>
          <a:p>
            <a:pPr indent="-171450" lvl="0" marL="1714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This function uses an </a:t>
            </a:r>
            <a:r>
              <a:rPr b="1" lang="en-US"/>
              <a:t>iterative approach</a:t>
            </a:r>
            <a:r>
              <a:rPr lang="en-US"/>
              <a:t> (looping) instead of </a:t>
            </a:r>
            <a:r>
              <a:rPr b="1" lang="en-US"/>
              <a:t>recursion</a:t>
            </a:r>
            <a:r>
              <a:rPr lang="en-US"/>
              <a:t>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:notes"/>
          <p:cNvSpPr txBox="1"/>
          <p:nvPr>
            <p:ph idx="12" type="sldNum"/>
          </p:nvPr>
        </p:nvSpPr>
        <p:spPr>
          <a:xfrm>
            <a:off x="3884613" y="8659813"/>
            <a:ext cx="2971800" cy="4556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7:notes"/>
          <p:cNvSpPr txBox="1"/>
          <p:nvPr>
            <p:ph idx="1" type="body"/>
          </p:nvPr>
        </p:nvSpPr>
        <p:spPr>
          <a:xfrm>
            <a:off x="685800" y="4330700"/>
            <a:ext cx="5486400" cy="41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insertBSTNode(root, value) inserts a new node with the given value into a </a:t>
            </a:r>
            <a:r>
              <a:rPr b="1" lang="en-US"/>
              <a:t>Binary Search Tree (BST)</a:t>
            </a:r>
            <a:r>
              <a:rPr lang="en-US"/>
              <a:t>. A BST maintains the property that: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71450" lvl="0" marL="1714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All values in the </a:t>
            </a:r>
            <a:r>
              <a:rPr b="1" lang="en-US"/>
              <a:t>left subtree</a:t>
            </a:r>
            <a:r>
              <a:rPr lang="en-US"/>
              <a:t> of a node are smaller than the node’s value.</a:t>
            </a:r>
            <a:endParaRPr/>
          </a:p>
          <a:p>
            <a:pPr indent="-171450" lvl="0" marL="1714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All values in the </a:t>
            </a:r>
            <a:r>
              <a:rPr b="1" lang="en-US"/>
              <a:t>right subtree</a:t>
            </a:r>
            <a:r>
              <a:rPr lang="en-US"/>
              <a:t> of a node are greater than the node’s value.</a:t>
            </a:r>
            <a:endParaRPr/>
          </a:p>
          <a:p>
            <a:pPr indent="-171450" lvl="0" marL="1714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This function uses an </a:t>
            </a:r>
            <a:r>
              <a:rPr b="1" lang="en-US"/>
              <a:t>iterative approach</a:t>
            </a:r>
            <a:r>
              <a:rPr lang="en-US"/>
              <a:t> (looping) instead of </a:t>
            </a:r>
            <a:r>
              <a:rPr b="1" lang="en-US"/>
              <a:t>recursion</a:t>
            </a:r>
            <a:r>
              <a:rPr lang="en-US"/>
              <a:t>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:notes"/>
          <p:cNvSpPr txBox="1"/>
          <p:nvPr>
            <p:ph idx="12" type="sldNum"/>
          </p:nvPr>
        </p:nvSpPr>
        <p:spPr>
          <a:xfrm>
            <a:off x="3884613" y="8659813"/>
            <a:ext cx="2971800" cy="4556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8:notes"/>
          <p:cNvSpPr txBox="1"/>
          <p:nvPr>
            <p:ph idx="1" type="body"/>
          </p:nvPr>
        </p:nvSpPr>
        <p:spPr>
          <a:xfrm>
            <a:off x="685800" y="4330700"/>
            <a:ext cx="5486400" cy="41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insertBSTNode(root, value) inserts a new node with the given value into a </a:t>
            </a:r>
            <a:r>
              <a:rPr b="1" lang="en-US"/>
              <a:t>Binary Search Tree (BST)</a:t>
            </a:r>
            <a:r>
              <a:rPr lang="en-US"/>
              <a:t>. A BST maintains the property that: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71450" lvl="0" marL="1714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All values in the </a:t>
            </a:r>
            <a:r>
              <a:rPr b="1" lang="en-US"/>
              <a:t>left subtree</a:t>
            </a:r>
            <a:r>
              <a:rPr lang="en-US"/>
              <a:t> of a node are smaller than the node’s value.</a:t>
            </a:r>
            <a:endParaRPr/>
          </a:p>
          <a:p>
            <a:pPr indent="-171450" lvl="0" marL="1714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All values in the </a:t>
            </a:r>
            <a:r>
              <a:rPr b="1" lang="en-US"/>
              <a:t>right subtree</a:t>
            </a:r>
            <a:r>
              <a:rPr lang="en-US"/>
              <a:t> of a node are greater than the node’s value.</a:t>
            </a:r>
            <a:endParaRPr/>
          </a:p>
          <a:p>
            <a:pPr indent="-171450" lvl="0" marL="1714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This function uses an </a:t>
            </a:r>
            <a:r>
              <a:rPr b="1" lang="en-US"/>
              <a:t>iterative approach</a:t>
            </a:r>
            <a:r>
              <a:rPr lang="en-US"/>
              <a:t> (looping) instead of </a:t>
            </a:r>
            <a:r>
              <a:rPr b="1" lang="en-US"/>
              <a:t>recursion</a:t>
            </a:r>
            <a:r>
              <a:rPr lang="en-US"/>
              <a:t>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:notes"/>
          <p:cNvSpPr txBox="1"/>
          <p:nvPr>
            <p:ph idx="12" type="sldNum"/>
          </p:nvPr>
        </p:nvSpPr>
        <p:spPr>
          <a:xfrm>
            <a:off x="3884613" y="8659813"/>
            <a:ext cx="2971800" cy="4556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9:notes"/>
          <p:cNvSpPr txBox="1"/>
          <p:nvPr>
            <p:ph idx="1" type="body"/>
          </p:nvPr>
        </p:nvSpPr>
        <p:spPr>
          <a:xfrm>
            <a:off x="685800" y="4330700"/>
            <a:ext cx="5486400" cy="41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u="sng"/>
              <a:t>2</a:t>
            </a:r>
            <a:r>
              <a:rPr b="1" baseline="30000" lang="en-US" u="sng"/>
              <a:t>nd</a:t>
            </a:r>
            <a:r>
              <a:rPr b="1" lang="en-US" u="sng"/>
              <a:t> Option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b="1" u="sng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u="sng"/>
              <a:t>You can  do a recursive implementation of insertion in a Binary Search Tree instead of the previous iterative version.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u="sng"/>
              <a:t>Refer to the second answer file (insertBSTNode (Recursion).py) given.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9:notes"/>
          <p:cNvSpPr txBox="1"/>
          <p:nvPr>
            <p:ph idx="12" type="sldNum"/>
          </p:nvPr>
        </p:nvSpPr>
        <p:spPr>
          <a:xfrm>
            <a:off x="3884613" y="8659813"/>
            <a:ext cx="2971800" cy="4556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10:notes"/>
          <p:cNvSpPr txBox="1"/>
          <p:nvPr>
            <p:ph idx="1" type="body"/>
          </p:nvPr>
        </p:nvSpPr>
        <p:spPr>
          <a:xfrm>
            <a:off x="685800" y="4330700"/>
            <a:ext cx="5486400" cy="41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u="sng"/>
              <a:t>2</a:t>
            </a:r>
            <a:r>
              <a:rPr b="1" baseline="30000" lang="en-US" u="sng"/>
              <a:t>nd</a:t>
            </a:r>
            <a:r>
              <a:rPr b="1" lang="en-US" u="sng"/>
              <a:t> Option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b="1" u="sng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u="sng"/>
              <a:t>You can  do a recursive implementation of insertion in a Binary Search Tree instead of the previous iterative version.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u="sng"/>
              <a:t>Refer to the second answer file (insertBSTNode (Recursion).py) given.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0:notes"/>
          <p:cNvSpPr txBox="1"/>
          <p:nvPr>
            <p:ph idx="12" type="sldNum"/>
          </p:nvPr>
        </p:nvSpPr>
        <p:spPr>
          <a:xfrm>
            <a:off x="3884613" y="8659813"/>
            <a:ext cx="2971800" cy="4556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11:notes"/>
          <p:cNvSpPr txBox="1"/>
          <p:nvPr>
            <p:ph idx="1" type="body"/>
          </p:nvPr>
        </p:nvSpPr>
        <p:spPr>
          <a:xfrm>
            <a:off x="685800" y="4330700"/>
            <a:ext cx="5486400" cy="41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u="sng"/>
              <a:t>2</a:t>
            </a:r>
            <a:r>
              <a:rPr b="1" baseline="30000" lang="en-US" u="sng"/>
              <a:t>nd</a:t>
            </a:r>
            <a:r>
              <a:rPr b="1" lang="en-US" u="sng"/>
              <a:t> Option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b="1" u="sng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u="sng"/>
              <a:t>You can  do a recursive implementation of insertion in a Binary Search Tree instead of the previous iterative version.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u="sng"/>
              <a:t>Refer to the second answer file (insertBSTNode (Recursion).py) given.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1:notes"/>
          <p:cNvSpPr txBox="1"/>
          <p:nvPr>
            <p:ph idx="12" type="sldNum"/>
          </p:nvPr>
        </p:nvSpPr>
        <p:spPr>
          <a:xfrm>
            <a:off x="3884613" y="8659813"/>
            <a:ext cx="2971800" cy="4556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12:notes"/>
          <p:cNvSpPr txBox="1"/>
          <p:nvPr>
            <p:ph idx="1" type="body"/>
          </p:nvPr>
        </p:nvSpPr>
        <p:spPr>
          <a:xfrm>
            <a:off x="685800" y="4330700"/>
            <a:ext cx="5486400" cy="41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u="sng"/>
              <a:t>2</a:t>
            </a:r>
            <a:r>
              <a:rPr b="1" baseline="30000" lang="en-US" u="sng"/>
              <a:t>nd</a:t>
            </a:r>
            <a:r>
              <a:rPr b="1" lang="en-US" u="sng"/>
              <a:t> Option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b="1" u="sng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u="sng"/>
              <a:t>You can  do a recursive implementation of insertion in a Binary Search Tree instead of the previous iterative version.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u="sng"/>
              <a:t>Refer to the second answer file (insertBSTNode (Recursion).py) given.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2:notes"/>
          <p:cNvSpPr txBox="1"/>
          <p:nvPr>
            <p:ph idx="12" type="sldNum"/>
          </p:nvPr>
        </p:nvSpPr>
        <p:spPr>
          <a:xfrm>
            <a:off x="3884613" y="8659813"/>
            <a:ext cx="2971800" cy="4556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13:notes"/>
          <p:cNvSpPr txBox="1"/>
          <p:nvPr>
            <p:ph idx="1" type="body"/>
          </p:nvPr>
        </p:nvSpPr>
        <p:spPr>
          <a:xfrm>
            <a:off x="685800" y="4330700"/>
            <a:ext cx="5486400" cy="41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This is a </a:t>
            </a:r>
            <a:r>
              <a:rPr b="1" lang="en-US"/>
              <a:t>recursive function</a:t>
            </a:r>
            <a:r>
              <a:rPr lang="en-US"/>
              <a:t> that prints the tree in a structured format.</a:t>
            </a:r>
            <a:endParaRPr/>
          </a:p>
          <a:p>
            <a:pPr indent="-95250" lvl="0" marL="1714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  <a:p>
            <a:pPr indent="-171450" lvl="0" marL="1714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level controls indentation → deeper nodes are printed with more spaces.</a:t>
            </a:r>
            <a:endParaRPr/>
          </a:p>
          <a:p>
            <a:pPr indent="-95250" lvl="0" marL="1714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  <a:p>
            <a:pPr indent="-171450" lvl="0" marL="1714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prefix labels whether the node is Root, L--- (left), or R--- (right).</a:t>
            </a:r>
            <a:endParaRPr/>
          </a:p>
          <a:p>
            <a:pPr indent="-95250" lvl="0" marL="1714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  <a:p>
            <a:pPr indent="-171450" lvl="0" marL="1714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If a node has children, we recursively print them.</a:t>
            </a:r>
            <a:endParaRPr/>
          </a:p>
        </p:txBody>
      </p:sp>
      <p:sp>
        <p:nvSpPr>
          <p:cNvPr id="228" name="Google Shape;228;p13:notes"/>
          <p:cNvSpPr txBox="1"/>
          <p:nvPr>
            <p:ph idx="12" type="sldNum"/>
          </p:nvPr>
        </p:nvSpPr>
        <p:spPr>
          <a:xfrm>
            <a:off x="3884613" y="8659813"/>
            <a:ext cx="2971800" cy="4556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p14:notes"/>
          <p:cNvSpPr txBox="1"/>
          <p:nvPr>
            <p:ph idx="1" type="body"/>
          </p:nvPr>
        </p:nvSpPr>
        <p:spPr>
          <a:xfrm>
            <a:off x="685800" y="4330700"/>
            <a:ext cx="5486400" cy="41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This is a </a:t>
            </a:r>
            <a:r>
              <a:rPr b="1" lang="en-US"/>
              <a:t>recursive function</a:t>
            </a:r>
            <a:r>
              <a:rPr lang="en-US"/>
              <a:t> that prints the tree in a structured format.</a:t>
            </a:r>
            <a:endParaRPr/>
          </a:p>
          <a:p>
            <a:pPr indent="-95250" lvl="0" marL="1714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  <a:p>
            <a:pPr indent="-171450" lvl="0" marL="1714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level controls indentation → deeper nodes are printed with more spaces.</a:t>
            </a:r>
            <a:endParaRPr/>
          </a:p>
          <a:p>
            <a:pPr indent="-95250" lvl="0" marL="1714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  <a:p>
            <a:pPr indent="-171450" lvl="0" marL="1714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prefix labels whether the node is Root, L--- (left), or R--- (right).</a:t>
            </a:r>
            <a:endParaRPr/>
          </a:p>
          <a:p>
            <a:pPr indent="-95250" lvl="0" marL="1714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  <a:p>
            <a:pPr indent="-171450" lvl="0" marL="1714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If a node has children, we recursively print them.</a:t>
            </a:r>
            <a:endParaRPr/>
          </a:p>
        </p:txBody>
      </p:sp>
      <p:sp>
        <p:nvSpPr>
          <p:cNvPr id="240" name="Google Shape;240;p14:notes"/>
          <p:cNvSpPr txBox="1"/>
          <p:nvPr>
            <p:ph idx="12" type="sldNum"/>
          </p:nvPr>
        </p:nvSpPr>
        <p:spPr>
          <a:xfrm>
            <a:off x="3884613" y="8659813"/>
            <a:ext cx="2971800" cy="4556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p15:notes"/>
          <p:cNvSpPr txBox="1"/>
          <p:nvPr>
            <p:ph idx="1" type="body"/>
          </p:nvPr>
        </p:nvSpPr>
        <p:spPr>
          <a:xfrm>
            <a:off x="685800" y="4330700"/>
            <a:ext cx="5486400" cy="41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This is a </a:t>
            </a:r>
            <a:r>
              <a:rPr b="1" lang="en-US"/>
              <a:t>recursive function</a:t>
            </a:r>
            <a:r>
              <a:rPr lang="en-US"/>
              <a:t> that prints the tree in a structured format.</a:t>
            </a:r>
            <a:endParaRPr/>
          </a:p>
          <a:p>
            <a:pPr indent="-95250" lvl="0" marL="1714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  <a:p>
            <a:pPr indent="-171450" lvl="0" marL="1714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level controls indentation → deeper nodes are printed with more spaces.</a:t>
            </a:r>
            <a:endParaRPr/>
          </a:p>
          <a:p>
            <a:pPr indent="-95250" lvl="0" marL="1714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  <a:p>
            <a:pPr indent="-171450" lvl="0" marL="1714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prefix labels whether the node is Root, L--- (left), or R--- (right).</a:t>
            </a:r>
            <a:endParaRPr/>
          </a:p>
          <a:p>
            <a:pPr indent="-95250" lvl="0" marL="1714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  <a:p>
            <a:pPr indent="-171450" lvl="0" marL="1714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If a node has children, we recursively print them.</a:t>
            </a:r>
            <a:endParaRPr/>
          </a:p>
        </p:txBody>
      </p:sp>
      <p:sp>
        <p:nvSpPr>
          <p:cNvPr id="252" name="Google Shape;252;p15:notes"/>
          <p:cNvSpPr txBox="1"/>
          <p:nvPr>
            <p:ph idx="12" type="sldNum"/>
          </p:nvPr>
        </p:nvSpPr>
        <p:spPr>
          <a:xfrm>
            <a:off x="3884613" y="8659813"/>
            <a:ext cx="2971800" cy="4556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16:notes"/>
          <p:cNvSpPr txBox="1"/>
          <p:nvPr>
            <p:ph idx="1" type="body"/>
          </p:nvPr>
        </p:nvSpPr>
        <p:spPr>
          <a:xfrm>
            <a:off x="685800" y="4330700"/>
            <a:ext cx="5486400" cy="41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This is a </a:t>
            </a:r>
            <a:r>
              <a:rPr b="1" lang="en-US"/>
              <a:t>recursive function</a:t>
            </a:r>
            <a:r>
              <a:rPr lang="en-US"/>
              <a:t> that prints the tree in a structured format.</a:t>
            </a:r>
            <a:endParaRPr/>
          </a:p>
          <a:p>
            <a:pPr indent="-95250" lvl="0" marL="1714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  <a:p>
            <a:pPr indent="-171450" lvl="0" marL="1714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level controls indentation → deeper nodes are printed with more spaces.</a:t>
            </a:r>
            <a:endParaRPr/>
          </a:p>
          <a:p>
            <a:pPr indent="-95250" lvl="0" marL="1714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  <a:p>
            <a:pPr indent="-171450" lvl="0" marL="1714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prefix labels whether the node is Root, L--- (left), or R--- (right).</a:t>
            </a:r>
            <a:endParaRPr/>
          </a:p>
          <a:p>
            <a:pPr indent="-95250" lvl="0" marL="1714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  <a:p>
            <a:pPr indent="-171450" lvl="0" marL="1714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If a node has children, we recursively print them.</a:t>
            </a:r>
            <a:endParaRPr/>
          </a:p>
        </p:txBody>
      </p:sp>
      <p:sp>
        <p:nvSpPr>
          <p:cNvPr id="264" name="Google Shape;264;p16:notes"/>
          <p:cNvSpPr txBox="1"/>
          <p:nvPr>
            <p:ph idx="12" type="sldNum"/>
          </p:nvPr>
        </p:nvSpPr>
        <p:spPr>
          <a:xfrm>
            <a:off x="3884613" y="8659813"/>
            <a:ext cx="2971800" cy="4556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p17:notes"/>
          <p:cNvSpPr txBox="1"/>
          <p:nvPr>
            <p:ph idx="1" type="body"/>
          </p:nvPr>
        </p:nvSpPr>
        <p:spPr>
          <a:xfrm>
            <a:off x="685800" y="4330700"/>
            <a:ext cx="5486400" cy="41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This is a </a:t>
            </a:r>
            <a:r>
              <a:rPr b="1" lang="en-US"/>
              <a:t>recursive function</a:t>
            </a:r>
            <a:r>
              <a:rPr lang="en-US"/>
              <a:t> that prints the tree in a structured format.</a:t>
            </a:r>
            <a:endParaRPr/>
          </a:p>
          <a:p>
            <a:pPr indent="-95250" lvl="0" marL="1714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  <a:p>
            <a:pPr indent="-171450" lvl="0" marL="1714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level controls indentation → deeper nodes are printed with more spaces.</a:t>
            </a:r>
            <a:endParaRPr/>
          </a:p>
          <a:p>
            <a:pPr indent="-95250" lvl="0" marL="1714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  <a:p>
            <a:pPr indent="-171450" lvl="0" marL="1714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prefix labels whether the node is Root, L--- (left), or R--- (right).</a:t>
            </a:r>
            <a:endParaRPr/>
          </a:p>
          <a:p>
            <a:pPr indent="-95250" lvl="0" marL="1714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  <a:p>
            <a:pPr indent="-171450" lvl="0" marL="1714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If a node has children, we recursively print them.</a:t>
            </a:r>
            <a:endParaRPr/>
          </a:p>
        </p:txBody>
      </p:sp>
      <p:sp>
        <p:nvSpPr>
          <p:cNvPr id="276" name="Google Shape;276;p17:notes"/>
          <p:cNvSpPr txBox="1"/>
          <p:nvPr>
            <p:ph idx="12" type="sldNum"/>
          </p:nvPr>
        </p:nvSpPr>
        <p:spPr>
          <a:xfrm>
            <a:off x="3884613" y="8659813"/>
            <a:ext cx="2971800" cy="4556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p18:notes"/>
          <p:cNvSpPr txBox="1"/>
          <p:nvPr>
            <p:ph idx="1" type="body"/>
          </p:nvPr>
        </p:nvSpPr>
        <p:spPr>
          <a:xfrm>
            <a:off x="685800" y="4330700"/>
            <a:ext cx="5486400" cy="41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This is a </a:t>
            </a:r>
            <a:r>
              <a:rPr b="1" lang="en-US"/>
              <a:t>recursive function</a:t>
            </a:r>
            <a:r>
              <a:rPr lang="en-US"/>
              <a:t> that prints the tree in a structured format.</a:t>
            </a:r>
            <a:endParaRPr/>
          </a:p>
          <a:p>
            <a:pPr indent="-95250" lvl="0" marL="1714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  <a:p>
            <a:pPr indent="-171450" lvl="0" marL="1714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level controls indentation → deeper nodes are printed with more spaces.</a:t>
            </a:r>
            <a:endParaRPr/>
          </a:p>
          <a:p>
            <a:pPr indent="-95250" lvl="0" marL="1714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  <a:p>
            <a:pPr indent="-171450" lvl="0" marL="1714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prefix labels whether the node is Root, L--- (left), or R--- (right).</a:t>
            </a:r>
            <a:endParaRPr/>
          </a:p>
          <a:p>
            <a:pPr indent="-95250" lvl="0" marL="1714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  <a:p>
            <a:pPr indent="-171450" lvl="0" marL="1714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If a node has children, we recursively print them.</a:t>
            </a:r>
            <a:endParaRPr/>
          </a:p>
        </p:txBody>
      </p:sp>
      <p:sp>
        <p:nvSpPr>
          <p:cNvPr id="288" name="Google Shape;288;p18:notes"/>
          <p:cNvSpPr txBox="1"/>
          <p:nvPr>
            <p:ph idx="12" type="sldNum"/>
          </p:nvPr>
        </p:nvSpPr>
        <p:spPr>
          <a:xfrm>
            <a:off x="3884613" y="8659813"/>
            <a:ext cx="2971800" cy="4556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p19:notes"/>
          <p:cNvSpPr txBox="1"/>
          <p:nvPr>
            <p:ph idx="1" type="body"/>
          </p:nvPr>
        </p:nvSpPr>
        <p:spPr>
          <a:xfrm>
            <a:off x="685800" y="4330700"/>
            <a:ext cx="5486400" cy="41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This is a </a:t>
            </a:r>
            <a:r>
              <a:rPr b="1" lang="en-US"/>
              <a:t>recursive function</a:t>
            </a:r>
            <a:r>
              <a:rPr lang="en-US"/>
              <a:t> that prints the tree in a structured format.</a:t>
            </a:r>
            <a:endParaRPr/>
          </a:p>
          <a:p>
            <a:pPr indent="-95250" lvl="0" marL="1714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  <a:p>
            <a:pPr indent="-171450" lvl="0" marL="1714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level controls indentation → deeper nodes are printed with more spaces.</a:t>
            </a:r>
            <a:endParaRPr/>
          </a:p>
          <a:p>
            <a:pPr indent="-95250" lvl="0" marL="1714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  <a:p>
            <a:pPr indent="-171450" lvl="0" marL="1714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prefix labels whether the node is Root, L--- (left), or R--- (right).</a:t>
            </a:r>
            <a:endParaRPr/>
          </a:p>
          <a:p>
            <a:pPr indent="-95250" lvl="0" marL="1714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  <a:p>
            <a:pPr indent="-171450" lvl="0" marL="1714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If a node has children, we recursively print them.</a:t>
            </a:r>
            <a:endParaRPr/>
          </a:p>
        </p:txBody>
      </p:sp>
      <p:sp>
        <p:nvSpPr>
          <p:cNvPr id="300" name="Google Shape;300;p19:notes"/>
          <p:cNvSpPr txBox="1"/>
          <p:nvPr>
            <p:ph idx="12" type="sldNum"/>
          </p:nvPr>
        </p:nvSpPr>
        <p:spPr>
          <a:xfrm>
            <a:off x="3884613" y="8659813"/>
            <a:ext cx="2971800" cy="4556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" name="Google Shape;312;p20:notes"/>
          <p:cNvSpPr txBox="1"/>
          <p:nvPr>
            <p:ph idx="1" type="body"/>
          </p:nvPr>
        </p:nvSpPr>
        <p:spPr>
          <a:xfrm>
            <a:off x="685800" y="4330700"/>
            <a:ext cx="5486400" cy="41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 invoke our custom function in the main in order to test it.</a:t>
            </a:r>
            <a:endParaRPr/>
          </a:p>
        </p:txBody>
      </p:sp>
      <p:sp>
        <p:nvSpPr>
          <p:cNvPr id="313" name="Google Shape;313;p20:notes"/>
          <p:cNvSpPr txBox="1"/>
          <p:nvPr>
            <p:ph idx="12" type="sldNum"/>
          </p:nvPr>
        </p:nvSpPr>
        <p:spPr>
          <a:xfrm>
            <a:off x="3884613" y="8659813"/>
            <a:ext cx="2971800" cy="4556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" name="Google Shape;323;p21:notes"/>
          <p:cNvSpPr txBox="1"/>
          <p:nvPr>
            <p:ph idx="1" type="body"/>
          </p:nvPr>
        </p:nvSpPr>
        <p:spPr>
          <a:xfrm>
            <a:off x="685800" y="4330700"/>
            <a:ext cx="5486400" cy="41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 invoke our custom function in the main in order to test it.</a:t>
            </a:r>
            <a:endParaRPr/>
          </a:p>
        </p:txBody>
      </p:sp>
      <p:sp>
        <p:nvSpPr>
          <p:cNvPr id="324" name="Google Shape;324;p21:notes"/>
          <p:cNvSpPr txBox="1"/>
          <p:nvPr>
            <p:ph idx="12" type="sldNum"/>
          </p:nvPr>
        </p:nvSpPr>
        <p:spPr>
          <a:xfrm>
            <a:off x="3884613" y="8659813"/>
            <a:ext cx="2971800" cy="4556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p22:notes"/>
          <p:cNvSpPr txBox="1"/>
          <p:nvPr>
            <p:ph idx="1" type="body"/>
          </p:nvPr>
        </p:nvSpPr>
        <p:spPr>
          <a:xfrm>
            <a:off x="685800" y="4330700"/>
            <a:ext cx="5486400" cy="41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 invoke our custom function in the main in order to test it.</a:t>
            </a:r>
            <a:endParaRPr/>
          </a:p>
        </p:txBody>
      </p:sp>
      <p:sp>
        <p:nvSpPr>
          <p:cNvPr id="335" name="Google Shape;335;p22:notes"/>
          <p:cNvSpPr txBox="1"/>
          <p:nvPr>
            <p:ph idx="12" type="sldNum"/>
          </p:nvPr>
        </p:nvSpPr>
        <p:spPr>
          <a:xfrm>
            <a:off x="3884613" y="8659813"/>
            <a:ext cx="2971800" cy="4556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" name="Google Shape;345;p23:notes"/>
          <p:cNvSpPr txBox="1"/>
          <p:nvPr>
            <p:ph idx="1" type="body"/>
          </p:nvPr>
        </p:nvSpPr>
        <p:spPr>
          <a:xfrm>
            <a:off x="685800" y="4330700"/>
            <a:ext cx="5486400" cy="41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 invoke our custom function in the main in order to test it.</a:t>
            </a:r>
            <a:endParaRPr/>
          </a:p>
        </p:txBody>
      </p:sp>
      <p:sp>
        <p:nvSpPr>
          <p:cNvPr id="346" name="Google Shape;346;p23:notes"/>
          <p:cNvSpPr txBox="1"/>
          <p:nvPr>
            <p:ph idx="12" type="sldNum"/>
          </p:nvPr>
        </p:nvSpPr>
        <p:spPr>
          <a:xfrm>
            <a:off x="3884613" y="8659813"/>
            <a:ext cx="2971800" cy="4556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6" name="Google Shape;356;p24:notes"/>
          <p:cNvSpPr txBox="1"/>
          <p:nvPr>
            <p:ph idx="1" type="body"/>
          </p:nvPr>
        </p:nvSpPr>
        <p:spPr>
          <a:xfrm>
            <a:off x="685800" y="4330700"/>
            <a:ext cx="5486400" cy="41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 invoke our custom function in the main in order to test it.</a:t>
            </a:r>
            <a:endParaRPr/>
          </a:p>
        </p:txBody>
      </p:sp>
      <p:sp>
        <p:nvSpPr>
          <p:cNvPr id="357" name="Google Shape;357;p24:notes"/>
          <p:cNvSpPr txBox="1"/>
          <p:nvPr>
            <p:ph idx="12" type="sldNum"/>
          </p:nvPr>
        </p:nvSpPr>
        <p:spPr>
          <a:xfrm>
            <a:off x="3884613" y="8659813"/>
            <a:ext cx="2971800" cy="4556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7" name="Google Shape;367;p25:notes"/>
          <p:cNvSpPr txBox="1"/>
          <p:nvPr>
            <p:ph idx="1" type="body"/>
          </p:nvPr>
        </p:nvSpPr>
        <p:spPr>
          <a:xfrm>
            <a:off x="685800" y="4330700"/>
            <a:ext cx="5486400" cy="41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u="sng"/>
              <a:t>Refer to insertBSTNod (Iterative).py</a:t>
            </a:r>
            <a:endParaRPr b="1" u="sng"/>
          </a:p>
        </p:txBody>
      </p:sp>
      <p:sp>
        <p:nvSpPr>
          <p:cNvPr id="368" name="Google Shape;368;p25:notes"/>
          <p:cNvSpPr txBox="1"/>
          <p:nvPr>
            <p:ph idx="12" type="sldNum"/>
          </p:nvPr>
        </p:nvSpPr>
        <p:spPr>
          <a:xfrm>
            <a:off x="3884613" y="8659813"/>
            <a:ext cx="2971800" cy="4556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5" name="Google Shape;375;p26:notes"/>
          <p:cNvSpPr txBox="1"/>
          <p:nvPr>
            <p:ph idx="1" type="body"/>
          </p:nvPr>
        </p:nvSpPr>
        <p:spPr>
          <a:xfrm>
            <a:off x="685800" y="4330700"/>
            <a:ext cx="5486400" cy="41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1" lang="en-US" u="sng"/>
              <a:t>Refer to insertBSTNode (Recursion).py</a:t>
            </a:r>
            <a:endParaRPr/>
          </a:p>
        </p:txBody>
      </p:sp>
      <p:sp>
        <p:nvSpPr>
          <p:cNvPr id="376" name="Google Shape;376;p26:notes"/>
          <p:cNvSpPr txBox="1"/>
          <p:nvPr>
            <p:ph idx="12" type="sldNum"/>
          </p:nvPr>
        </p:nvSpPr>
        <p:spPr>
          <a:xfrm>
            <a:off x="3884613" y="8659813"/>
            <a:ext cx="2971800" cy="4556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3" name="Google Shape;383;p27:notes"/>
          <p:cNvSpPr txBox="1"/>
          <p:nvPr>
            <p:ph idx="1" type="body"/>
          </p:nvPr>
        </p:nvSpPr>
        <p:spPr>
          <a:xfrm>
            <a:off x="685800" y="4330700"/>
            <a:ext cx="5486400" cy="41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27:notes"/>
          <p:cNvSpPr txBox="1"/>
          <p:nvPr>
            <p:ph idx="12" type="sldNum"/>
          </p:nvPr>
        </p:nvSpPr>
        <p:spPr>
          <a:xfrm>
            <a:off x="3884613" y="8659813"/>
            <a:ext cx="2971800" cy="4556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0" name="Google Shape;390;p28:notes"/>
          <p:cNvSpPr txBox="1"/>
          <p:nvPr>
            <p:ph idx="1" type="body"/>
          </p:nvPr>
        </p:nvSpPr>
        <p:spPr>
          <a:xfrm>
            <a:off x="685800" y="4330700"/>
            <a:ext cx="5486400" cy="41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6092"/>
              </a:buClr>
              <a:buSzPts val="1200"/>
              <a:buFont typeface="Times New Roman"/>
              <a:buNone/>
            </a:pPr>
            <a:r>
              <a:rPr b="1" lang="en-US" sz="1200" u="sng">
                <a:solidFill>
                  <a:srgbClr val="36609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Now we will go through the printBSTInOrder(node) function. Other functions remain as previous.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28:notes"/>
          <p:cNvSpPr txBox="1"/>
          <p:nvPr>
            <p:ph idx="12" type="sldNum"/>
          </p:nvPr>
        </p:nvSpPr>
        <p:spPr>
          <a:xfrm>
            <a:off x="3884613" y="8659813"/>
            <a:ext cx="2971800" cy="4556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1" name="Google Shape;401;p29:notes"/>
          <p:cNvSpPr txBox="1"/>
          <p:nvPr>
            <p:ph idx="1" type="body"/>
          </p:nvPr>
        </p:nvSpPr>
        <p:spPr>
          <a:xfrm>
            <a:off x="685800" y="4330700"/>
            <a:ext cx="5486400" cy="41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29:notes"/>
          <p:cNvSpPr txBox="1"/>
          <p:nvPr>
            <p:ph idx="12" type="sldNum"/>
          </p:nvPr>
        </p:nvSpPr>
        <p:spPr>
          <a:xfrm>
            <a:off x="3884613" y="8659813"/>
            <a:ext cx="2971800" cy="4556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2" name="Google Shape;412;p30:notes"/>
          <p:cNvSpPr txBox="1"/>
          <p:nvPr>
            <p:ph idx="1" type="body"/>
          </p:nvPr>
        </p:nvSpPr>
        <p:spPr>
          <a:xfrm>
            <a:off x="685800" y="4330700"/>
            <a:ext cx="5486400" cy="41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30:notes"/>
          <p:cNvSpPr txBox="1"/>
          <p:nvPr>
            <p:ph idx="12" type="sldNum"/>
          </p:nvPr>
        </p:nvSpPr>
        <p:spPr>
          <a:xfrm>
            <a:off x="3884613" y="8659813"/>
            <a:ext cx="2971800" cy="4556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3" name="Google Shape;423;p31:notes"/>
          <p:cNvSpPr txBox="1"/>
          <p:nvPr>
            <p:ph idx="1" type="body"/>
          </p:nvPr>
        </p:nvSpPr>
        <p:spPr>
          <a:xfrm>
            <a:off x="685800" y="4330700"/>
            <a:ext cx="5486400" cy="41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31:notes"/>
          <p:cNvSpPr txBox="1"/>
          <p:nvPr>
            <p:ph idx="12" type="sldNum"/>
          </p:nvPr>
        </p:nvSpPr>
        <p:spPr>
          <a:xfrm>
            <a:off x="3884613" y="8659813"/>
            <a:ext cx="2971800" cy="4556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4" name="Google Shape;434;p32:notes"/>
          <p:cNvSpPr txBox="1"/>
          <p:nvPr>
            <p:ph idx="1" type="body"/>
          </p:nvPr>
        </p:nvSpPr>
        <p:spPr>
          <a:xfrm>
            <a:off x="685800" y="4330700"/>
            <a:ext cx="5486400" cy="41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1" lang="en-US" u="sng"/>
              <a:t>Refer to printBSTInOrder.py</a:t>
            </a:r>
            <a:endParaRPr/>
          </a:p>
        </p:txBody>
      </p:sp>
      <p:sp>
        <p:nvSpPr>
          <p:cNvPr id="435" name="Google Shape;435;p32:notes"/>
          <p:cNvSpPr txBox="1"/>
          <p:nvPr>
            <p:ph idx="12" type="sldNum"/>
          </p:nvPr>
        </p:nvSpPr>
        <p:spPr>
          <a:xfrm>
            <a:off x="3884613" y="8659813"/>
            <a:ext cx="2971800" cy="4556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3" name="Google Shape;443;p33:notes"/>
          <p:cNvSpPr txBox="1"/>
          <p:nvPr>
            <p:ph idx="1" type="body"/>
          </p:nvPr>
        </p:nvSpPr>
        <p:spPr>
          <a:xfrm>
            <a:off x="685800" y="4330700"/>
            <a:ext cx="5486400" cy="41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33:notes"/>
          <p:cNvSpPr txBox="1"/>
          <p:nvPr>
            <p:ph idx="12" type="sldNum"/>
          </p:nvPr>
        </p:nvSpPr>
        <p:spPr>
          <a:xfrm>
            <a:off x="3884613" y="8659813"/>
            <a:ext cx="2971800" cy="4556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0" name="Google Shape;450;p34:notes"/>
          <p:cNvSpPr txBox="1"/>
          <p:nvPr>
            <p:ph idx="1" type="body"/>
          </p:nvPr>
        </p:nvSpPr>
        <p:spPr>
          <a:xfrm>
            <a:off x="685800" y="4330700"/>
            <a:ext cx="5486400" cy="41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6092"/>
              </a:buClr>
              <a:buSzPts val="1200"/>
              <a:buFont typeface="Times New Roman"/>
              <a:buNone/>
            </a:pPr>
            <a:r>
              <a:rPr b="1" lang="en-US" sz="1200" u="sng">
                <a:solidFill>
                  <a:srgbClr val="36609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Now we will go through the isBST(node) function. 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34:notes"/>
          <p:cNvSpPr txBox="1"/>
          <p:nvPr>
            <p:ph idx="12" type="sldNum"/>
          </p:nvPr>
        </p:nvSpPr>
        <p:spPr>
          <a:xfrm>
            <a:off x="3884613" y="8659813"/>
            <a:ext cx="2971800" cy="4556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1" name="Google Shape;461;p35:notes"/>
          <p:cNvSpPr txBox="1"/>
          <p:nvPr>
            <p:ph idx="1" type="body"/>
          </p:nvPr>
        </p:nvSpPr>
        <p:spPr>
          <a:xfrm>
            <a:off x="685800" y="4330700"/>
            <a:ext cx="5486400" cy="41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6092"/>
              </a:buClr>
              <a:buSzPts val="1200"/>
              <a:buFont typeface="Times New Roman"/>
              <a:buNone/>
            </a:pPr>
            <a:r>
              <a:rPr b="1" lang="en-US" sz="1200" u="sng">
                <a:solidFill>
                  <a:srgbClr val="36609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Now we will go through the isBST(node) function. 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35:notes"/>
          <p:cNvSpPr txBox="1"/>
          <p:nvPr>
            <p:ph idx="12" type="sldNum"/>
          </p:nvPr>
        </p:nvSpPr>
        <p:spPr>
          <a:xfrm>
            <a:off x="3884613" y="8659813"/>
            <a:ext cx="2971800" cy="4556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2" name="Google Shape;472;p36:notes"/>
          <p:cNvSpPr txBox="1"/>
          <p:nvPr>
            <p:ph idx="1" type="body"/>
          </p:nvPr>
        </p:nvSpPr>
        <p:spPr>
          <a:xfrm>
            <a:off x="685800" y="4330700"/>
            <a:ext cx="5486400" cy="41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6092"/>
              </a:buClr>
              <a:buSzPts val="1200"/>
              <a:buFont typeface="Times New Roman"/>
              <a:buNone/>
            </a:pPr>
            <a:r>
              <a:rPr b="1" lang="en-US" sz="1200" u="sng">
                <a:solidFill>
                  <a:srgbClr val="36609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Now we will go through the isBST(node) function. 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36:notes"/>
          <p:cNvSpPr txBox="1"/>
          <p:nvPr>
            <p:ph idx="12" type="sldNum"/>
          </p:nvPr>
        </p:nvSpPr>
        <p:spPr>
          <a:xfrm>
            <a:off x="3884613" y="8659813"/>
            <a:ext cx="2971800" cy="4556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3" name="Google Shape;483;p37:notes"/>
          <p:cNvSpPr txBox="1"/>
          <p:nvPr>
            <p:ph idx="1" type="body"/>
          </p:nvPr>
        </p:nvSpPr>
        <p:spPr>
          <a:xfrm>
            <a:off x="685800" y="4330700"/>
            <a:ext cx="5486400" cy="41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6092"/>
              </a:buClr>
              <a:buSzPts val="1200"/>
              <a:buFont typeface="Times New Roman"/>
              <a:buNone/>
            </a:pPr>
            <a:r>
              <a:rPr b="1" lang="en-US" sz="1200" u="sng">
                <a:solidFill>
                  <a:srgbClr val="36609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Now we will go through the isBST(node) function. 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37:notes"/>
          <p:cNvSpPr txBox="1"/>
          <p:nvPr>
            <p:ph idx="12" type="sldNum"/>
          </p:nvPr>
        </p:nvSpPr>
        <p:spPr>
          <a:xfrm>
            <a:off x="3884613" y="8659813"/>
            <a:ext cx="2971800" cy="4556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4" name="Google Shape;494;p38:notes"/>
          <p:cNvSpPr txBox="1"/>
          <p:nvPr>
            <p:ph idx="1" type="body"/>
          </p:nvPr>
        </p:nvSpPr>
        <p:spPr>
          <a:xfrm>
            <a:off x="685800" y="4330700"/>
            <a:ext cx="5486400" cy="41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6092"/>
              </a:buClr>
              <a:buSzPts val="1200"/>
              <a:buFont typeface="Times New Roman"/>
              <a:buNone/>
            </a:pPr>
            <a:r>
              <a:rPr b="1" lang="en-US" sz="1200" u="sng">
                <a:solidFill>
                  <a:srgbClr val="36609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Now we will go through the isBST(node) function. 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38:notes"/>
          <p:cNvSpPr txBox="1"/>
          <p:nvPr>
            <p:ph idx="12" type="sldNum"/>
          </p:nvPr>
        </p:nvSpPr>
        <p:spPr>
          <a:xfrm>
            <a:off x="3884613" y="8659813"/>
            <a:ext cx="2971800" cy="4556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4" name="Google Shape;504;p39:notes"/>
          <p:cNvSpPr txBox="1"/>
          <p:nvPr>
            <p:ph idx="1" type="body"/>
          </p:nvPr>
        </p:nvSpPr>
        <p:spPr>
          <a:xfrm>
            <a:off x="685800" y="4330700"/>
            <a:ext cx="5486400" cy="41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6092"/>
              </a:buClr>
              <a:buSzPts val="1200"/>
              <a:buFont typeface="Times New Roman"/>
              <a:buNone/>
            </a:pPr>
            <a:r>
              <a:rPr b="1" lang="en-US" sz="1200" u="sng">
                <a:solidFill>
                  <a:srgbClr val="36609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Now we will go through the isBST(node) function. 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39:notes"/>
          <p:cNvSpPr txBox="1"/>
          <p:nvPr>
            <p:ph idx="12" type="sldNum"/>
          </p:nvPr>
        </p:nvSpPr>
        <p:spPr>
          <a:xfrm>
            <a:off x="3884613" y="8659813"/>
            <a:ext cx="2971800" cy="4556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4" name="Google Shape;514;p40:notes"/>
          <p:cNvSpPr txBox="1"/>
          <p:nvPr>
            <p:ph idx="1" type="body"/>
          </p:nvPr>
        </p:nvSpPr>
        <p:spPr>
          <a:xfrm>
            <a:off x="685800" y="4330700"/>
            <a:ext cx="5486400" cy="41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6092"/>
              </a:buClr>
              <a:buSzPts val="1200"/>
              <a:buFont typeface="Times New Roman"/>
              <a:buNone/>
            </a:pPr>
            <a:r>
              <a:rPr b="1" lang="en-US" sz="1200" u="sng">
                <a:solidFill>
                  <a:srgbClr val="36609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Creates a binary tree that is NOT a valid BST for testing.</a:t>
            </a:r>
            <a:br>
              <a:rPr b="1" lang="en-US" sz="1200" u="sng">
                <a:solidFill>
                  <a:srgbClr val="36609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lang="en-US" sz="1200" u="sng">
                <a:solidFill>
                  <a:srgbClr val="36609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/>
              <a:t>this tree </a:t>
            </a:r>
            <a:r>
              <a:rPr b="1" lang="en-US"/>
              <a:t>breaks BST rules on purpose</a:t>
            </a:r>
            <a:r>
              <a:rPr lang="en-US"/>
              <a:t>.</a:t>
            </a:r>
            <a:endParaRPr/>
          </a:p>
        </p:txBody>
      </p:sp>
      <p:sp>
        <p:nvSpPr>
          <p:cNvPr id="515" name="Google Shape;515;p40:notes"/>
          <p:cNvSpPr txBox="1"/>
          <p:nvPr>
            <p:ph idx="12" type="sldNum"/>
          </p:nvPr>
        </p:nvSpPr>
        <p:spPr>
          <a:xfrm>
            <a:off x="3884613" y="8659813"/>
            <a:ext cx="2971800" cy="4556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6" name="Google Shape;526;p41:notes"/>
          <p:cNvSpPr txBox="1"/>
          <p:nvPr>
            <p:ph idx="1" type="body"/>
          </p:nvPr>
        </p:nvSpPr>
        <p:spPr>
          <a:xfrm>
            <a:off x="685800" y="4330700"/>
            <a:ext cx="5486400" cy="41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1" lang="en-US" u="sng"/>
              <a:t>Refer to isBST.py</a:t>
            </a:r>
            <a:endParaRPr/>
          </a:p>
        </p:txBody>
      </p:sp>
      <p:sp>
        <p:nvSpPr>
          <p:cNvPr id="527" name="Google Shape;527;p41:notes"/>
          <p:cNvSpPr txBox="1"/>
          <p:nvPr>
            <p:ph idx="12" type="sldNum"/>
          </p:nvPr>
        </p:nvSpPr>
        <p:spPr>
          <a:xfrm>
            <a:off x="3884613" y="8659813"/>
            <a:ext cx="2971800" cy="4556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6" name="Google Shape;536;p42:notes"/>
          <p:cNvSpPr txBox="1"/>
          <p:nvPr>
            <p:ph idx="1" type="body"/>
          </p:nvPr>
        </p:nvSpPr>
        <p:spPr>
          <a:xfrm>
            <a:off x="685800" y="4330700"/>
            <a:ext cx="5486400" cy="41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42:notes"/>
          <p:cNvSpPr txBox="1"/>
          <p:nvPr>
            <p:ph idx="12" type="sldNum"/>
          </p:nvPr>
        </p:nvSpPr>
        <p:spPr>
          <a:xfrm>
            <a:off x="3884613" y="8659813"/>
            <a:ext cx="2971800" cy="4556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3" name="Google Shape;543;p43:notes"/>
          <p:cNvSpPr txBox="1"/>
          <p:nvPr>
            <p:ph idx="1" type="body"/>
          </p:nvPr>
        </p:nvSpPr>
        <p:spPr>
          <a:xfrm>
            <a:off x="685800" y="4330700"/>
            <a:ext cx="5486400" cy="41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6092"/>
              </a:buClr>
              <a:buSzPts val="1200"/>
              <a:buFont typeface="Times New Roman"/>
              <a:buNone/>
            </a:pPr>
            <a:r>
              <a:rPr b="1" lang="en-US" sz="1200" u="sng">
                <a:solidFill>
                  <a:srgbClr val="36609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Now we will go through the removeBSTNode(root, value) function. 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43:notes"/>
          <p:cNvSpPr txBox="1"/>
          <p:nvPr>
            <p:ph idx="12" type="sldNum"/>
          </p:nvPr>
        </p:nvSpPr>
        <p:spPr>
          <a:xfrm>
            <a:off x="3884613" y="8659813"/>
            <a:ext cx="2971800" cy="4556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5" name="Google Shape;555;p44:notes"/>
          <p:cNvSpPr txBox="1"/>
          <p:nvPr>
            <p:ph idx="1" type="body"/>
          </p:nvPr>
        </p:nvSpPr>
        <p:spPr>
          <a:xfrm>
            <a:off x="685800" y="4330700"/>
            <a:ext cx="5486400" cy="41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6092"/>
              </a:buClr>
              <a:buSzPts val="1200"/>
              <a:buFont typeface="Times New Roman"/>
              <a:buNone/>
            </a:pPr>
            <a:r>
              <a:rPr b="1" lang="en-US" sz="1200" u="sng">
                <a:solidFill>
                  <a:srgbClr val="36609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Now we will go through the removeBSTNode(root, value) function. 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44:notes"/>
          <p:cNvSpPr txBox="1"/>
          <p:nvPr>
            <p:ph idx="12" type="sldNum"/>
          </p:nvPr>
        </p:nvSpPr>
        <p:spPr>
          <a:xfrm>
            <a:off x="3884613" y="8659813"/>
            <a:ext cx="2971800" cy="4556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7" name="Google Shape;567;p45:notes"/>
          <p:cNvSpPr txBox="1"/>
          <p:nvPr>
            <p:ph idx="1" type="body"/>
          </p:nvPr>
        </p:nvSpPr>
        <p:spPr>
          <a:xfrm>
            <a:off x="685800" y="4330700"/>
            <a:ext cx="5486400" cy="41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6092"/>
              </a:buClr>
              <a:buSzPts val="1200"/>
              <a:buFont typeface="Times New Roman"/>
              <a:buNone/>
            </a:pPr>
            <a:r>
              <a:rPr b="1" lang="en-US" sz="1200" u="sng">
                <a:solidFill>
                  <a:srgbClr val="36609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Now we will go through the removeBSTNode(root, value) function. 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45:notes"/>
          <p:cNvSpPr txBox="1"/>
          <p:nvPr>
            <p:ph idx="12" type="sldNum"/>
          </p:nvPr>
        </p:nvSpPr>
        <p:spPr>
          <a:xfrm>
            <a:off x="3884613" y="8659813"/>
            <a:ext cx="2971800" cy="4556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8" name="Google Shape;578;p46:notes"/>
          <p:cNvSpPr txBox="1"/>
          <p:nvPr>
            <p:ph idx="1" type="body"/>
          </p:nvPr>
        </p:nvSpPr>
        <p:spPr>
          <a:xfrm>
            <a:off x="685800" y="4330700"/>
            <a:ext cx="5486400" cy="41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6092"/>
              </a:buClr>
              <a:buSzPts val="1200"/>
              <a:buFont typeface="Times New Roman"/>
              <a:buNone/>
            </a:pPr>
            <a:r>
              <a:rPr b="1" lang="en-US" sz="1200" u="sng">
                <a:solidFill>
                  <a:srgbClr val="36609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Now we will go through the removeBSTNode(root, value) function. 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46:notes"/>
          <p:cNvSpPr txBox="1"/>
          <p:nvPr>
            <p:ph idx="12" type="sldNum"/>
          </p:nvPr>
        </p:nvSpPr>
        <p:spPr>
          <a:xfrm>
            <a:off x="3884613" y="8659813"/>
            <a:ext cx="2971800" cy="4556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4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9" name="Google Shape;589;p47:notes"/>
          <p:cNvSpPr txBox="1"/>
          <p:nvPr>
            <p:ph idx="1" type="body"/>
          </p:nvPr>
        </p:nvSpPr>
        <p:spPr>
          <a:xfrm>
            <a:off x="685800" y="4330700"/>
            <a:ext cx="5486400" cy="41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6092"/>
              </a:buClr>
              <a:buSzPts val="1200"/>
              <a:buFont typeface="Times New Roman"/>
              <a:buNone/>
            </a:pPr>
            <a:r>
              <a:rPr b="1" lang="en-US" sz="1200" u="sng">
                <a:solidFill>
                  <a:srgbClr val="36609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Now we will go through the removeBSTNode(root, value) function. 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This function handles all </a:t>
            </a:r>
            <a:r>
              <a:rPr b="1" lang="en-US"/>
              <a:t>3 cases of deletion in BST</a:t>
            </a:r>
            <a:r>
              <a:rPr lang="en-US"/>
              <a:t>: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71450" lvl="0" marL="1714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en-US"/>
              <a:t>Leaf node</a:t>
            </a:r>
            <a:r>
              <a:rPr lang="en-US"/>
              <a:t> → just remove.</a:t>
            </a:r>
            <a:endParaRPr/>
          </a:p>
          <a:p>
            <a:pPr indent="-171450" lvl="0" marL="1714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en-US"/>
              <a:t>One child</a:t>
            </a:r>
            <a:r>
              <a:rPr lang="en-US"/>
              <a:t> → bypass the node.</a:t>
            </a:r>
            <a:endParaRPr/>
          </a:p>
          <a:p>
            <a:pPr indent="-171450" lvl="0" marL="1714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en-US"/>
              <a:t>Two children</a:t>
            </a:r>
            <a:r>
              <a:rPr lang="en-US"/>
              <a:t> → replace with inorder successor, then delete successor.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It also uses recursion to:</a:t>
            </a:r>
            <a:endParaRPr/>
          </a:p>
          <a:p>
            <a:pPr indent="-171450" lvl="0" marL="1714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Traverse the tree while searching.</a:t>
            </a:r>
            <a:endParaRPr/>
          </a:p>
          <a:p>
            <a:pPr indent="-171450" lvl="0" marL="1714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Update parent links correctly.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47:notes"/>
          <p:cNvSpPr txBox="1"/>
          <p:nvPr>
            <p:ph idx="12" type="sldNum"/>
          </p:nvPr>
        </p:nvSpPr>
        <p:spPr>
          <a:xfrm>
            <a:off x="3884613" y="8659813"/>
            <a:ext cx="2971800" cy="4556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4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0" name="Google Shape;600;p48:notes"/>
          <p:cNvSpPr txBox="1"/>
          <p:nvPr>
            <p:ph idx="1" type="body"/>
          </p:nvPr>
        </p:nvSpPr>
        <p:spPr>
          <a:xfrm>
            <a:off x="685800" y="4330700"/>
            <a:ext cx="5486400" cy="41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6092"/>
              </a:buClr>
              <a:buSzPts val="1200"/>
              <a:buFont typeface="Times New Roman"/>
              <a:buNone/>
            </a:pPr>
            <a:r>
              <a:rPr b="1" lang="en-US" sz="1200" u="sng">
                <a:solidFill>
                  <a:srgbClr val="36609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Now we will go through the removeBSTNode(root, value) function. 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This function handles all </a:t>
            </a:r>
            <a:r>
              <a:rPr b="1" lang="en-US"/>
              <a:t>3 cases of deletion in BST</a:t>
            </a:r>
            <a:r>
              <a:rPr lang="en-US"/>
              <a:t>: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71450" lvl="0" marL="1714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en-US"/>
              <a:t>Leaf node</a:t>
            </a:r>
            <a:r>
              <a:rPr lang="en-US"/>
              <a:t> → just remove.</a:t>
            </a:r>
            <a:endParaRPr/>
          </a:p>
          <a:p>
            <a:pPr indent="-171450" lvl="0" marL="1714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en-US"/>
              <a:t>One child</a:t>
            </a:r>
            <a:r>
              <a:rPr lang="en-US"/>
              <a:t> → bypass the node.</a:t>
            </a:r>
            <a:endParaRPr/>
          </a:p>
          <a:p>
            <a:pPr indent="-171450" lvl="0" marL="1714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en-US"/>
              <a:t>Two children</a:t>
            </a:r>
            <a:r>
              <a:rPr lang="en-US"/>
              <a:t> → replace with inorder successor, then delete successor.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It also uses recursion to:</a:t>
            </a:r>
            <a:endParaRPr/>
          </a:p>
          <a:p>
            <a:pPr indent="-171450" lvl="0" marL="1714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Traverse the tree while searching.</a:t>
            </a:r>
            <a:endParaRPr/>
          </a:p>
          <a:p>
            <a:pPr indent="-171450" lvl="0" marL="1714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Update parent links correctly.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48:notes"/>
          <p:cNvSpPr txBox="1"/>
          <p:nvPr>
            <p:ph idx="12" type="sldNum"/>
          </p:nvPr>
        </p:nvSpPr>
        <p:spPr>
          <a:xfrm>
            <a:off x="3884613" y="8659813"/>
            <a:ext cx="2971800" cy="4556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4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3" name="Google Shape;613;p49:notes"/>
          <p:cNvSpPr txBox="1"/>
          <p:nvPr>
            <p:ph idx="1" type="body"/>
          </p:nvPr>
        </p:nvSpPr>
        <p:spPr>
          <a:xfrm>
            <a:off x="685800" y="4330700"/>
            <a:ext cx="5486400" cy="41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6092"/>
              </a:buClr>
              <a:buSzPts val="1200"/>
              <a:buFont typeface="Times New Roman"/>
              <a:buNone/>
            </a:pPr>
            <a:r>
              <a:rPr b="1" lang="en-US" sz="1200" u="sng">
                <a:solidFill>
                  <a:srgbClr val="36609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Now we will go through the removeBSTNode(root, value) function. 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This function handles all </a:t>
            </a:r>
            <a:r>
              <a:rPr b="1" lang="en-US"/>
              <a:t>3 cases of deletion in BST</a:t>
            </a:r>
            <a:r>
              <a:rPr lang="en-US"/>
              <a:t>: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71450" lvl="0" marL="1714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en-US"/>
              <a:t>Leaf node</a:t>
            </a:r>
            <a:r>
              <a:rPr lang="en-US"/>
              <a:t> → just remove.</a:t>
            </a:r>
            <a:endParaRPr/>
          </a:p>
          <a:p>
            <a:pPr indent="-171450" lvl="0" marL="1714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en-US"/>
              <a:t>One child</a:t>
            </a:r>
            <a:r>
              <a:rPr lang="en-US"/>
              <a:t> → bypass the node.</a:t>
            </a:r>
            <a:endParaRPr/>
          </a:p>
          <a:p>
            <a:pPr indent="-171450" lvl="0" marL="1714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en-US"/>
              <a:t>Two children</a:t>
            </a:r>
            <a:r>
              <a:rPr lang="en-US"/>
              <a:t> → replace with inorder successor, then delete successor.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It also uses recursion to:</a:t>
            </a:r>
            <a:endParaRPr/>
          </a:p>
          <a:p>
            <a:pPr indent="-171450" lvl="0" marL="1714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Traverse the tree while searching.</a:t>
            </a:r>
            <a:endParaRPr/>
          </a:p>
          <a:p>
            <a:pPr indent="-171450" lvl="0" marL="1714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Update parent links correctly.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49:notes"/>
          <p:cNvSpPr txBox="1"/>
          <p:nvPr>
            <p:ph idx="12" type="sldNum"/>
          </p:nvPr>
        </p:nvSpPr>
        <p:spPr>
          <a:xfrm>
            <a:off x="3884613" y="8659813"/>
            <a:ext cx="2971800" cy="4556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6" name="Google Shape;626;p50:notes"/>
          <p:cNvSpPr txBox="1"/>
          <p:nvPr>
            <p:ph idx="1" type="body"/>
          </p:nvPr>
        </p:nvSpPr>
        <p:spPr>
          <a:xfrm>
            <a:off x="685800" y="4330700"/>
            <a:ext cx="5486400" cy="41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6092"/>
              </a:buClr>
              <a:buSzPts val="1200"/>
              <a:buFont typeface="Times New Roman"/>
              <a:buNone/>
            </a:pPr>
            <a:r>
              <a:rPr b="1" lang="en-US" sz="1200" u="sng">
                <a:solidFill>
                  <a:srgbClr val="36609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Now we will go through the removeBSTNode(root, value) function. 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This function handles all </a:t>
            </a:r>
            <a:r>
              <a:rPr b="1" lang="en-US"/>
              <a:t>3 cases of deletion in BST</a:t>
            </a:r>
            <a:r>
              <a:rPr lang="en-US"/>
              <a:t>: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71450" lvl="0" marL="1714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en-US"/>
              <a:t>Leaf node</a:t>
            </a:r>
            <a:r>
              <a:rPr lang="en-US"/>
              <a:t> → just remove.</a:t>
            </a:r>
            <a:endParaRPr/>
          </a:p>
          <a:p>
            <a:pPr indent="-171450" lvl="0" marL="1714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en-US"/>
              <a:t>One child</a:t>
            </a:r>
            <a:r>
              <a:rPr lang="en-US"/>
              <a:t> → bypass the node.</a:t>
            </a:r>
            <a:endParaRPr/>
          </a:p>
          <a:p>
            <a:pPr indent="-171450" lvl="0" marL="1714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en-US"/>
              <a:t>Two children</a:t>
            </a:r>
            <a:r>
              <a:rPr lang="en-US"/>
              <a:t> → replace with inorder successor, then delete successor.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It also uses recursion to:</a:t>
            </a:r>
            <a:endParaRPr/>
          </a:p>
          <a:p>
            <a:pPr indent="-171450" lvl="0" marL="1714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Traverse the tree while searching.</a:t>
            </a:r>
            <a:endParaRPr/>
          </a:p>
          <a:p>
            <a:pPr indent="-171450" lvl="0" marL="1714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Update parent links correctly.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50:notes"/>
          <p:cNvSpPr txBox="1"/>
          <p:nvPr>
            <p:ph idx="12" type="sldNum"/>
          </p:nvPr>
        </p:nvSpPr>
        <p:spPr>
          <a:xfrm>
            <a:off x="3884613" y="8659813"/>
            <a:ext cx="2971800" cy="4556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9" name="Google Shape;639;p51:notes"/>
          <p:cNvSpPr txBox="1"/>
          <p:nvPr>
            <p:ph idx="1" type="body"/>
          </p:nvPr>
        </p:nvSpPr>
        <p:spPr>
          <a:xfrm>
            <a:off x="685800" y="4330700"/>
            <a:ext cx="5486400" cy="41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sng">
                <a:solidFill>
                  <a:srgbClr val="36609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findMin(node)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In a </a:t>
            </a:r>
            <a:r>
              <a:rPr b="1" lang="en-US"/>
              <a:t>Binary Search Tree (BST)</a:t>
            </a:r>
            <a:r>
              <a:rPr lang="en-US"/>
              <a:t>: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1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/>
              <a:t>All smaller values</a:t>
            </a:r>
            <a:r>
              <a:rPr lang="en-US"/>
              <a:t> are stored in the </a:t>
            </a:r>
            <a:r>
              <a:rPr b="1" lang="en-US"/>
              <a:t>left subtree</a:t>
            </a:r>
            <a:r>
              <a:rPr lang="en-US"/>
              <a:t>.</a:t>
            </a:r>
            <a:endParaRPr/>
          </a:p>
          <a:p>
            <a:pPr indent="0" lvl="1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/>
              <a:t>All larger values</a:t>
            </a:r>
            <a:r>
              <a:rPr lang="en-US"/>
              <a:t> are stored in the </a:t>
            </a:r>
            <a:r>
              <a:rPr b="1" lang="en-US"/>
              <a:t>right subtree</a:t>
            </a:r>
            <a:r>
              <a:rPr lang="en-US"/>
              <a:t>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	So, the </a:t>
            </a:r>
            <a:r>
              <a:rPr b="1" lang="en-US"/>
              <a:t>minimum value</a:t>
            </a:r>
            <a:r>
              <a:rPr lang="en-US"/>
              <a:t> will always be at the </a:t>
            </a:r>
            <a:r>
              <a:rPr b="1" lang="en-US"/>
              <a:t>leftmost node</a:t>
            </a:r>
            <a:r>
              <a:rPr lang="en-US"/>
              <a:t> of the tree/subtree.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This function simply </a:t>
            </a:r>
            <a:r>
              <a:rPr b="1" lang="en-US"/>
              <a:t>walks left</a:t>
            </a:r>
            <a:r>
              <a:rPr lang="en-US"/>
              <a:t> until it cannot anymore.</a:t>
            </a:r>
            <a:endParaRPr/>
          </a:p>
        </p:txBody>
      </p:sp>
      <p:sp>
        <p:nvSpPr>
          <p:cNvPr id="640" name="Google Shape;640;p51:notes"/>
          <p:cNvSpPr txBox="1"/>
          <p:nvPr>
            <p:ph idx="12" type="sldNum"/>
          </p:nvPr>
        </p:nvSpPr>
        <p:spPr>
          <a:xfrm>
            <a:off x="3884613" y="8659813"/>
            <a:ext cx="2971800" cy="4556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0" name="Google Shape;650;p52:notes"/>
          <p:cNvSpPr txBox="1"/>
          <p:nvPr>
            <p:ph idx="1" type="body"/>
          </p:nvPr>
        </p:nvSpPr>
        <p:spPr>
          <a:xfrm>
            <a:off x="685800" y="4330700"/>
            <a:ext cx="5486400" cy="41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1" lang="en-US" u="sng"/>
              <a:t>Refer to removeBSTNode.py</a:t>
            </a:r>
            <a:endParaRPr/>
          </a:p>
        </p:txBody>
      </p:sp>
      <p:sp>
        <p:nvSpPr>
          <p:cNvPr id="651" name="Google Shape;651;p52:notes"/>
          <p:cNvSpPr txBox="1"/>
          <p:nvPr>
            <p:ph idx="12" type="sldNum"/>
          </p:nvPr>
        </p:nvSpPr>
        <p:spPr>
          <a:xfrm>
            <a:off x="3884613" y="8659813"/>
            <a:ext cx="2971800" cy="4556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Verdana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5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" name="Google Shape;21;p54"/>
          <p:cNvSpPr txBox="1"/>
          <p:nvPr>
            <p:ph idx="11" type="ftr"/>
          </p:nvPr>
        </p:nvSpPr>
        <p:spPr>
          <a:xfrm>
            <a:off x="2286000" y="6353464"/>
            <a:ext cx="7620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p54"/>
          <p:cNvSpPr txBox="1"/>
          <p:nvPr>
            <p:ph idx="12" type="sldNum"/>
          </p:nvPr>
        </p:nvSpPr>
        <p:spPr>
          <a:xfrm>
            <a:off x="10363200" y="6416675"/>
            <a:ext cx="990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5"/>
          <p:cNvSpPr txBox="1"/>
          <p:nvPr>
            <p:ph type="title"/>
          </p:nvPr>
        </p:nvSpPr>
        <p:spPr>
          <a:xfrm>
            <a:off x="0" y="39261"/>
            <a:ext cx="12192000" cy="6465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5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5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55"/>
          <p:cNvSpPr txBox="1"/>
          <p:nvPr>
            <p:ph idx="11" type="ftr"/>
          </p:nvPr>
        </p:nvSpPr>
        <p:spPr>
          <a:xfrm>
            <a:off x="2286000" y="6353464"/>
            <a:ext cx="7620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" name="Google Shape;29;p55"/>
          <p:cNvSpPr txBox="1"/>
          <p:nvPr>
            <p:ph idx="12" type="sldNum"/>
          </p:nvPr>
        </p:nvSpPr>
        <p:spPr>
          <a:xfrm>
            <a:off x="10363200" y="6416675"/>
            <a:ext cx="990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" name="Google Shape;30;p55"/>
          <p:cNvSpPr txBox="1"/>
          <p:nvPr/>
        </p:nvSpPr>
        <p:spPr>
          <a:xfrm>
            <a:off x="8737600" y="647700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6"/>
          <p:cNvSpPr txBox="1"/>
          <p:nvPr>
            <p:ph type="title"/>
          </p:nvPr>
        </p:nvSpPr>
        <p:spPr>
          <a:xfrm>
            <a:off x="0" y="39261"/>
            <a:ext cx="12192000" cy="6465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6"/>
          <p:cNvSpPr txBox="1"/>
          <p:nvPr>
            <p:ph idx="1" type="body"/>
          </p:nvPr>
        </p:nvSpPr>
        <p:spPr>
          <a:xfrm>
            <a:off x="952500" y="1130530"/>
            <a:ext cx="10020300" cy="50416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5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Google Shape;35;p56"/>
          <p:cNvSpPr txBox="1"/>
          <p:nvPr>
            <p:ph idx="11" type="ftr"/>
          </p:nvPr>
        </p:nvSpPr>
        <p:spPr>
          <a:xfrm>
            <a:off x="2286000" y="6353464"/>
            <a:ext cx="7620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" name="Google Shape;36;p56"/>
          <p:cNvSpPr txBox="1"/>
          <p:nvPr>
            <p:ph idx="12" type="sldNum"/>
          </p:nvPr>
        </p:nvSpPr>
        <p:spPr>
          <a:xfrm>
            <a:off x="10363200" y="6416675"/>
            <a:ext cx="990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Verdana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0" name="Google Shape;40;p5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" name="Google Shape;41;p57"/>
          <p:cNvSpPr txBox="1"/>
          <p:nvPr>
            <p:ph idx="11" type="ftr"/>
          </p:nvPr>
        </p:nvSpPr>
        <p:spPr>
          <a:xfrm>
            <a:off x="2286000" y="6353464"/>
            <a:ext cx="7620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p57"/>
          <p:cNvSpPr txBox="1"/>
          <p:nvPr>
            <p:ph idx="12" type="sldNum"/>
          </p:nvPr>
        </p:nvSpPr>
        <p:spPr>
          <a:xfrm>
            <a:off x="10363200" y="6416675"/>
            <a:ext cx="990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5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5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5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5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" name="Google Shape;50;p58"/>
          <p:cNvSpPr txBox="1"/>
          <p:nvPr>
            <p:ph idx="11" type="ftr"/>
          </p:nvPr>
        </p:nvSpPr>
        <p:spPr>
          <a:xfrm>
            <a:off x="2286000" y="6353464"/>
            <a:ext cx="7620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1" name="Google Shape;51;p58"/>
          <p:cNvSpPr txBox="1"/>
          <p:nvPr>
            <p:ph idx="12" type="sldNum"/>
          </p:nvPr>
        </p:nvSpPr>
        <p:spPr>
          <a:xfrm>
            <a:off x="10363200" y="6416675"/>
            <a:ext cx="990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9"/>
          <p:cNvSpPr txBox="1"/>
          <p:nvPr>
            <p:ph type="title"/>
          </p:nvPr>
        </p:nvSpPr>
        <p:spPr>
          <a:xfrm>
            <a:off x="0" y="39261"/>
            <a:ext cx="12192000" cy="6465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5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59"/>
          <p:cNvSpPr txBox="1"/>
          <p:nvPr>
            <p:ph idx="11" type="ftr"/>
          </p:nvPr>
        </p:nvSpPr>
        <p:spPr>
          <a:xfrm>
            <a:off x="2286000" y="6353464"/>
            <a:ext cx="7620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p59"/>
          <p:cNvSpPr txBox="1"/>
          <p:nvPr>
            <p:ph idx="12" type="sldNum"/>
          </p:nvPr>
        </p:nvSpPr>
        <p:spPr>
          <a:xfrm>
            <a:off x="10363200" y="6416675"/>
            <a:ext cx="990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p60"/>
          <p:cNvSpPr txBox="1"/>
          <p:nvPr>
            <p:ph idx="11" type="ftr"/>
          </p:nvPr>
        </p:nvSpPr>
        <p:spPr>
          <a:xfrm>
            <a:off x="2286000" y="6353464"/>
            <a:ext cx="7620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Google Shape;60;p60"/>
          <p:cNvSpPr txBox="1"/>
          <p:nvPr>
            <p:ph idx="12" type="sldNum"/>
          </p:nvPr>
        </p:nvSpPr>
        <p:spPr>
          <a:xfrm>
            <a:off x="10363200" y="6416675"/>
            <a:ext cx="990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Verdana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6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4" name="Google Shape;64;p6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6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6" name="Google Shape;66;p61"/>
          <p:cNvSpPr txBox="1"/>
          <p:nvPr>
            <p:ph idx="11" type="ftr"/>
          </p:nvPr>
        </p:nvSpPr>
        <p:spPr>
          <a:xfrm>
            <a:off x="2286000" y="6353464"/>
            <a:ext cx="7620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p61"/>
          <p:cNvSpPr txBox="1"/>
          <p:nvPr>
            <p:ph idx="12" type="sldNum"/>
          </p:nvPr>
        </p:nvSpPr>
        <p:spPr>
          <a:xfrm>
            <a:off x="10363200" y="6416675"/>
            <a:ext cx="990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Verdana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6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6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2" name="Google Shape;72;p6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3" name="Google Shape;73;p62"/>
          <p:cNvSpPr txBox="1"/>
          <p:nvPr>
            <p:ph idx="11" type="ftr"/>
          </p:nvPr>
        </p:nvSpPr>
        <p:spPr>
          <a:xfrm>
            <a:off x="2286000" y="6353464"/>
            <a:ext cx="7620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p62"/>
          <p:cNvSpPr txBox="1"/>
          <p:nvPr>
            <p:ph idx="12" type="sldNum"/>
          </p:nvPr>
        </p:nvSpPr>
        <p:spPr>
          <a:xfrm>
            <a:off x="10363200" y="6416675"/>
            <a:ext cx="990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3"/>
          <p:cNvSpPr txBox="1"/>
          <p:nvPr>
            <p:ph type="title"/>
          </p:nvPr>
        </p:nvSpPr>
        <p:spPr>
          <a:xfrm>
            <a:off x="0" y="39261"/>
            <a:ext cx="12192000" cy="6465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63"/>
          <p:cNvSpPr txBox="1"/>
          <p:nvPr>
            <p:ph idx="1" type="body"/>
          </p:nvPr>
        </p:nvSpPr>
        <p:spPr>
          <a:xfrm rot="5400000">
            <a:off x="3441816" y="-1358785"/>
            <a:ext cx="5041669" cy="100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6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" name="Google Shape;79;p63"/>
          <p:cNvSpPr txBox="1"/>
          <p:nvPr>
            <p:ph idx="11" type="ftr"/>
          </p:nvPr>
        </p:nvSpPr>
        <p:spPr>
          <a:xfrm>
            <a:off x="2286000" y="6353464"/>
            <a:ext cx="7620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0" name="Google Shape;80;p63"/>
          <p:cNvSpPr txBox="1"/>
          <p:nvPr>
            <p:ph idx="12" type="sldNum"/>
          </p:nvPr>
        </p:nvSpPr>
        <p:spPr>
          <a:xfrm>
            <a:off x="10363200" y="6416675"/>
            <a:ext cx="990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6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6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64"/>
          <p:cNvSpPr txBox="1"/>
          <p:nvPr>
            <p:ph idx="11" type="ftr"/>
          </p:nvPr>
        </p:nvSpPr>
        <p:spPr>
          <a:xfrm>
            <a:off x="2286000" y="6353464"/>
            <a:ext cx="7620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64"/>
          <p:cNvSpPr txBox="1"/>
          <p:nvPr>
            <p:ph idx="12" type="sldNum"/>
          </p:nvPr>
        </p:nvSpPr>
        <p:spPr>
          <a:xfrm>
            <a:off x="10363200" y="6416675"/>
            <a:ext cx="990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3"/>
          <p:cNvSpPr txBox="1"/>
          <p:nvPr/>
        </p:nvSpPr>
        <p:spPr>
          <a:xfrm>
            <a:off x="838200" y="1066800"/>
            <a:ext cx="10363200" cy="51054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651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1" sz="28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" name="Google Shape;11;p53"/>
          <p:cNvSpPr txBox="1"/>
          <p:nvPr>
            <p:ph idx="1" type="body"/>
          </p:nvPr>
        </p:nvSpPr>
        <p:spPr>
          <a:xfrm>
            <a:off x="952500" y="1130530"/>
            <a:ext cx="10020300" cy="50416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53"/>
          <p:cNvSpPr txBox="1"/>
          <p:nvPr>
            <p:ph idx="12" type="sldNum"/>
          </p:nvPr>
        </p:nvSpPr>
        <p:spPr>
          <a:xfrm>
            <a:off x="10363200" y="6416675"/>
            <a:ext cx="990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" name="Google Shape;13;p53"/>
          <p:cNvSpPr txBox="1"/>
          <p:nvPr/>
        </p:nvSpPr>
        <p:spPr>
          <a:xfrm>
            <a:off x="0" y="0"/>
            <a:ext cx="12192000" cy="712560"/>
          </a:xfrm>
          <a:prstGeom prst="rect">
            <a:avLst/>
          </a:prstGeom>
          <a:solidFill>
            <a:srgbClr val="0056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" name="Google Shape;14;p53"/>
          <p:cNvSpPr txBox="1"/>
          <p:nvPr>
            <p:ph type="title"/>
          </p:nvPr>
        </p:nvSpPr>
        <p:spPr>
          <a:xfrm>
            <a:off x="0" y="39261"/>
            <a:ext cx="12192000" cy="6465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erdana"/>
              <a:buNone/>
              <a:defRPr b="1" i="0" sz="2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5" name="Google Shape;15;p53"/>
          <p:cNvSpPr txBox="1"/>
          <p:nvPr/>
        </p:nvSpPr>
        <p:spPr>
          <a:xfrm>
            <a:off x="1638300" y="6416675"/>
            <a:ext cx="876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Content Copyright Nanyang Technological University</a:t>
            </a:r>
            <a:endParaRPr/>
          </a:p>
        </p:txBody>
      </p:sp>
      <p:sp>
        <p:nvSpPr>
          <p:cNvPr id="16" name="Google Shape;16;p53"/>
          <p:cNvSpPr txBox="1"/>
          <p:nvPr/>
        </p:nvSpPr>
        <p:spPr>
          <a:xfrm>
            <a:off x="8737600" y="647700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1"/>
          <p:cNvPicPr preferRelativeResize="0"/>
          <p:nvPr/>
        </p:nvPicPr>
        <p:blipFill rotWithShape="1">
          <a:blip r:embed="rId3">
            <a:alphaModFix/>
          </a:blip>
          <a:srcRect b="0" l="0" r="18989" t="9091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"/>
          <p:cNvSpPr/>
          <p:nvPr/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33000">
                <a:srgbClr val="000000">
                  <a:alpha val="63921"/>
                </a:srgbClr>
              </a:gs>
              <a:gs pos="58000">
                <a:schemeClr val="dk1"/>
              </a:gs>
              <a:gs pos="100000">
                <a:schemeClr val="dk1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/>
          <p:nvPr/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"/>
          <p:cNvSpPr txBox="1"/>
          <p:nvPr>
            <p:ph type="ctrTitle"/>
          </p:nvPr>
        </p:nvSpPr>
        <p:spPr>
          <a:xfrm>
            <a:off x="43719" y="2865536"/>
            <a:ext cx="6128481" cy="167251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Verdana"/>
              <a:buNone/>
            </a:pPr>
            <a:r>
              <a:rPr b="1" lang="en-US" sz="20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Data Structures &amp; Algorithms in Python</a:t>
            </a:r>
            <a:br>
              <a:rPr b="1" lang="en-US" sz="20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20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1800"/>
              <a:t>Binary Search Trees – Lab Answers</a:t>
            </a:r>
            <a:br>
              <a:rPr b="1" lang="en-US" sz="20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b="1" lang="en-US" sz="20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1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Dr. Owen Noel Newton Fernando</a:t>
            </a:r>
            <a:br>
              <a:rPr lang="en-US" sz="20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b="1" sz="20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43719" y="5641705"/>
            <a:ext cx="4248279" cy="10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College of Engineering </a:t>
            </a:r>
            <a:b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School of Computer Science and Engineering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600" y="106704"/>
            <a:ext cx="3878519" cy="15514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/>
          <p:cNvSpPr txBox="1"/>
          <p:nvPr>
            <p:ph type="title"/>
          </p:nvPr>
        </p:nvSpPr>
        <p:spPr>
          <a:xfrm>
            <a:off x="0" y="39261"/>
            <a:ext cx="12192000" cy="6465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erdana"/>
              <a:buNone/>
            </a:pPr>
            <a:r>
              <a:rPr lang="en-US"/>
              <a:t>Q01</a:t>
            </a:r>
            <a:endParaRPr/>
          </a:p>
        </p:txBody>
      </p:sp>
      <p:sp>
        <p:nvSpPr>
          <p:cNvPr id="106" name="Google Shape;106;p2"/>
          <p:cNvSpPr/>
          <p:nvPr/>
        </p:nvSpPr>
        <p:spPr>
          <a:xfrm>
            <a:off x="1295400" y="1566208"/>
            <a:ext cx="9601200" cy="3662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Write a function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insertBSTNode()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that adds an item to a Binary Search Tree. </a:t>
            </a:r>
            <a:b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def insertBSTNode(node, value): </a:t>
            </a:r>
            <a:b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BST nodes should be dynamically created by instantiating the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BTNode class. </a:t>
            </a:r>
            <a:b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Hint: The core logic of this function has been covered in the lecture slides. Ensure that your implementation correctly handles inserting a node into an empty BST. 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"/>
          <p:cNvSpPr txBox="1"/>
          <p:nvPr>
            <p:ph type="title"/>
          </p:nvPr>
        </p:nvSpPr>
        <p:spPr>
          <a:xfrm>
            <a:off x="0" y="39261"/>
            <a:ext cx="12192000" cy="6465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erdana"/>
              <a:buNone/>
            </a:pPr>
            <a:r>
              <a:rPr lang="en-US"/>
              <a:t>Q01 - Answer</a:t>
            </a:r>
            <a:endParaRPr/>
          </a:p>
        </p:txBody>
      </p:sp>
      <p:sp>
        <p:nvSpPr>
          <p:cNvPr id="113" name="Google Shape;113;p3"/>
          <p:cNvSpPr/>
          <p:nvPr/>
        </p:nvSpPr>
        <p:spPr>
          <a:xfrm>
            <a:off x="1143000" y="1371600"/>
            <a:ext cx="99060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Let’s go through the answer step-by-step   </a:t>
            </a:r>
            <a:endParaRPr/>
          </a:p>
        </p:txBody>
      </p:sp>
      <p:sp>
        <p:nvSpPr>
          <p:cNvPr id="114" name="Google Shape;114;p3"/>
          <p:cNvSpPr/>
          <p:nvPr/>
        </p:nvSpPr>
        <p:spPr>
          <a:xfrm>
            <a:off x="1676400" y="2057400"/>
            <a:ext cx="99060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Class Definitions</a:t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2552700" y="2743200"/>
            <a:ext cx="8496300" cy="1169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400" u="none" cap="none" strike="noStrike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BTNode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__init__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item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left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right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.item =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item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 </a:t>
            </a:r>
            <a:r>
              <a:rPr lang="en-US" sz="14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Store the item (integer)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 =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left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 </a:t>
            </a:r>
            <a:r>
              <a:rPr lang="en-US" sz="14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Reference to the left child node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 =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right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 </a:t>
            </a:r>
            <a:r>
              <a:rPr lang="en-US" sz="14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Reference to the right child node</a:t>
            </a:r>
            <a:endParaRPr b="0"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1905000" y="4136886"/>
            <a:ext cx="9067800" cy="23083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defines a </a:t>
            </a: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Binary Tree Node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node has: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item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the value stored in the node (an integer in this case).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left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pointer/reference to the left child node (default None).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right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pointer/reference to the right child node (default None).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"/>
          <p:cNvSpPr txBox="1"/>
          <p:nvPr>
            <p:ph type="title"/>
          </p:nvPr>
        </p:nvSpPr>
        <p:spPr>
          <a:xfrm>
            <a:off x="0" y="39261"/>
            <a:ext cx="12192000" cy="6465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erdana"/>
              <a:buNone/>
            </a:pPr>
            <a:r>
              <a:rPr lang="en-US"/>
              <a:t>Q01 - Answer</a:t>
            </a:r>
            <a:endParaRPr/>
          </a:p>
        </p:txBody>
      </p:sp>
      <p:sp>
        <p:nvSpPr>
          <p:cNvPr id="123" name="Google Shape;123;p4"/>
          <p:cNvSpPr/>
          <p:nvPr/>
        </p:nvSpPr>
        <p:spPr>
          <a:xfrm>
            <a:off x="4847771" y="914400"/>
            <a:ext cx="7162800" cy="54784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insertBSTNode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"""</a:t>
            </a:r>
            <a:r>
              <a:rPr lang="en-US" sz="14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Iterative approach to insert a node into the BST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"""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is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BTNode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  </a:t>
            </a:r>
            <a:r>
              <a:rPr lang="en-US" sz="14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If tree is empty, create root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parent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current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current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parent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4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current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 sz="14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current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.item: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14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current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4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current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elif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&gt; </a:t>
            </a:r>
            <a:r>
              <a:rPr lang="en-US" sz="14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current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.item: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14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current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4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current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 </a:t>
            </a:r>
            <a:r>
              <a:rPr lang="en-US" sz="14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Value already exists, no duplicates allowed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 sz="14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parent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.item: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parent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 = </a:t>
            </a:r>
            <a:r>
              <a:rPr lang="en-US" sz="14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BTNode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parent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 = </a:t>
            </a:r>
            <a:r>
              <a:rPr lang="en-US" sz="14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BTNode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b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914400" y="829139"/>
            <a:ext cx="28956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Functions</a:t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961571" y="1334837"/>
            <a:ext cx="38862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u="sng">
                <a:solidFill>
                  <a:srgbClr val="00568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Answer: Insertion Function (Iterative)</a:t>
            </a:r>
            <a:endParaRPr/>
          </a:p>
        </p:txBody>
      </p:sp>
      <p:sp>
        <p:nvSpPr>
          <p:cNvPr id="126" name="Google Shape;126;p4"/>
          <p:cNvSpPr/>
          <p:nvPr/>
        </p:nvSpPr>
        <p:spPr>
          <a:xfrm>
            <a:off x="1143000" y="2266890"/>
            <a:ext cx="2895600" cy="1015663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the tree is empty (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root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None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), then the new node becomes the root.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" name="Google Shape;127;p4"/>
          <p:cNvSpPr/>
          <p:nvPr/>
        </p:nvSpPr>
        <p:spPr>
          <a:xfrm rot="-1582216">
            <a:off x="4212855" y="2099808"/>
            <a:ext cx="899717" cy="33416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5181600" y="1600200"/>
            <a:ext cx="5943600" cy="533400"/>
          </a:xfrm>
          <a:prstGeom prst="rect">
            <a:avLst/>
          </a:prstGeom>
          <a:noFill/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"/>
          <p:cNvSpPr txBox="1"/>
          <p:nvPr>
            <p:ph type="title"/>
          </p:nvPr>
        </p:nvSpPr>
        <p:spPr>
          <a:xfrm>
            <a:off x="0" y="39261"/>
            <a:ext cx="12192000" cy="6465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erdana"/>
              <a:buNone/>
            </a:pPr>
            <a:r>
              <a:rPr lang="en-US"/>
              <a:t>Q01 - Answer</a:t>
            </a:r>
            <a:endParaRPr/>
          </a:p>
        </p:txBody>
      </p:sp>
      <p:sp>
        <p:nvSpPr>
          <p:cNvPr id="135" name="Google Shape;135;p5"/>
          <p:cNvSpPr/>
          <p:nvPr/>
        </p:nvSpPr>
        <p:spPr>
          <a:xfrm>
            <a:off x="4847771" y="914400"/>
            <a:ext cx="7162800" cy="54784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insertBSTNode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"""</a:t>
            </a:r>
            <a:r>
              <a:rPr lang="en-US" sz="14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Iterative approach to insert a node into the BST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"""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is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BTNode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  </a:t>
            </a:r>
            <a:r>
              <a:rPr lang="en-US" sz="14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If tree is empty, create root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parent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current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current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parent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4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current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 sz="14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current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.item: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14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current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4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current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elif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&gt; </a:t>
            </a:r>
            <a:r>
              <a:rPr lang="en-US" sz="14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current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.item: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14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current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4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current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 </a:t>
            </a:r>
            <a:r>
              <a:rPr lang="en-US" sz="14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Value already exists, no duplicates allowed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 sz="14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parent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.item: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parent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 = </a:t>
            </a:r>
            <a:r>
              <a:rPr lang="en-US" sz="14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BTNode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parent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 = </a:t>
            </a:r>
            <a:r>
              <a:rPr lang="en-US" sz="14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BTNode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b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914400" y="829139"/>
            <a:ext cx="28956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Functions</a:t>
            </a: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1052286" y="2693324"/>
            <a:ext cx="3276600" cy="224676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current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used to 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traverse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tree from the root.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parent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keeps track of the node above 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current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(important when we attach the new node later).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5"/>
          <p:cNvSpPr/>
          <p:nvPr/>
        </p:nvSpPr>
        <p:spPr>
          <a:xfrm rot="-2015766">
            <a:off x="4436164" y="2598592"/>
            <a:ext cx="622243" cy="375045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5226218" y="2141781"/>
            <a:ext cx="2012782" cy="533400"/>
          </a:xfrm>
          <a:prstGeom prst="rect">
            <a:avLst/>
          </a:prstGeom>
          <a:noFill/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961571" y="1334837"/>
            <a:ext cx="38862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u="sng">
                <a:solidFill>
                  <a:srgbClr val="00568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Answer: Insertion Function (Iterative)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"/>
          <p:cNvSpPr txBox="1"/>
          <p:nvPr>
            <p:ph type="title"/>
          </p:nvPr>
        </p:nvSpPr>
        <p:spPr>
          <a:xfrm>
            <a:off x="0" y="39261"/>
            <a:ext cx="12192000" cy="6465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erdana"/>
              <a:buNone/>
            </a:pPr>
            <a:r>
              <a:rPr lang="en-US"/>
              <a:t>Q01 - Answer</a:t>
            </a: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4847771" y="914400"/>
            <a:ext cx="7162800" cy="54784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insertBSTNode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"""</a:t>
            </a:r>
            <a:r>
              <a:rPr lang="en-US" sz="14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Iterative approach to insert a node into the BST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"""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is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BTNode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  </a:t>
            </a:r>
            <a:r>
              <a:rPr lang="en-US" sz="14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If tree is empty, create root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parent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current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current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parent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4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current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 sz="14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current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.item: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14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current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4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current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elif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&gt; </a:t>
            </a:r>
            <a:r>
              <a:rPr lang="en-US" sz="14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current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.item: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14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current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4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current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 </a:t>
            </a:r>
            <a:r>
              <a:rPr lang="en-US" sz="14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Value already exists, no duplicates allowed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 sz="14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parent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.item: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parent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 = </a:t>
            </a:r>
            <a:r>
              <a:rPr lang="en-US" sz="14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BTNode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parent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 = </a:t>
            </a:r>
            <a:r>
              <a:rPr lang="en-US" sz="14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BTNode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b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914400" y="829139"/>
            <a:ext cx="28956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Functions</a:t>
            </a:r>
            <a:endParaRPr/>
          </a:p>
        </p:txBody>
      </p:sp>
      <p:sp>
        <p:nvSpPr>
          <p:cNvPr id="149" name="Google Shape;149;p6"/>
          <p:cNvSpPr/>
          <p:nvPr/>
        </p:nvSpPr>
        <p:spPr>
          <a:xfrm>
            <a:off x="4465842" y="3588495"/>
            <a:ext cx="622243" cy="375045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5165685" y="2847768"/>
            <a:ext cx="6844886" cy="1876632"/>
          </a:xfrm>
          <a:prstGeom prst="rect">
            <a:avLst/>
          </a:prstGeom>
          <a:noFill/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914400" y="2086756"/>
            <a:ext cx="3473842" cy="397031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Traverse until you find where to insert: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</a:t>
            </a:r>
            <a:r>
              <a:rPr lang="en-US" sz="1800">
                <a:solidFill>
                  <a:srgbClr val="0070C0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value &lt; </a:t>
            </a:r>
            <a:r>
              <a:rPr b="1" lang="en-US" sz="1800">
                <a:solidFill>
                  <a:srgbClr val="0070C0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current.item 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move 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left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</a:t>
            </a:r>
            <a:r>
              <a:rPr lang="en-US" sz="1800">
                <a:solidFill>
                  <a:srgbClr val="0070C0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value &gt; </a:t>
            </a:r>
            <a:r>
              <a:rPr b="1" lang="en-US" sz="1800">
                <a:solidFill>
                  <a:srgbClr val="0070C0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current.item 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move 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right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</a:t>
            </a:r>
            <a:r>
              <a:rPr lang="en-US" sz="1800">
                <a:solidFill>
                  <a:srgbClr val="0070C0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value == </a:t>
            </a:r>
            <a:r>
              <a:rPr b="1" lang="en-US" sz="1800">
                <a:solidFill>
                  <a:srgbClr val="0070C0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current.item 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do nothing (no duplicates allowed).</a:t>
            </a:r>
            <a:b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 the end of this loop, 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current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becomes 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None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but parent points to the last valid node where the new node should attach.</a:t>
            </a:r>
            <a:endParaRPr/>
          </a:p>
        </p:txBody>
      </p:sp>
      <p:sp>
        <p:nvSpPr>
          <p:cNvPr id="152" name="Google Shape;152;p6"/>
          <p:cNvSpPr/>
          <p:nvPr/>
        </p:nvSpPr>
        <p:spPr>
          <a:xfrm>
            <a:off x="961571" y="1334837"/>
            <a:ext cx="38862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u="sng">
                <a:solidFill>
                  <a:srgbClr val="00568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Answer: Insertion Function (Iterative)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"/>
          <p:cNvSpPr txBox="1"/>
          <p:nvPr>
            <p:ph type="title"/>
          </p:nvPr>
        </p:nvSpPr>
        <p:spPr>
          <a:xfrm>
            <a:off x="0" y="39261"/>
            <a:ext cx="12192000" cy="6465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erdana"/>
              <a:buNone/>
            </a:pPr>
            <a:r>
              <a:rPr lang="en-US"/>
              <a:t>Q01 - Answer</a:t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4847771" y="914400"/>
            <a:ext cx="7162800" cy="54784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insertBSTNode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"""</a:t>
            </a:r>
            <a:r>
              <a:rPr lang="en-US" sz="14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Iterative approach to insert a node into the BST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"""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is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BTNode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  </a:t>
            </a:r>
            <a:r>
              <a:rPr lang="en-US" sz="14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If tree is empty, create root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parent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current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current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parent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4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current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 sz="14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current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.item: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14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current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4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current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elif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&gt; </a:t>
            </a:r>
            <a:r>
              <a:rPr lang="en-US" sz="14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current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.item: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14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current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4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current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 </a:t>
            </a:r>
            <a:r>
              <a:rPr lang="en-US" sz="14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Value already exists, no duplicates allowed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 sz="14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parent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.item: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parent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 = </a:t>
            </a:r>
            <a:r>
              <a:rPr lang="en-US" sz="14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BTNode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parent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 = </a:t>
            </a:r>
            <a:r>
              <a:rPr lang="en-US" sz="14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BTNode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b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914400" y="829139"/>
            <a:ext cx="28956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Functions</a:t>
            </a:r>
            <a:endParaRPr/>
          </a:p>
        </p:txBody>
      </p:sp>
      <p:sp>
        <p:nvSpPr>
          <p:cNvPr id="161" name="Google Shape;161;p7"/>
          <p:cNvSpPr/>
          <p:nvPr/>
        </p:nvSpPr>
        <p:spPr>
          <a:xfrm>
            <a:off x="4415455" y="5040362"/>
            <a:ext cx="622243" cy="375045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5181600" y="4648200"/>
            <a:ext cx="3810000" cy="1143000"/>
          </a:xfrm>
          <a:prstGeom prst="rect">
            <a:avLst/>
          </a:prstGeom>
          <a:noFill/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914400" y="3886200"/>
            <a:ext cx="3372088" cy="230832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the loop ends, we know where the new node belongs.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</a:t>
            </a:r>
            <a:r>
              <a:rPr lang="en-US" sz="1800">
                <a:solidFill>
                  <a:srgbClr val="0070C0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value &lt; parent’s value 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create a new node as left child.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0070C0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Otherwise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create a new node as right child.</a:t>
            </a:r>
            <a:endParaRPr/>
          </a:p>
        </p:txBody>
      </p:sp>
      <p:sp>
        <p:nvSpPr>
          <p:cNvPr id="164" name="Google Shape;164;p7"/>
          <p:cNvSpPr/>
          <p:nvPr/>
        </p:nvSpPr>
        <p:spPr>
          <a:xfrm>
            <a:off x="961571" y="1334837"/>
            <a:ext cx="38862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u="sng">
                <a:solidFill>
                  <a:srgbClr val="00568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Answer: Insertion Function (Iterative)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"/>
          <p:cNvSpPr txBox="1"/>
          <p:nvPr>
            <p:ph type="title"/>
          </p:nvPr>
        </p:nvSpPr>
        <p:spPr>
          <a:xfrm>
            <a:off x="0" y="39261"/>
            <a:ext cx="12192000" cy="6465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erdana"/>
              <a:buNone/>
            </a:pPr>
            <a:r>
              <a:rPr lang="en-US"/>
              <a:t>Q01 - Answer</a:t>
            </a:r>
            <a:endParaRPr/>
          </a:p>
        </p:txBody>
      </p:sp>
      <p:sp>
        <p:nvSpPr>
          <p:cNvPr id="171" name="Google Shape;171;p8"/>
          <p:cNvSpPr/>
          <p:nvPr/>
        </p:nvSpPr>
        <p:spPr>
          <a:xfrm>
            <a:off x="4847771" y="914400"/>
            <a:ext cx="7162800" cy="54784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insertBSTNode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"""</a:t>
            </a:r>
            <a:r>
              <a:rPr lang="en-US" sz="14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Iterative approach to insert a node into the BST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"""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is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BTNode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  </a:t>
            </a:r>
            <a:r>
              <a:rPr lang="en-US" sz="14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If tree is empty, create root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parent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current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current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parent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4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current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 sz="14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current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.item: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14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current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4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current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elif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&gt; </a:t>
            </a:r>
            <a:r>
              <a:rPr lang="en-US" sz="14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current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.item: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14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current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4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current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 </a:t>
            </a:r>
            <a:r>
              <a:rPr lang="en-US" sz="14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Value already exists, no duplicates allowed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 sz="14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parent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.item: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parent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 = </a:t>
            </a:r>
            <a:r>
              <a:rPr lang="en-US" sz="14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BTNode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parent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 = </a:t>
            </a:r>
            <a:r>
              <a:rPr lang="en-US" sz="14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BTNode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b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914400" y="829139"/>
            <a:ext cx="28956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Functions</a:t>
            </a:r>
            <a:endParaRPr/>
          </a:p>
        </p:txBody>
      </p:sp>
      <p:sp>
        <p:nvSpPr>
          <p:cNvPr id="173" name="Google Shape;173;p8"/>
          <p:cNvSpPr/>
          <p:nvPr/>
        </p:nvSpPr>
        <p:spPr>
          <a:xfrm rot="679428">
            <a:off x="4399778" y="5697121"/>
            <a:ext cx="622243" cy="375045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5257800" y="5791200"/>
            <a:ext cx="1600200" cy="381000"/>
          </a:xfrm>
          <a:prstGeom prst="rect">
            <a:avLst/>
          </a:prstGeom>
          <a:noFill/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914400" y="5468034"/>
            <a:ext cx="3254829" cy="64633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Return the original root so the tree reference stays intact.</a:t>
            </a:r>
            <a:endParaRPr/>
          </a:p>
        </p:txBody>
      </p:sp>
      <p:sp>
        <p:nvSpPr>
          <p:cNvPr id="176" name="Google Shape;176;p8"/>
          <p:cNvSpPr/>
          <p:nvPr/>
        </p:nvSpPr>
        <p:spPr>
          <a:xfrm>
            <a:off x="961571" y="1334837"/>
            <a:ext cx="38862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u="sng">
                <a:solidFill>
                  <a:srgbClr val="00568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Answer: Insertion Function (Iterative)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"/>
          <p:cNvSpPr/>
          <p:nvPr/>
        </p:nvSpPr>
        <p:spPr>
          <a:xfrm>
            <a:off x="5242560" y="1791950"/>
            <a:ext cx="5566229" cy="28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insertBSTNode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is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BTNode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.item: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 = </a:t>
            </a:r>
            <a:r>
              <a:rPr lang="en-US" sz="14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insertBSTNode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.left,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elif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&gt;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.item: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 = </a:t>
            </a:r>
            <a:r>
              <a:rPr lang="en-US" sz="14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insertBSTNode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.right,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3" name="Google Shape;183;p9"/>
          <p:cNvSpPr txBox="1"/>
          <p:nvPr>
            <p:ph type="title"/>
          </p:nvPr>
        </p:nvSpPr>
        <p:spPr>
          <a:xfrm>
            <a:off x="0" y="39261"/>
            <a:ext cx="12192000" cy="6465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erdana"/>
              <a:buNone/>
            </a:pPr>
            <a:r>
              <a:rPr lang="en-US"/>
              <a:t>Q01 - Answer</a:t>
            </a:r>
            <a:endParaRPr/>
          </a:p>
        </p:txBody>
      </p:sp>
      <p:sp>
        <p:nvSpPr>
          <p:cNvPr id="184" name="Google Shape;184;p9"/>
          <p:cNvSpPr/>
          <p:nvPr/>
        </p:nvSpPr>
        <p:spPr>
          <a:xfrm>
            <a:off x="914400" y="829139"/>
            <a:ext cx="28956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Functions</a:t>
            </a:r>
            <a:endParaRPr/>
          </a:p>
        </p:txBody>
      </p:sp>
      <p:sp>
        <p:nvSpPr>
          <p:cNvPr id="185" name="Google Shape;185;p9"/>
          <p:cNvSpPr/>
          <p:nvPr/>
        </p:nvSpPr>
        <p:spPr>
          <a:xfrm>
            <a:off x="4734044" y="2331955"/>
            <a:ext cx="622243" cy="375045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5638800" y="2209800"/>
            <a:ext cx="2819400" cy="609600"/>
          </a:xfrm>
          <a:prstGeom prst="rect">
            <a:avLst/>
          </a:prstGeom>
          <a:noFill/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928947" y="2209800"/>
            <a:ext cx="3735090" cy="286232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the current position (node) is empty (None), it means we’ve found the correct spot for the new value.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new BTNode is created and returned.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is the end of recursion for that branch.</a:t>
            </a:r>
            <a:endParaRPr/>
          </a:p>
        </p:txBody>
      </p:sp>
      <p:sp>
        <p:nvSpPr>
          <p:cNvPr id="188" name="Google Shape;188;p9"/>
          <p:cNvSpPr/>
          <p:nvPr/>
        </p:nvSpPr>
        <p:spPr>
          <a:xfrm>
            <a:off x="961571" y="1334837"/>
            <a:ext cx="38862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u="sng">
                <a:solidFill>
                  <a:srgbClr val="00568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Answer: Insertion Function (2</a:t>
            </a:r>
            <a:r>
              <a:rPr b="1" baseline="30000" lang="en-US" sz="2000" u="sng">
                <a:solidFill>
                  <a:srgbClr val="00568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nd</a:t>
            </a:r>
            <a:r>
              <a:rPr b="1" lang="en-US" sz="2000" u="sng">
                <a:solidFill>
                  <a:srgbClr val="00568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Option - recursive)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0"/>
          <p:cNvSpPr/>
          <p:nvPr/>
        </p:nvSpPr>
        <p:spPr>
          <a:xfrm>
            <a:off x="5242560" y="1791950"/>
            <a:ext cx="5566229" cy="28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insertBSTNode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is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BTNode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.item: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 = </a:t>
            </a:r>
            <a:r>
              <a:rPr lang="en-US" sz="14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insertBSTNode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.left,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elif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&gt;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.item: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 = </a:t>
            </a:r>
            <a:r>
              <a:rPr lang="en-US" sz="14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insertBSTNode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.right,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5" name="Google Shape;195;p10"/>
          <p:cNvSpPr txBox="1"/>
          <p:nvPr>
            <p:ph type="title"/>
          </p:nvPr>
        </p:nvSpPr>
        <p:spPr>
          <a:xfrm>
            <a:off x="0" y="39261"/>
            <a:ext cx="12192000" cy="6465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erdana"/>
              <a:buNone/>
            </a:pPr>
            <a:r>
              <a:rPr lang="en-US"/>
              <a:t>Q01 - Answer</a:t>
            </a:r>
            <a:endParaRPr/>
          </a:p>
        </p:txBody>
      </p:sp>
      <p:sp>
        <p:nvSpPr>
          <p:cNvPr id="196" name="Google Shape;196;p10"/>
          <p:cNvSpPr/>
          <p:nvPr/>
        </p:nvSpPr>
        <p:spPr>
          <a:xfrm>
            <a:off x="914400" y="829139"/>
            <a:ext cx="28956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Functions</a:t>
            </a:r>
            <a:endParaRPr/>
          </a:p>
        </p:txBody>
      </p:sp>
      <p:sp>
        <p:nvSpPr>
          <p:cNvPr id="197" name="Google Shape;197;p10"/>
          <p:cNvSpPr/>
          <p:nvPr/>
        </p:nvSpPr>
        <p:spPr>
          <a:xfrm>
            <a:off x="4818437" y="2838055"/>
            <a:ext cx="622243" cy="375045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5638800" y="2788920"/>
            <a:ext cx="4953000" cy="563880"/>
          </a:xfrm>
          <a:prstGeom prst="rect">
            <a:avLst/>
          </a:prstGeom>
          <a:noFill/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950686" y="2383842"/>
            <a:ext cx="3735090" cy="313932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Recursive Case: Left Insertion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the new value is smaller than the current 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node.item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it belongs in the left subtree.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function recursively calls itself on 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node.left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return value (possibly a new node) is assigned back to 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node.left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  <p:sp>
        <p:nvSpPr>
          <p:cNvPr id="200" name="Google Shape;200;p10"/>
          <p:cNvSpPr/>
          <p:nvPr/>
        </p:nvSpPr>
        <p:spPr>
          <a:xfrm>
            <a:off x="961571" y="1334837"/>
            <a:ext cx="38862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u="sng">
                <a:solidFill>
                  <a:srgbClr val="00568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Answer: Insertion Function (2</a:t>
            </a:r>
            <a:r>
              <a:rPr b="1" baseline="30000" lang="en-US" sz="2000" u="sng">
                <a:solidFill>
                  <a:srgbClr val="00568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nd</a:t>
            </a:r>
            <a:r>
              <a:rPr b="1" lang="en-US" sz="2000" u="sng">
                <a:solidFill>
                  <a:srgbClr val="00568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Option - recursive)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1"/>
          <p:cNvSpPr/>
          <p:nvPr/>
        </p:nvSpPr>
        <p:spPr>
          <a:xfrm>
            <a:off x="5242560" y="1791950"/>
            <a:ext cx="5566229" cy="28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insertBSTNode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is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BTNode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.item: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 = </a:t>
            </a:r>
            <a:r>
              <a:rPr lang="en-US" sz="14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insertBSTNode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.left,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elif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&gt;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.item: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 = </a:t>
            </a:r>
            <a:r>
              <a:rPr lang="en-US" sz="14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insertBSTNode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.right,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7" name="Google Shape;207;p11"/>
          <p:cNvSpPr txBox="1"/>
          <p:nvPr>
            <p:ph type="title"/>
          </p:nvPr>
        </p:nvSpPr>
        <p:spPr>
          <a:xfrm>
            <a:off x="0" y="39261"/>
            <a:ext cx="12192000" cy="6465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erdana"/>
              <a:buNone/>
            </a:pPr>
            <a:r>
              <a:rPr lang="en-US"/>
              <a:t>Q01 - Answer</a:t>
            </a:r>
            <a:endParaRPr/>
          </a:p>
        </p:txBody>
      </p:sp>
      <p:sp>
        <p:nvSpPr>
          <p:cNvPr id="208" name="Google Shape;208;p11"/>
          <p:cNvSpPr/>
          <p:nvPr/>
        </p:nvSpPr>
        <p:spPr>
          <a:xfrm>
            <a:off x="914400" y="829139"/>
            <a:ext cx="28956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Functions</a:t>
            </a:r>
            <a:endParaRPr/>
          </a:p>
        </p:txBody>
      </p:sp>
      <p:sp>
        <p:nvSpPr>
          <p:cNvPr id="209" name="Google Shape;209;p11"/>
          <p:cNvSpPr/>
          <p:nvPr/>
        </p:nvSpPr>
        <p:spPr>
          <a:xfrm>
            <a:off x="4853667" y="3397324"/>
            <a:ext cx="622243" cy="375045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1"/>
          <p:cNvSpPr/>
          <p:nvPr/>
        </p:nvSpPr>
        <p:spPr>
          <a:xfrm>
            <a:off x="5638800" y="3352800"/>
            <a:ext cx="4953000" cy="464094"/>
          </a:xfrm>
          <a:prstGeom prst="rect">
            <a:avLst/>
          </a:prstGeom>
          <a:noFill/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1"/>
          <p:cNvSpPr/>
          <p:nvPr/>
        </p:nvSpPr>
        <p:spPr>
          <a:xfrm>
            <a:off x="979714" y="2383842"/>
            <a:ext cx="3735090" cy="313932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Recursive Case: Right Insertion</a:t>
            </a:r>
            <a:b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the new value is greater than the current 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node.item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it belongs in the right subtree.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function recursively calls itself on 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node.right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return value is assigned back to 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node.right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  <p:sp>
        <p:nvSpPr>
          <p:cNvPr id="212" name="Google Shape;212;p11"/>
          <p:cNvSpPr/>
          <p:nvPr/>
        </p:nvSpPr>
        <p:spPr>
          <a:xfrm>
            <a:off x="961571" y="1334837"/>
            <a:ext cx="38862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u="sng">
                <a:solidFill>
                  <a:srgbClr val="00568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Answer: Insertion Function (2</a:t>
            </a:r>
            <a:r>
              <a:rPr b="1" baseline="30000" lang="en-US" sz="2000" u="sng">
                <a:solidFill>
                  <a:srgbClr val="00568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nd</a:t>
            </a:r>
            <a:r>
              <a:rPr b="1" lang="en-US" sz="2000" u="sng">
                <a:solidFill>
                  <a:srgbClr val="00568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Option - recursive)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2"/>
          <p:cNvSpPr/>
          <p:nvPr/>
        </p:nvSpPr>
        <p:spPr>
          <a:xfrm>
            <a:off x="5242560" y="1791950"/>
            <a:ext cx="5566229" cy="28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insertBSTNode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is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BTNode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.item: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 = </a:t>
            </a:r>
            <a:r>
              <a:rPr lang="en-US" sz="14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insertBSTNode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.left,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elif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&gt;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.item: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 = </a:t>
            </a:r>
            <a:r>
              <a:rPr lang="en-US" sz="14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insertBSTNode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.right,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9" name="Google Shape;219;p12"/>
          <p:cNvSpPr txBox="1"/>
          <p:nvPr>
            <p:ph type="title"/>
          </p:nvPr>
        </p:nvSpPr>
        <p:spPr>
          <a:xfrm>
            <a:off x="0" y="39261"/>
            <a:ext cx="12192000" cy="6465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erdana"/>
              <a:buNone/>
            </a:pPr>
            <a:r>
              <a:rPr lang="en-US"/>
              <a:t>Q01 - Answer</a:t>
            </a:r>
            <a:endParaRPr/>
          </a:p>
        </p:txBody>
      </p:sp>
      <p:sp>
        <p:nvSpPr>
          <p:cNvPr id="220" name="Google Shape;220;p12"/>
          <p:cNvSpPr/>
          <p:nvPr/>
        </p:nvSpPr>
        <p:spPr>
          <a:xfrm>
            <a:off x="914400" y="829139"/>
            <a:ext cx="28956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Functions</a:t>
            </a:r>
            <a:endParaRPr/>
          </a:p>
        </p:txBody>
      </p:sp>
      <p:sp>
        <p:nvSpPr>
          <p:cNvPr id="221" name="Google Shape;221;p12"/>
          <p:cNvSpPr/>
          <p:nvPr/>
        </p:nvSpPr>
        <p:spPr>
          <a:xfrm>
            <a:off x="4847771" y="3924291"/>
            <a:ext cx="622243" cy="375045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2"/>
          <p:cNvSpPr/>
          <p:nvPr/>
        </p:nvSpPr>
        <p:spPr>
          <a:xfrm>
            <a:off x="5549174" y="3886200"/>
            <a:ext cx="1766026" cy="464094"/>
          </a:xfrm>
          <a:prstGeom prst="rect">
            <a:avLst/>
          </a:prstGeom>
          <a:noFill/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2"/>
          <p:cNvSpPr/>
          <p:nvPr/>
        </p:nvSpPr>
        <p:spPr>
          <a:xfrm>
            <a:off x="961571" y="3145174"/>
            <a:ext cx="3735090" cy="230832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After inserting into the correct branch, return the unchanged current node (or the updated one if a child was added).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ensures that the entire tree is preserved properly as recursion unwinds.</a:t>
            </a:r>
            <a:endParaRPr/>
          </a:p>
        </p:txBody>
      </p:sp>
      <p:sp>
        <p:nvSpPr>
          <p:cNvPr id="224" name="Google Shape;224;p12"/>
          <p:cNvSpPr/>
          <p:nvPr/>
        </p:nvSpPr>
        <p:spPr>
          <a:xfrm>
            <a:off x="961571" y="1334837"/>
            <a:ext cx="38862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u="sng">
                <a:solidFill>
                  <a:srgbClr val="00568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Answer: Insertion Function (2</a:t>
            </a:r>
            <a:r>
              <a:rPr b="1" baseline="30000" lang="en-US" sz="2000" u="sng">
                <a:solidFill>
                  <a:srgbClr val="00568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nd</a:t>
            </a:r>
            <a:r>
              <a:rPr b="1" lang="en-US" sz="2000" u="sng">
                <a:solidFill>
                  <a:srgbClr val="00568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Option - recursive)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3"/>
          <p:cNvSpPr txBox="1"/>
          <p:nvPr>
            <p:ph type="title"/>
          </p:nvPr>
        </p:nvSpPr>
        <p:spPr>
          <a:xfrm>
            <a:off x="0" y="39261"/>
            <a:ext cx="12192000" cy="6465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erdana"/>
              <a:buNone/>
            </a:pPr>
            <a:r>
              <a:rPr lang="en-US"/>
              <a:t>Q01 - Answer</a:t>
            </a:r>
            <a:endParaRPr/>
          </a:p>
        </p:txBody>
      </p:sp>
      <p:sp>
        <p:nvSpPr>
          <p:cNvPr id="231" name="Google Shape;231;p13"/>
          <p:cNvSpPr/>
          <p:nvPr/>
        </p:nvSpPr>
        <p:spPr>
          <a:xfrm>
            <a:off x="914400" y="829139"/>
            <a:ext cx="28956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Functions</a:t>
            </a:r>
            <a:endParaRPr/>
          </a:p>
        </p:txBody>
      </p:sp>
      <p:sp>
        <p:nvSpPr>
          <p:cNvPr id="232" name="Google Shape;232;p13"/>
          <p:cNvSpPr/>
          <p:nvPr/>
        </p:nvSpPr>
        <p:spPr>
          <a:xfrm>
            <a:off x="936171" y="1276290"/>
            <a:ext cx="38862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Other Functions: Printing the Tree</a:t>
            </a:r>
            <a:endParaRPr/>
          </a:p>
        </p:txBody>
      </p:sp>
      <p:sp>
        <p:nvSpPr>
          <p:cNvPr id="233" name="Google Shape;233;p13"/>
          <p:cNvSpPr/>
          <p:nvPr/>
        </p:nvSpPr>
        <p:spPr>
          <a:xfrm rot="-1795604">
            <a:off x="4199994" y="2473548"/>
            <a:ext cx="622243" cy="375045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3"/>
          <p:cNvSpPr/>
          <p:nvPr/>
        </p:nvSpPr>
        <p:spPr>
          <a:xfrm>
            <a:off x="4710898" y="1885890"/>
            <a:ext cx="4814101" cy="381000"/>
          </a:xfrm>
          <a:prstGeom prst="rect">
            <a:avLst/>
          </a:prstGeom>
          <a:noFill/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3"/>
          <p:cNvSpPr/>
          <p:nvPr/>
        </p:nvSpPr>
        <p:spPr>
          <a:xfrm>
            <a:off x="896257" y="2123551"/>
            <a:ext cx="3233524" cy="286232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node: the current BT node to print.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level: how many spaces to indent before printing this node (defaults to 0).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prefix: a label printed before the value </a:t>
            </a:r>
            <a:r>
              <a:rPr lang="en-US" sz="1800">
                <a:solidFill>
                  <a:srgbClr val="007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("Root: ", "L--- ", "R--- ")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  <p:sp>
        <p:nvSpPr>
          <p:cNvPr id="236" name="Google Shape;236;p13"/>
          <p:cNvSpPr/>
          <p:nvPr/>
        </p:nvSpPr>
        <p:spPr>
          <a:xfrm>
            <a:off x="4710899" y="1915432"/>
            <a:ext cx="6984787" cy="2246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printTree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level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4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prefix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4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Root: 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"""</a:t>
            </a:r>
            <a:r>
              <a:rPr lang="en-US" sz="14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Prints the tree structure for better visualization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"""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is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4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*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level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prefix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lang="en-US" sz="14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str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.item))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or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lang="en-US" sz="14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printTree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.left,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level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lang="en-US" sz="14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4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L--- 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lang="en-US" sz="14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printTree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.right,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level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lang="en-US" sz="14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4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R--- 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4"/>
          <p:cNvSpPr/>
          <p:nvPr/>
        </p:nvSpPr>
        <p:spPr>
          <a:xfrm>
            <a:off x="4710899" y="1915432"/>
            <a:ext cx="6984787" cy="2246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printTree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level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4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prefix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4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Root: 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"""</a:t>
            </a:r>
            <a:r>
              <a:rPr lang="en-US" sz="14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Prints the tree structure for better visualization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"""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is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4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*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level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prefix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lang="en-US" sz="14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str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.item))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or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lang="en-US" sz="14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printTree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.left,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level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lang="en-US" sz="14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4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L--- 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lang="en-US" sz="14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printTree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.right,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level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lang="en-US" sz="14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4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R--- 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3" name="Google Shape;243;p14"/>
          <p:cNvSpPr txBox="1"/>
          <p:nvPr>
            <p:ph type="title"/>
          </p:nvPr>
        </p:nvSpPr>
        <p:spPr>
          <a:xfrm>
            <a:off x="0" y="39261"/>
            <a:ext cx="12192000" cy="6465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erdana"/>
              <a:buNone/>
            </a:pPr>
            <a:r>
              <a:rPr lang="en-US"/>
              <a:t>Q01 - Answer</a:t>
            </a:r>
            <a:endParaRPr/>
          </a:p>
        </p:txBody>
      </p:sp>
      <p:sp>
        <p:nvSpPr>
          <p:cNvPr id="244" name="Google Shape;244;p14"/>
          <p:cNvSpPr/>
          <p:nvPr/>
        </p:nvSpPr>
        <p:spPr>
          <a:xfrm>
            <a:off x="914400" y="829139"/>
            <a:ext cx="28956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Functions</a:t>
            </a:r>
            <a:endParaRPr/>
          </a:p>
        </p:txBody>
      </p:sp>
      <p:sp>
        <p:nvSpPr>
          <p:cNvPr id="245" name="Google Shape;245;p14"/>
          <p:cNvSpPr/>
          <p:nvPr/>
        </p:nvSpPr>
        <p:spPr>
          <a:xfrm>
            <a:off x="4200128" y="2521080"/>
            <a:ext cx="622243" cy="375045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4"/>
          <p:cNvSpPr/>
          <p:nvPr/>
        </p:nvSpPr>
        <p:spPr>
          <a:xfrm>
            <a:off x="4914222" y="2597806"/>
            <a:ext cx="2403474" cy="221594"/>
          </a:xfrm>
          <a:prstGeom prst="rect">
            <a:avLst/>
          </a:prstGeom>
          <a:noFill/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4"/>
          <p:cNvSpPr/>
          <p:nvPr/>
        </p:nvSpPr>
        <p:spPr>
          <a:xfrm>
            <a:off x="874753" y="2266890"/>
            <a:ext cx="3233524" cy="92333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Base case for recursion. If there’s no node, do nothing (stop).</a:t>
            </a:r>
            <a:endParaRPr/>
          </a:p>
        </p:txBody>
      </p:sp>
      <p:sp>
        <p:nvSpPr>
          <p:cNvPr id="248" name="Google Shape;248;p14"/>
          <p:cNvSpPr/>
          <p:nvPr/>
        </p:nvSpPr>
        <p:spPr>
          <a:xfrm>
            <a:off x="936171" y="1276290"/>
            <a:ext cx="38862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Other Functions: Printing the Tree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5"/>
          <p:cNvSpPr/>
          <p:nvPr/>
        </p:nvSpPr>
        <p:spPr>
          <a:xfrm>
            <a:off x="4710899" y="1915432"/>
            <a:ext cx="6984787" cy="2246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printTree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level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4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prefix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4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Root: 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"""</a:t>
            </a:r>
            <a:r>
              <a:rPr lang="en-US" sz="14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Prints the tree structure for better visualization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"""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is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4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*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level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prefix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lang="en-US" sz="14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str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.item))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or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lang="en-US" sz="14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printTree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.left,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level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lang="en-US" sz="14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4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L--- 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lang="en-US" sz="14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printTree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.right,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level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lang="en-US" sz="14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4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R--- 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5" name="Google Shape;255;p15"/>
          <p:cNvSpPr txBox="1"/>
          <p:nvPr>
            <p:ph type="title"/>
          </p:nvPr>
        </p:nvSpPr>
        <p:spPr>
          <a:xfrm>
            <a:off x="0" y="39261"/>
            <a:ext cx="12192000" cy="6465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erdana"/>
              <a:buNone/>
            </a:pPr>
            <a:r>
              <a:rPr lang="en-US"/>
              <a:t>Q01 - Answer</a:t>
            </a:r>
            <a:endParaRPr/>
          </a:p>
        </p:txBody>
      </p:sp>
      <p:sp>
        <p:nvSpPr>
          <p:cNvPr id="256" name="Google Shape;256;p15"/>
          <p:cNvSpPr/>
          <p:nvPr/>
        </p:nvSpPr>
        <p:spPr>
          <a:xfrm>
            <a:off x="914400" y="829139"/>
            <a:ext cx="28956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Functions</a:t>
            </a:r>
            <a:endParaRPr/>
          </a:p>
        </p:txBody>
      </p:sp>
      <p:sp>
        <p:nvSpPr>
          <p:cNvPr id="257" name="Google Shape;257;p15"/>
          <p:cNvSpPr/>
          <p:nvPr/>
        </p:nvSpPr>
        <p:spPr>
          <a:xfrm>
            <a:off x="4419398" y="2718509"/>
            <a:ext cx="622243" cy="375045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5"/>
          <p:cNvSpPr/>
          <p:nvPr/>
        </p:nvSpPr>
        <p:spPr>
          <a:xfrm>
            <a:off x="5333142" y="2817222"/>
            <a:ext cx="4572858" cy="230778"/>
          </a:xfrm>
          <a:prstGeom prst="rect">
            <a:avLst/>
          </a:prstGeom>
          <a:noFill/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5"/>
          <p:cNvSpPr/>
          <p:nvPr/>
        </p:nvSpPr>
        <p:spPr>
          <a:xfrm>
            <a:off x="1012950" y="2083943"/>
            <a:ext cx="3233524" cy="397031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 " * level creates indentation (number of spaces equals level).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prefix shows whether this node is the root, a left child, or a right child.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str(node.item) prints the node’s value.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Effect: nodes deeper in the tree appear further to the right.</a:t>
            </a:r>
            <a:endParaRPr/>
          </a:p>
        </p:txBody>
      </p:sp>
      <p:sp>
        <p:nvSpPr>
          <p:cNvPr id="260" name="Google Shape;260;p15"/>
          <p:cNvSpPr/>
          <p:nvPr/>
        </p:nvSpPr>
        <p:spPr>
          <a:xfrm>
            <a:off x="936171" y="1276290"/>
            <a:ext cx="38862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Other Functions: Printing the Tree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6"/>
          <p:cNvSpPr/>
          <p:nvPr/>
        </p:nvSpPr>
        <p:spPr>
          <a:xfrm>
            <a:off x="4710899" y="1915432"/>
            <a:ext cx="6984787" cy="2246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printTree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level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4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prefix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4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Root: 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"""</a:t>
            </a:r>
            <a:r>
              <a:rPr lang="en-US" sz="14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Prints the tree structure for better visualization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"""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is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4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*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level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prefix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lang="en-US" sz="14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str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.item))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or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lang="en-US" sz="14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printTree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.left,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level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lang="en-US" sz="14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4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L--- 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lang="en-US" sz="14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printTree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.right,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level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lang="en-US" sz="14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4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R--- 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7" name="Google Shape;267;p16"/>
          <p:cNvSpPr txBox="1"/>
          <p:nvPr>
            <p:ph type="title"/>
          </p:nvPr>
        </p:nvSpPr>
        <p:spPr>
          <a:xfrm>
            <a:off x="0" y="39261"/>
            <a:ext cx="12192000" cy="6465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erdana"/>
              <a:buNone/>
            </a:pPr>
            <a:r>
              <a:rPr lang="en-US"/>
              <a:t>Q01 - Answer</a:t>
            </a:r>
            <a:endParaRPr/>
          </a:p>
        </p:txBody>
      </p:sp>
      <p:sp>
        <p:nvSpPr>
          <p:cNvPr id="268" name="Google Shape;268;p16"/>
          <p:cNvSpPr/>
          <p:nvPr/>
        </p:nvSpPr>
        <p:spPr>
          <a:xfrm>
            <a:off x="914400" y="829139"/>
            <a:ext cx="28956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Functions</a:t>
            </a:r>
            <a:endParaRPr/>
          </a:p>
        </p:txBody>
      </p:sp>
      <p:sp>
        <p:nvSpPr>
          <p:cNvPr id="269" name="Google Shape;269;p16"/>
          <p:cNvSpPr/>
          <p:nvPr/>
        </p:nvSpPr>
        <p:spPr>
          <a:xfrm>
            <a:off x="4511249" y="2995129"/>
            <a:ext cx="622243" cy="375045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6"/>
          <p:cNvSpPr/>
          <p:nvPr/>
        </p:nvSpPr>
        <p:spPr>
          <a:xfrm>
            <a:off x="5333142" y="3038816"/>
            <a:ext cx="3429858" cy="237784"/>
          </a:xfrm>
          <a:prstGeom prst="rect">
            <a:avLst/>
          </a:prstGeom>
          <a:noFill/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6"/>
          <p:cNvSpPr/>
          <p:nvPr/>
        </p:nvSpPr>
        <p:spPr>
          <a:xfrm>
            <a:off x="936171" y="2859485"/>
            <a:ext cx="3233524" cy="64633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Only recurse if the node has children. </a:t>
            </a:r>
            <a:endParaRPr/>
          </a:p>
        </p:txBody>
      </p:sp>
      <p:sp>
        <p:nvSpPr>
          <p:cNvPr id="272" name="Google Shape;272;p16"/>
          <p:cNvSpPr/>
          <p:nvPr/>
        </p:nvSpPr>
        <p:spPr>
          <a:xfrm>
            <a:off x="936171" y="1276290"/>
            <a:ext cx="38862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Other Functions: Printing the Tree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7"/>
          <p:cNvSpPr/>
          <p:nvPr/>
        </p:nvSpPr>
        <p:spPr>
          <a:xfrm>
            <a:off x="4710899" y="1915432"/>
            <a:ext cx="6984787" cy="2246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printTree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level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4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prefix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4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Root: 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"""</a:t>
            </a:r>
            <a:r>
              <a:rPr lang="en-US" sz="14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Prints the tree structure for better visualization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"""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is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4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*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level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prefix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lang="en-US" sz="14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str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.item))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or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lang="en-US" sz="14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printTree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.left,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level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lang="en-US" sz="14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4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L--- 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lang="en-US" sz="14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printTree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.right,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level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lang="en-US" sz="14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4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R--- 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9" name="Google Shape;279;p17"/>
          <p:cNvSpPr txBox="1"/>
          <p:nvPr>
            <p:ph type="title"/>
          </p:nvPr>
        </p:nvSpPr>
        <p:spPr>
          <a:xfrm>
            <a:off x="0" y="39261"/>
            <a:ext cx="12192000" cy="6465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erdana"/>
              <a:buNone/>
            </a:pPr>
            <a:r>
              <a:rPr lang="en-US"/>
              <a:t>Q01 - Answer</a:t>
            </a:r>
            <a:endParaRPr/>
          </a:p>
        </p:txBody>
      </p:sp>
      <p:sp>
        <p:nvSpPr>
          <p:cNvPr id="280" name="Google Shape;280;p17"/>
          <p:cNvSpPr/>
          <p:nvPr/>
        </p:nvSpPr>
        <p:spPr>
          <a:xfrm>
            <a:off x="914400" y="829139"/>
            <a:ext cx="28956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Functions</a:t>
            </a:r>
            <a:endParaRPr/>
          </a:p>
        </p:txBody>
      </p:sp>
      <p:sp>
        <p:nvSpPr>
          <p:cNvPr id="281" name="Google Shape;281;p17"/>
          <p:cNvSpPr/>
          <p:nvPr/>
        </p:nvSpPr>
        <p:spPr>
          <a:xfrm>
            <a:off x="4542612" y="3318293"/>
            <a:ext cx="622243" cy="375045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7"/>
          <p:cNvSpPr/>
          <p:nvPr/>
        </p:nvSpPr>
        <p:spPr>
          <a:xfrm>
            <a:off x="5333142" y="3200400"/>
            <a:ext cx="5156150" cy="492938"/>
          </a:xfrm>
          <a:prstGeom prst="rect">
            <a:avLst/>
          </a:prstGeom>
          <a:noFill/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7"/>
          <p:cNvSpPr/>
          <p:nvPr/>
        </p:nvSpPr>
        <p:spPr>
          <a:xfrm>
            <a:off x="997967" y="2961872"/>
            <a:ext cx="3233524" cy="120032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Recurse on the left child first. Increase indentation by 4 spaces, and change the prefix to 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"L--- ".</a:t>
            </a:r>
            <a:endParaRPr/>
          </a:p>
        </p:txBody>
      </p:sp>
      <p:sp>
        <p:nvSpPr>
          <p:cNvPr id="284" name="Google Shape;284;p17"/>
          <p:cNvSpPr/>
          <p:nvPr/>
        </p:nvSpPr>
        <p:spPr>
          <a:xfrm>
            <a:off x="936171" y="1276290"/>
            <a:ext cx="38862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Other Functions: Printing the Tree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8"/>
          <p:cNvSpPr/>
          <p:nvPr/>
        </p:nvSpPr>
        <p:spPr>
          <a:xfrm>
            <a:off x="4710899" y="1915432"/>
            <a:ext cx="6984787" cy="2246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printTree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level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4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prefix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4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Root: 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"""</a:t>
            </a:r>
            <a:r>
              <a:rPr lang="en-US" sz="14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Prints the tree structure for better visualization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"""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is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4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*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level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prefix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lang="en-US" sz="14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str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.item))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or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lang="en-US" sz="14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printTree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.left,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level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lang="en-US" sz="14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4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L--- 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lang="en-US" sz="14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printTree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.right,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level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lang="en-US" sz="14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4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R--- 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1" name="Google Shape;291;p18"/>
          <p:cNvSpPr txBox="1"/>
          <p:nvPr>
            <p:ph type="title"/>
          </p:nvPr>
        </p:nvSpPr>
        <p:spPr>
          <a:xfrm>
            <a:off x="0" y="39261"/>
            <a:ext cx="12192000" cy="6465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erdana"/>
              <a:buNone/>
            </a:pPr>
            <a:r>
              <a:rPr lang="en-US"/>
              <a:t>Q01 - Answer</a:t>
            </a:r>
            <a:endParaRPr/>
          </a:p>
        </p:txBody>
      </p:sp>
      <p:sp>
        <p:nvSpPr>
          <p:cNvPr id="292" name="Google Shape;292;p18"/>
          <p:cNvSpPr/>
          <p:nvPr/>
        </p:nvSpPr>
        <p:spPr>
          <a:xfrm>
            <a:off x="914400" y="829139"/>
            <a:ext cx="28956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Functions</a:t>
            </a:r>
            <a:endParaRPr/>
          </a:p>
        </p:txBody>
      </p:sp>
      <p:sp>
        <p:nvSpPr>
          <p:cNvPr id="293" name="Google Shape;293;p18"/>
          <p:cNvSpPr/>
          <p:nvPr/>
        </p:nvSpPr>
        <p:spPr>
          <a:xfrm>
            <a:off x="4586588" y="3722457"/>
            <a:ext cx="622243" cy="375045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8"/>
          <p:cNvSpPr/>
          <p:nvPr/>
        </p:nvSpPr>
        <p:spPr>
          <a:xfrm>
            <a:off x="5563062" y="3693338"/>
            <a:ext cx="5156150" cy="492938"/>
          </a:xfrm>
          <a:prstGeom prst="rect">
            <a:avLst/>
          </a:prstGeom>
          <a:noFill/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8"/>
          <p:cNvSpPr/>
          <p:nvPr/>
        </p:nvSpPr>
        <p:spPr>
          <a:xfrm>
            <a:off x="965200" y="3314894"/>
            <a:ext cx="3233524" cy="120032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Recurse on the right child next, with the same deeper indentation and 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"R--- " 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prefix.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6" name="Google Shape;296;p18"/>
          <p:cNvSpPr/>
          <p:nvPr/>
        </p:nvSpPr>
        <p:spPr>
          <a:xfrm>
            <a:off x="936171" y="1276290"/>
            <a:ext cx="38862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Other Functions: Printing the Tree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9"/>
          <p:cNvSpPr txBox="1"/>
          <p:nvPr>
            <p:ph type="title"/>
          </p:nvPr>
        </p:nvSpPr>
        <p:spPr>
          <a:xfrm>
            <a:off x="0" y="39261"/>
            <a:ext cx="12192000" cy="6465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erdana"/>
              <a:buNone/>
            </a:pPr>
            <a:r>
              <a:rPr lang="en-US"/>
              <a:t>Q01 - Answer</a:t>
            </a:r>
            <a:endParaRPr/>
          </a:p>
        </p:txBody>
      </p:sp>
      <p:sp>
        <p:nvSpPr>
          <p:cNvPr id="303" name="Google Shape;303;p19"/>
          <p:cNvSpPr/>
          <p:nvPr/>
        </p:nvSpPr>
        <p:spPr>
          <a:xfrm>
            <a:off x="914400" y="829139"/>
            <a:ext cx="28956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Functions</a:t>
            </a:r>
            <a:endParaRPr/>
          </a:p>
        </p:txBody>
      </p:sp>
      <p:sp>
        <p:nvSpPr>
          <p:cNvPr id="304" name="Google Shape;304;p19"/>
          <p:cNvSpPr/>
          <p:nvPr/>
        </p:nvSpPr>
        <p:spPr>
          <a:xfrm>
            <a:off x="1143000" y="1942980"/>
            <a:ext cx="4724400" cy="147732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Suppose we insert the values in this order: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50, 30, 70, 20, 40, 60, 80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5" name="Google Shape;305;p19"/>
          <p:cNvSpPr/>
          <p:nvPr/>
        </p:nvSpPr>
        <p:spPr>
          <a:xfrm>
            <a:off x="1168400" y="3429000"/>
            <a:ext cx="31242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This creates the BST:</a:t>
            </a:r>
            <a:endParaRPr/>
          </a:p>
        </p:txBody>
      </p:sp>
      <p:sp>
        <p:nvSpPr>
          <p:cNvPr id="306" name="Google Shape;306;p19"/>
          <p:cNvSpPr/>
          <p:nvPr/>
        </p:nvSpPr>
        <p:spPr>
          <a:xfrm>
            <a:off x="6096000" y="3429000"/>
            <a:ext cx="31242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printTree(root) output:</a:t>
            </a:r>
            <a:endParaRPr/>
          </a:p>
        </p:txBody>
      </p:sp>
      <p:sp>
        <p:nvSpPr>
          <p:cNvPr id="307" name="Google Shape;307;p19"/>
          <p:cNvSpPr/>
          <p:nvPr/>
        </p:nvSpPr>
        <p:spPr>
          <a:xfrm>
            <a:off x="5892800" y="3886200"/>
            <a:ext cx="6096000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7000"/>
                </a:solidFill>
                <a:latin typeface="Consolas"/>
                <a:ea typeface="Consolas"/>
                <a:cs typeface="Consolas"/>
                <a:sym typeface="Consolas"/>
              </a:rPr>
              <a:t>    Root: 50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7000"/>
                </a:solidFill>
                <a:latin typeface="Consolas"/>
                <a:ea typeface="Consolas"/>
                <a:cs typeface="Consolas"/>
                <a:sym typeface="Consolas"/>
              </a:rPr>
              <a:t>    L--- 30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7000"/>
                </a:solidFill>
                <a:latin typeface="Consolas"/>
                <a:ea typeface="Consolas"/>
                <a:cs typeface="Consolas"/>
                <a:sym typeface="Consolas"/>
              </a:rPr>
              <a:t>        L--- 20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7000"/>
                </a:solidFill>
                <a:latin typeface="Consolas"/>
                <a:ea typeface="Consolas"/>
                <a:cs typeface="Consolas"/>
                <a:sym typeface="Consolas"/>
              </a:rPr>
              <a:t>        R--- 40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7000"/>
                </a:solidFill>
                <a:latin typeface="Consolas"/>
                <a:ea typeface="Consolas"/>
                <a:cs typeface="Consolas"/>
                <a:sym typeface="Consolas"/>
              </a:rPr>
              <a:t>    R--- 70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7000"/>
                </a:solidFill>
                <a:latin typeface="Consolas"/>
                <a:ea typeface="Consolas"/>
                <a:cs typeface="Consolas"/>
                <a:sym typeface="Consolas"/>
              </a:rPr>
              <a:t>        L--- 60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7000"/>
                </a:solidFill>
                <a:latin typeface="Consolas"/>
                <a:ea typeface="Consolas"/>
                <a:cs typeface="Consolas"/>
                <a:sym typeface="Consolas"/>
              </a:rPr>
              <a:t>        R--- 80</a:t>
            </a:r>
            <a:endParaRPr b="0" sz="1800">
              <a:solidFill>
                <a:srgbClr val="007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8" name="Google Shape;308;p19"/>
          <p:cNvSpPr/>
          <p:nvPr/>
        </p:nvSpPr>
        <p:spPr>
          <a:xfrm>
            <a:off x="1143000" y="4078982"/>
            <a:ext cx="3124200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5684"/>
                </a:solidFill>
                <a:latin typeface="Consolas"/>
                <a:ea typeface="Consolas"/>
                <a:cs typeface="Consolas"/>
                <a:sym typeface="Consolas"/>
              </a:rPr>
              <a:t>        50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5684"/>
                </a:solidFill>
                <a:latin typeface="Consolas"/>
                <a:ea typeface="Consolas"/>
                <a:cs typeface="Consolas"/>
                <a:sym typeface="Consolas"/>
              </a:rPr>
              <a:t>       /  \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5684"/>
                </a:solidFill>
                <a:latin typeface="Consolas"/>
                <a:ea typeface="Consolas"/>
                <a:cs typeface="Consolas"/>
                <a:sym typeface="Consolas"/>
              </a:rPr>
              <a:t>     30    70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5684"/>
                </a:solidFill>
                <a:latin typeface="Consolas"/>
                <a:ea typeface="Consolas"/>
                <a:cs typeface="Consolas"/>
                <a:sym typeface="Consolas"/>
              </a:rPr>
              <a:t>    / \    / \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5684"/>
                </a:solidFill>
                <a:latin typeface="Consolas"/>
                <a:ea typeface="Consolas"/>
                <a:cs typeface="Consolas"/>
                <a:sym typeface="Consolas"/>
              </a:rPr>
              <a:t>  20  40  60  80</a:t>
            </a:r>
            <a:endParaRPr b="0" sz="1800">
              <a:solidFill>
                <a:srgbClr val="00568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9" name="Google Shape;309;p19"/>
          <p:cNvSpPr/>
          <p:nvPr/>
        </p:nvSpPr>
        <p:spPr>
          <a:xfrm>
            <a:off x="936170" y="1276290"/>
            <a:ext cx="462642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Other Functions: Printing the Tree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0"/>
          <p:cNvSpPr/>
          <p:nvPr/>
        </p:nvSpPr>
        <p:spPr>
          <a:xfrm>
            <a:off x="5249390" y="1379280"/>
            <a:ext cx="9942035" cy="489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__name__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== </a:t>
            </a:r>
            <a:r>
              <a:rPr lang="en-US" sz="12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2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__main__</a:t>
            </a:r>
            <a:r>
              <a:rPr lang="en-US" sz="12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2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endParaRPr sz="1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2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2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Binary Search Tree Insertion Program</a:t>
            </a:r>
            <a:r>
              <a:rPr lang="en-US" sz="12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2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2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===================================</a:t>
            </a:r>
            <a:r>
              <a:rPr lang="en-US" sz="12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2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2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try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12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2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input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200">
                <a:solidFill>
                  <a:srgbClr val="B776FB"/>
                </a:solidFill>
                <a:latin typeface="Consolas"/>
                <a:ea typeface="Consolas"/>
                <a:cs typeface="Consolas"/>
                <a:sym typeface="Consolas"/>
              </a:rPr>
              <a:t>\n</a:t>
            </a:r>
            <a:r>
              <a:rPr lang="en-US" sz="12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Enter a value to insert (-1 to quit): </a:t>
            </a:r>
            <a:r>
              <a:rPr lang="en-US" sz="12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12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not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 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lang="en-US" sz="12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continue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 </a:t>
            </a:r>
            <a:r>
              <a:rPr lang="en-US" sz="12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Ignore empty inputs</a:t>
            </a:r>
            <a:endParaRPr sz="1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12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2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12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== -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lang="en-US" sz="12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break</a:t>
            </a:r>
            <a:endParaRPr sz="1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12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2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insertBSTNode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12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200">
                <a:solidFill>
                  <a:srgbClr val="B776FB"/>
                </a:solidFill>
                <a:latin typeface="Consolas"/>
                <a:ea typeface="Consolas"/>
                <a:cs typeface="Consolas"/>
                <a:sym typeface="Consolas"/>
              </a:rPr>
              <a:t>\n</a:t>
            </a:r>
            <a:r>
              <a:rPr lang="en-US" sz="12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Current BST structure:</a:t>
            </a:r>
            <a:r>
              <a:rPr lang="en-US" sz="12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12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printTree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2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except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ValueError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12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2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Please enter a valid integer!</a:t>
            </a:r>
            <a:r>
              <a:rPr lang="en-US" sz="12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2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200">
                <a:solidFill>
                  <a:srgbClr val="B776FB"/>
                </a:solidFill>
                <a:latin typeface="Consolas"/>
                <a:ea typeface="Consolas"/>
                <a:cs typeface="Consolas"/>
                <a:sym typeface="Consolas"/>
              </a:rPr>
              <a:t>\n</a:t>
            </a:r>
            <a:r>
              <a:rPr lang="en-US" sz="12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Final BST structure:</a:t>
            </a:r>
            <a:r>
              <a:rPr lang="en-US" sz="12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2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printTree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sz="1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6" name="Google Shape;316;p20"/>
          <p:cNvSpPr txBox="1"/>
          <p:nvPr>
            <p:ph type="title"/>
          </p:nvPr>
        </p:nvSpPr>
        <p:spPr>
          <a:xfrm>
            <a:off x="0" y="39261"/>
            <a:ext cx="12192000" cy="6465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erdana"/>
              <a:buNone/>
            </a:pPr>
            <a:r>
              <a:rPr lang="en-US"/>
              <a:t>Q01 - Answer</a:t>
            </a:r>
            <a:endParaRPr/>
          </a:p>
        </p:txBody>
      </p:sp>
      <p:sp>
        <p:nvSpPr>
          <p:cNvPr id="317" name="Google Shape;317;p20"/>
          <p:cNvSpPr/>
          <p:nvPr/>
        </p:nvSpPr>
        <p:spPr>
          <a:xfrm>
            <a:off x="1066800" y="1133208"/>
            <a:ext cx="339000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Testing our functions</a:t>
            </a:r>
            <a:endParaRPr/>
          </a:p>
        </p:txBody>
      </p:sp>
      <p:sp>
        <p:nvSpPr>
          <p:cNvPr id="318" name="Google Shape;318;p20"/>
          <p:cNvSpPr/>
          <p:nvPr/>
        </p:nvSpPr>
        <p:spPr>
          <a:xfrm>
            <a:off x="894412" y="2514166"/>
            <a:ext cx="3390002" cy="2862322"/>
          </a:xfrm>
          <a:prstGeom prst="rect">
            <a:avLst/>
          </a:prstGeom>
          <a:noFill/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</a:t>
            </a:r>
            <a:r>
              <a:rPr b="1" lang="en-US" sz="1800">
                <a:solidFill>
                  <a:srgbClr val="00568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__name__ == "__main__": 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ensures the code only runs when you directly execute this file (not when it’s imported as a module).</a:t>
            </a:r>
            <a:endParaRPr/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5684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rgbClr val="00568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root = None: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Start with an empty tree.</a:t>
            </a:r>
            <a:endParaRPr/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9" name="Google Shape;319;p20"/>
          <p:cNvSpPr/>
          <p:nvPr/>
        </p:nvSpPr>
        <p:spPr>
          <a:xfrm rot="-1987309">
            <a:off x="4273355" y="1916739"/>
            <a:ext cx="1005087" cy="351373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0"/>
          <p:cNvSpPr/>
          <p:nvPr/>
        </p:nvSpPr>
        <p:spPr>
          <a:xfrm>
            <a:off x="5240107" y="1359020"/>
            <a:ext cx="2751611" cy="461665"/>
          </a:xfrm>
          <a:prstGeom prst="rect">
            <a:avLst/>
          </a:prstGeom>
          <a:noFill/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1"/>
          <p:cNvSpPr/>
          <p:nvPr/>
        </p:nvSpPr>
        <p:spPr>
          <a:xfrm>
            <a:off x="5249390" y="1379280"/>
            <a:ext cx="9942035" cy="489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__name__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== </a:t>
            </a:r>
            <a:r>
              <a:rPr lang="en-US" sz="12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2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__main__</a:t>
            </a:r>
            <a:r>
              <a:rPr lang="en-US" sz="12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2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endParaRPr sz="1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2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2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Binary Search Tree Insertion Program</a:t>
            </a:r>
            <a:r>
              <a:rPr lang="en-US" sz="12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2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2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===================================</a:t>
            </a:r>
            <a:r>
              <a:rPr lang="en-US" sz="12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2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2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try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12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2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input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200">
                <a:solidFill>
                  <a:srgbClr val="B776FB"/>
                </a:solidFill>
                <a:latin typeface="Consolas"/>
                <a:ea typeface="Consolas"/>
                <a:cs typeface="Consolas"/>
                <a:sym typeface="Consolas"/>
              </a:rPr>
              <a:t>\n</a:t>
            </a:r>
            <a:r>
              <a:rPr lang="en-US" sz="12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Enter a value to insert (-1 to quit): </a:t>
            </a:r>
            <a:r>
              <a:rPr lang="en-US" sz="12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12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not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 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lang="en-US" sz="12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continue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 </a:t>
            </a:r>
            <a:r>
              <a:rPr lang="en-US" sz="12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Ignore empty inputs</a:t>
            </a:r>
            <a:endParaRPr sz="1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12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2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12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== -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lang="en-US" sz="12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break</a:t>
            </a:r>
            <a:endParaRPr sz="1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12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2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insertBSTNode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12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200">
                <a:solidFill>
                  <a:srgbClr val="B776FB"/>
                </a:solidFill>
                <a:latin typeface="Consolas"/>
                <a:ea typeface="Consolas"/>
                <a:cs typeface="Consolas"/>
                <a:sym typeface="Consolas"/>
              </a:rPr>
              <a:t>\n</a:t>
            </a:r>
            <a:r>
              <a:rPr lang="en-US" sz="12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Current BST structure:</a:t>
            </a:r>
            <a:r>
              <a:rPr lang="en-US" sz="12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12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printTree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2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except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ValueError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12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2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Please enter a valid integer!</a:t>
            </a:r>
            <a:r>
              <a:rPr lang="en-US" sz="12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2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200">
                <a:solidFill>
                  <a:srgbClr val="B776FB"/>
                </a:solidFill>
                <a:latin typeface="Consolas"/>
                <a:ea typeface="Consolas"/>
                <a:cs typeface="Consolas"/>
                <a:sym typeface="Consolas"/>
              </a:rPr>
              <a:t>\n</a:t>
            </a:r>
            <a:r>
              <a:rPr lang="en-US" sz="12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Final BST structure:</a:t>
            </a:r>
            <a:r>
              <a:rPr lang="en-US" sz="12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2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printTree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sz="1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7" name="Google Shape;327;p21"/>
          <p:cNvSpPr txBox="1"/>
          <p:nvPr>
            <p:ph type="title"/>
          </p:nvPr>
        </p:nvSpPr>
        <p:spPr>
          <a:xfrm>
            <a:off x="0" y="39261"/>
            <a:ext cx="12192000" cy="6465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erdana"/>
              <a:buNone/>
            </a:pPr>
            <a:r>
              <a:rPr lang="en-US"/>
              <a:t>Q01 - Answer</a:t>
            </a:r>
            <a:endParaRPr/>
          </a:p>
        </p:txBody>
      </p:sp>
      <p:sp>
        <p:nvSpPr>
          <p:cNvPr id="328" name="Google Shape;328;p21"/>
          <p:cNvSpPr/>
          <p:nvPr/>
        </p:nvSpPr>
        <p:spPr>
          <a:xfrm>
            <a:off x="1066800" y="1133208"/>
            <a:ext cx="339000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Testing our functions</a:t>
            </a:r>
            <a:endParaRPr/>
          </a:p>
        </p:txBody>
      </p:sp>
      <p:sp>
        <p:nvSpPr>
          <p:cNvPr id="329" name="Google Shape;329;p21"/>
          <p:cNvSpPr/>
          <p:nvPr/>
        </p:nvSpPr>
        <p:spPr>
          <a:xfrm>
            <a:off x="874882" y="2117501"/>
            <a:ext cx="3390002" cy="1477328"/>
          </a:xfrm>
          <a:prstGeom prst="rect">
            <a:avLst/>
          </a:prstGeom>
          <a:noFill/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Continuously ask the user for integers.</a:t>
            </a:r>
            <a:endParaRPr/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input is empty → ignore.</a:t>
            </a:r>
            <a:endParaRPr/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0" name="Google Shape;330;p21"/>
          <p:cNvSpPr/>
          <p:nvPr/>
        </p:nvSpPr>
        <p:spPr>
          <a:xfrm>
            <a:off x="4395467" y="2680479"/>
            <a:ext cx="915258" cy="351373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1"/>
          <p:cNvSpPr/>
          <p:nvPr/>
        </p:nvSpPr>
        <p:spPr>
          <a:xfrm>
            <a:off x="5523413" y="2283333"/>
            <a:ext cx="5774175" cy="1145667"/>
          </a:xfrm>
          <a:prstGeom prst="rect">
            <a:avLst/>
          </a:prstGeom>
          <a:noFill/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2"/>
          <p:cNvSpPr/>
          <p:nvPr/>
        </p:nvSpPr>
        <p:spPr>
          <a:xfrm>
            <a:off x="5249390" y="1379280"/>
            <a:ext cx="9942035" cy="489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__name__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== </a:t>
            </a:r>
            <a:r>
              <a:rPr lang="en-US" sz="12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2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__main__</a:t>
            </a:r>
            <a:r>
              <a:rPr lang="en-US" sz="12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2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endParaRPr sz="1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2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2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Binary Search Tree Insertion Program</a:t>
            </a:r>
            <a:r>
              <a:rPr lang="en-US" sz="12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2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2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===================================</a:t>
            </a:r>
            <a:r>
              <a:rPr lang="en-US" sz="12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2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2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try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12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2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input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200">
                <a:solidFill>
                  <a:srgbClr val="B776FB"/>
                </a:solidFill>
                <a:latin typeface="Consolas"/>
                <a:ea typeface="Consolas"/>
                <a:cs typeface="Consolas"/>
                <a:sym typeface="Consolas"/>
              </a:rPr>
              <a:t>\n</a:t>
            </a:r>
            <a:r>
              <a:rPr lang="en-US" sz="12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Enter a value to insert (-1 to quit): </a:t>
            </a:r>
            <a:r>
              <a:rPr lang="en-US" sz="12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12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not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 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lang="en-US" sz="12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continue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 </a:t>
            </a:r>
            <a:r>
              <a:rPr lang="en-US" sz="12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Ignore empty inputs</a:t>
            </a:r>
            <a:endParaRPr sz="1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12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2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12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== -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lang="en-US" sz="12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break</a:t>
            </a:r>
            <a:endParaRPr sz="1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12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2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insertBSTNode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12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200">
                <a:solidFill>
                  <a:srgbClr val="B776FB"/>
                </a:solidFill>
                <a:latin typeface="Consolas"/>
                <a:ea typeface="Consolas"/>
                <a:cs typeface="Consolas"/>
                <a:sym typeface="Consolas"/>
              </a:rPr>
              <a:t>\n</a:t>
            </a:r>
            <a:r>
              <a:rPr lang="en-US" sz="12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Current BST structure:</a:t>
            </a:r>
            <a:r>
              <a:rPr lang="en-US" sz="12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12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printTree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2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except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ValueError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12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2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Please enter a valid integer!</a:t>
            </a:r>
            <a:r>
              <a:rPr lang="en-US" sz="12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2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200">
                <a:solidFill>
                  <a:srgbClr val="B776FB"/>
                </a:solidFill>
                <a:latin typeface="Consolas"/>
                <a:ea typeface="Consolas"/>
                <a:cs typeface="Consolas"/>
                <a:sym typeface="Consolas"/>
              </a:rPr>
              <a:t>\n</a:t>
            </a:r>
            <a:r>
              <a:rPr lang="en-US" sz="12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Final BST structure:</a:t>
            </a:r>
            <a:r>
              <a:rPr lang="en-US" sz="12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2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printTree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sz="1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8" name="Google Shape;338;p22"/>
          <p:cNvSpPr txBox="1"/>
          <p:nvPr>
            <p:ph type="title"/>
          </p:nvPr>
        </p:nvSpPr>
        <p:spPr>
          <a:xfrm>
            <a:off x="0" y="39261"/>
            <a:ext cx="12192000" cy="6465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erdana"/>
              <a:buNone/>
            </a:pPr>
            <a:r>
              <a:rPr lang="en-US"/>
              <a:t>Q01 - Answer</a:t>
            </a:r>
            <a:endParaRPr/>
          </a:p>
        </p:txBody>
      </p:sp>
      <p:sp>
        <p:nvSpPr>
          <p:cNvPr id="339" name="Google Shape;339;p22"/>
          <p:cNvSpPr/>
          <p:nvPr/>
        </p:nvSpPr>
        <p:spPr>
          <a:xfrm>
            <a:off x="1066800" y="1133208"/>
            <a:ext cx="339000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Testing our functions</a:t>
            </a:r>
            <a:endParaRPr/>
          </a:p>
        </p:txBody>
      </p:sp>
      <p:sp>
        <p:nvSpPr>
          <p:cNvPr id="340" name="Google Shape;340;p22"/>
          <p:cNvSpPr/>
          <p:nvPr/>
        </p:nvSpPr>
        <p:spPr>
          <a:xfrm>
            <a:off x="894412" y="2791168"/>
            <a:ext cx="3390002" cy="2308324"/>
          </a:xfrm>
          <a:prstGeom prst="rect">
            <a:avLst/>
          </a:prstGeom>
          <a:noFill/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Convert input to int.</a:t>
            </a:r>
            <a:endParaRPr/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 </a:t>
            </a:r>
            <a:r>
              <a:rPr b="1" lang="en-US" sz="1800">
                <a:solidFill>
                  <a:srgbClr val="005684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-1 → stop 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inserting.</a:t>
            </a:r>
            <a:endParaRPr/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Otherwise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insert into BST, then print the updated structure.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1" name="Google Shape;341;p22"/>
          <p:cNvSpPr/>
          <p:nvPr/>
        </p:nvSpPr>
        <p:spPr>
          <a:xfrm>
            <a:off x="4456802" y="3650415"/>
            <a:ext cx="915258" cy="351373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2"/>
          <p:cNvSpPr/>
          <p:nvPr/>
        </p:nvSpPr>
        <p:spPr>
          <a:xfrm>
            <a:off x="5523413" y="3276600"/>
            <a:ext cx="5774175" cy="1524000"/>
          </a:xfrm>
          <a:prstGeom prst="rect">
            <a:avLst/>
          </a:prstGeom>
          <a:noFill/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3"/>
          <p:cNvSpPr/>
          <p:nvPr/>
        </p:nvSpPr>
        <p:spPr>
          <a:xfrm>
            <a:off x="5249390" y="1379280"/>
            <a:ext cx="9942035" cy="489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__name__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== </a:t>
            </a:r>
            <a:r>
              <a:rPr lang="en-US" sz="12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2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__main__</a:t>
            </a:r>
            <a:r>
              <a:rPr lang="en-US" sz="12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2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endParaRPr sz="1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2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2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Binary Search Tree Insertion Program</a:t>
            </a:r>
            <a:r>
              <a:rPr lang="en-US" sz="12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2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2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===================================</a:t>
            </a:r>
            <a:r>
              <a:rPr lang="en-US" sz="12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2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2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try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12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2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input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200">
                <a:solidFill>
                  <a:srgbClr val="B776FB"/>
                </a:solidFill>
                <a:latin typeface="Consolas"/>
                <a:ea typeface="Consolas"/>
                <a:cs typeface="Consolas"/>
                <a:sym typeface="Consolas"/>
              </a:rPr>
              <a:t>\n</a:t>
            </a:r>
            <a:r>
              <a:rPr lang="en-US" sz="12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Enter a value to insert (-1 to quit): </a:t>
            </a:r>
            <a:r>
              <a:rPr lang="en-US" sz="12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12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not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 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lang="en-US" sz="12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continue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 </a:t>
            </a:r>
            <a:r>
              <a:rPr lang="en-US" sz="12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Ignore empty inputs</a:t>
            </a:r>
            <a:endParaRPr sz="1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12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2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12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== -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lang="en-US" sz="12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break</a:t>
            </a:r>
            <a:endParaRPr sz="1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12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2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insertBSTNode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12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200">
                <a:solidFill>
                  <a:srgbClr val="B776FB"/>
                </a:solidFill>
                <a:latin typeface="Consolas"/>
                <a:ea typeface="Consolas"/>
                <a:cs typeface="Consolas"/>
                <a:sym typeface="Consolas"/>
              </a:rPr>
              <a:t>\n</a:t>
            </a:r>
            <a:r>
              <a:rPr lang="en-US" sz="12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Current BST structure:</a:t>
            </a:r>
            <a:r>
              <a:rPr lang="en-US" sz="12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12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printTree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2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except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ValueError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12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2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Please enter a valid integer!</a:t>
            </a:r>
            <a:r>
              <a:rPr lang="en-US" sz="12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2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200">
                <a:solidFill>
                  <a:srgbClr val="B776FB"/>
                </a:solidFill>
                <a:latin typeface="Consolas"/>
                <a:ea typeface="Consolas"/>
                <a:cs typeface="Consolas"/>
                <a:sym typeface="Consolas"/>
              </a:rPr>
              <a:t>\n</a:t>
            </a:r>
            <a:r>
              <a:rPr lang="en-US" sz="12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Final BST structure:</a:t>
            </a:r>
            <a:r>
              <a:rPr lang="en-US" sz="12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2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printTree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sz="1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9" name="Google Shape;349;p23"/>
          <p:cNvSpPr txBox="1"/>
          <p:nvPr>
            <p:ph type="title"/>
          </p:nvPr>
        </p:nvSpPr>
        <p:spPr>
          <a:xfrm>
            <a:off x="0" y="39261"/>
            <a:ext cx="12192000" cy="6465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erdana"/>
              <a:buNone/>
            </a:pPr>
            <a:r>
              <a:rPr lang="en-US"/>
              <a:t>Q01 - Answer</a:t>
            </a:r>
            <a:endParaRPr/>
          </a:p>
        </p:txBody>
      </p:sp>
      <p:sp>
        <p:nvSpPr>
          <p:cNvPr id="350" name="Google Shape;350;p23"/>
          <p:cNvSpPr/>
          <p:nvPr/>
        </p:nvSpPr>
        <p:spPr>
          <a:xfrm>
            <a:off x="1066800" y="1133208"/>
            <a:ext cx="339000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Testing our functions</a:t>
            </a:r>
            <a:endParaRPr/>
          </a:p>
        </p:txBody>
      </p:sp>
      <p:sp>
        <p:nvSpPr>
          <p:cNvPr id="351" name="Google Shape;351;p23"/>
          <p:cNvSpPr/>
          <p:nvPr/>
        </p:nvSpPr>
        <p:spPr>
          <a:xfrm>
            <a:off x="944130" y="4467134"/>
            <a:ext cx="3390002" cy="1200329"/>
          </a:xfrm>
          <a:prstGeom prst="rect">
            <a:avLst/>
          </a:prstGeom>
          <a:noFill/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the user types something that’s not a number, catch the error and show a friendly message.</a:t>
            </a:r>
            <a:endParaRPr/>
          </a:p>
        </p:txBody>
      </p:sp>
      <p:sp>
        <p:nvSpPr>
          <p:cNvPr id="352" name="Google Shape;352;p23"/>
          <p:cNvSpPr/>
          <p:nvPr/>
        </p:nvSpPr>
        <p:spPr>
          <a:xfrm>
            <a:off x="4681237" y="4891613"/>
            <a:ext cx="915258" cy="351373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3"/>
          <p:cNvSpPr/>
          <p:nvPr/>
        </p:nvSpPr>
        <p:spPr>
          <a:xfrm>
            <a:off x="5943600" y="4800600"/>
            <a:ext cx="4267200" cy="533400"/>
          </a:xfrm>
          <a:prstGeom prst="rect">
            <a:avLst/>
          </a:prstGeom>
          <a:noFill/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4"/>
          <p:cNvSpPr/>
          <p:nvPr/>
        </p:nvSpPr>
        <p:spPr>
          <a:xfrm>
            <a:off x="5249390" y="1379280"/>
            <a:ext cx="9942035" cy="489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__name__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== </a:t>
            </a:r>
            <a:r>
              <a:rPr lang="en-US" sz="12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2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__main__</a:t>
            </a:r>
            <a:r>
              <a:rPr lang="en-US" sz="12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2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endParaRPr sz="1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2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2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Binary Search Tree Insertion Program</a:t>
            </a:r>
            <a:r>
              <a:rPr lang="en-US" sz="12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2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2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===================================</a:t>
            </a:r>
            <a:r>
              <a:rPr lang="en-US" sz="12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2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2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try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12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2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input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200">
                <a:solidFill>
                  <a:srgbClr val="B776FB"/>
                </a:solidFill>
                <a:latin typeface="Consolas"/>
                <a:ea typeface="Consolas"/>
                <a:cs typeface="Consolas"/>
                <a:sym typeface="Consolas"/>
              </a:rPr>
              <a:t>\n</a:t>
            </a:r>
            <a:r>
              <a:rPr lang="en-US" sz="12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Enter a value to insert (-1 to quit): </a:t>
            </a:r>
            <a:r>
              <a:rPr lang="en-US" sz="12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12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not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 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lang="en-US" sz="12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continue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 </a:t>
            </a:r>
            <a:r>
              <a:rPr lang="en-US" sz="12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Ignore empty inputs</a:t>
            </a:r>
            <a:endParaRPr sz="1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12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2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12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== -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lang="en-US" sz="12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break</a:t>
            </a:r>
            <a:endParaRPr sz="1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12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2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insertBSTNode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12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200">
                <a:solidFill>
                  <a:srgbClr val="B776FB"/>
                </a:solidFill>
                <a:latin typeface="Consolas"/>
                <a:ea typeface="Consolas"/>
                <a:cs typeface="Consolas"/>
                <a:sym typeface="Consolas"/>
              </a:rPr>
              <a:t>\n</a:t>
            </a:r>
            <a:r>
              <a:rPr lang="en-US" sz="12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Current BST structure:</a:t>
            </a:r>
            <a:r>
              <a:rPr lang="en-US" sz="12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12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printTree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2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except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ValueError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12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2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Please enter a valid integer!</a:t>
            </a:r>
            <a:r>
              <a:rPr lang="en-US" sz="12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2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200">
                <a:solidFill>
                  <a:srgbClr val="B776FB"/>
                </a:solidFill>
                <a:latin typeface="Consolas"/>
                <a:ea typeface="Consolas"/>
                <a:cs typeface="Consolas"/>
                <a:sym typeface="Consolas"/>
              </a:rPr>
              <a:t>\n</a:t>
            </a:r>
            <a:r>
              <a:rPr lang="en-US" sz="12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Final BST structure:</a:t>
            </a:r>
            <a:r>
              <a:rPr lang="en-US" sz="12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2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printTree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sz="1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0" name="Google Shape;360;p24"/>
          <p:cNvSpPr txBox="1"/>
          <p:nvPr>
            <p:ph type="title"/>
          </p:nvPr>
        </p:nvSpPr>
        <p:spPr>
          <a:xfrm>
            <a:off x="0" y="39261"/>
            <a:ext cx="12192000" cy="6465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erdana"/>
              <a:buNone/>
            </a:pPr>
            <a:r>
              <a:rPr lang="en-US"/>
              <a:t>Q01 - Answer</a:t>
            </a:r>
            <a:endParaRPr/>
          </a:p>
        </p:txBody>
      </p:sp>
      <p:sp>
        <p:nvSpPr>
          <p:cNvPr id="361" name="Google Shape;361;p24"/>
          <p:cNvSpPr/>
          <p:nvPr/>
        </p:nvSpPr>
        <p:spPr>
          <a:xfrm>
            <a:off x="1066800" y="1133208"/>
            <a:ext cx="339000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Testing our functions</a:t>
            </a:r>
            <a:endParaRPr/>
          </a:p>
        </p:txBody>
      </p:sp>
      <p:sp>
        <p:nvSpPr>
          <p:cNvPr id="362" name="Google Shape;362;p24"/>
          <p:cNvSpPr/>
          <p:nvPr/>
        </p:nvSpPr>
        <p:spPr>
          <a:xfrm>
            <a:off x="944131" y="5323695"/>
            <a:ext cx="3390002" cy="646331"/>
          </a:xfrm>
          <a:prstGeom prst="rect">
            <a:avLst/>
          </a:prstGeom>
          <a:noFill/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After quitting the loop, display the final tree structure.</a:t>
            </a:r>
            <a:endParaRPr/>
          </a:p>
        </p:txBody>
      </p:sp>
      <p:sp>
        <p:nvSpPr>
          <p:cNvPr id="363" name="Google Shape;363;p24"/>
          <p:cNvSpPr/>
          <p:nvPr/>
        </p:nvSpPr>
        <p:spPr>
          <a:xfrm>
            <a:off x="4507685" y="5478720"/>
            <a:ext cx="915258" cy="351373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4"/>
          <p:cNvSpPr/>
          <p:nvPr/>
        </p:nvSpPr>
        <p:spPr>
          <a:xfrm>
            <a:off x="5596495" y="5400763"/>
            <a:ext cx="4267200" cy="533400"/>
          </a:xfrm>
          <a:prstGeom prst="rect">
            <a:avLst/>
          </a:prstGeom>
          <a:noFill/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5"/>
          <p:cNvSpPr txBox="1"/>
          <p:nvPr>
            <p:ph type="title"/>
          </p:nvPr>
        </p:nvSpPr>
        <p:spPr>
          <a:xfrm>
            <a:off x="0" y="39261"/>
            <a:ext cx="12192000" cy="6465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erdana"/>
              <a:buNone/>
            </a:pPr>
            <a:r>
              <a:rPr lang="en-US"/>
              <a:t>Q01 – Answer (Complete code – Iterative) </a:t>
            </a:r>
            <a:endParaRPr/>
          </a:p>
        </p:txBody>
      </p:sp>
      <p:sp>
        <p:nvSpPr>
          <p:cNvPr id="371" name="Google Shape;371;p25"/>
          <p:cNvSpPr/>
          <p:nvPr/>
        </p:nvSpPr>
        <p:spPr>
          <a:xfrm>
            <a:off x="914400" y="990600"/>
            <a:ext cx="5562600" cy="56323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8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BTNode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8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__init__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item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left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right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.item = </a:t>
            </a:r>
            <a:r>
              <a:rPr lang="en-US" sz="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item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 </a:t>
            </a:r>
            <a:r>
              <a:rPr lang="en-US" sz="8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Store the item (integer)</a:t>
            </a:r>
            <a:endParaRPr sz="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 = </a:t>
            </a:r>
            <a:r>
              <a:rPr lang="en-US" sz="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left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 </a:t>
            </a:r>
            <a:r>
              <a:rPr lang="en-US" sz="8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Reference to the left child node</a:t>
            </a:r>
            <a:endParaRPr sz="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 = </a:t>
            </a:r>
            <a:r>
              <a:rPr lang="en-US" sz="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right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 </a:t>
            </a:r>
            <a:r>
              <a:rPr lang="en-US" sz="8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Reference to the right child node</a:t>
            </a:r>
            <a:endParaRPr sz="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8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insertBSTNode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8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"""</a:t>
            </a:r>
            <a:r>
              <a:rPr lang="en-US" sz="8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Iterative approach to insert a node into the BST</a:t>
            </a:r>
            <a:r>
              <a:rPr lang="en-US" sz="8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"""</a:t>
            </a:r>
            <a:endParaRPr sz="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8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is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8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8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BTNode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  </a:t>
            </a:r>
            <a:r>
              <a:rPr lang="en-US" sz="8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If tree is empty, create root</a:t>
            </a:r>
            <a:endParaRPr sz="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8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parent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endParaRPr sz="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8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current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endParaRPr sz="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8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8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current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8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parent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8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current</a:t>
            </a:r>
            <a:endParaRPr sz="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8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 sz="8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current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.item: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8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current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8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current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</a:t>
            </a:r>
            <a:endParaRPr sz="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8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elif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&gt; </a:t>
            </a:r>
            <a:r>
              <a:rPr lang="en-US" sz="8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current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.item: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8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current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8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current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</a:t>
            </a:r>
            <a:endParaRPr sz="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8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8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 </a:t>
            </a:r>
            <a:r>
              <a:rPr lang="en-US" sz="8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Value already exists, no duplicates allowed</a:t>
            </a:r>
            <a:endParaRPr sz="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8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 sz="8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parent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.item: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8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parent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 = </a:t>
            </a:r>
            <a:r>
              <a:rPr lang="en-US" sz="8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BTNode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8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8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parent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 = </a:t>
            </a:r>
            <a:r>
              <a:rPr lang="en-US" sz="8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BTNode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8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endParaRPr sz="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8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printTree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level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8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prefix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8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8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Root: </a:t>
            </a:r>
            <a:r>
              <a:rPr lang="en-US" sz="8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8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"""</a:t>
            </a:r>
            <a:r>
              <a:rPr lang="en-US" sz="8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Prints the tree structure for better visualization</a:t>
            </a:r>
            <a:r>
              <a:rPr lang="en-US" sz="8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"""</a:t>
            </a:r>
            <a:endParaRPr sz="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8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is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not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8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8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8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8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* </a:t>
            </a:r>
            <a:r>
              <a:rPr lang="en-US" sz="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level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lang="en-US" sz="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prefix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lang="en-US" sz="8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str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.item))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8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 </a:t>
            </a:r>
            <a:r>
              <a:rPr lang="en-US" sz="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or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8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lang="en-US" sz="8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printTree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.left, </a:t>
            </a:r>
            <a:r>
              <a:rPr lang="en-US" sz="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level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lang="en-US" sz="8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8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8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L--- </a:t>
            </a:r>
            <a:r>
              <a:rPr lang="en-US" sz="8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8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lang="en-US" sz="8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printTree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.right, </a:t>
            </a:r>
            <a:r>
              <a:rPr lang="en-US" sz="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level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lang="en-US" sz="8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8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8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R--- </a:t>
            </a:r>
            <a:r>
              <a:rPr lang="en-US" sz="8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sz="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2" name="Google Shape;372;p25"/>
          <p:cNvSpPr/>
          <p:nvPr/>
        </p:nvSpPr>
        <p:spPr>
          <a:xfrm>
            <a:off x="5791200" y="1005840"/>
            <a:ext cx="6096000" cy="304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8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__name__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== </a:t>
            </a:r>
            <a:r>
              <a:rPr lang="en-US" sz="8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8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__main__</a:t>
            </a:r>
            <a:r>
              <a:rPr lang="en-US" sz="8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8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endParaRPr sz="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8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8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8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Binary Search Tree Insertion Program</a:t>
            </a:r>
            <a:r>
              <a:rPr lang="en-US" sz="8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8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8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8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===================================</a:t>
            </a:r>
            <a:r>
              <a:rPr lang="en-US" sz="8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8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8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try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8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8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input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8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800">
                <a:solidFill>
                  <a:srgbClr val="B776FB"/>
                </a:solidFill>
                <a:latin typeface="Consolas"/>
                <a:ea typeface="Consolas"/>
                <a:cs typeface="Consolas"/>
                <a:sym typeface="Consolas"/>
              </a:rPr>
              <a:t>\n</a:t>
            </a:r>
            <a:r>
              <a:rPr lang="en-US" sz="8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Enter a value to insert (-1 to quit): </a:t>
            </a:r>
            <a:r>
              <a:rPr lang="en-US" sz="8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8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not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8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 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lang="en-US" sz="8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continue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 </a:t>
            </a:r>
            <a:r>
              <a:rPr lang="en-US" sz="8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Ignore empty inputs</a:t>
            </a:r>
            <a:endParaRPr sz="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8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8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8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8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8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== -</a:t>
            </a:r>
            <a:r>
              <a:rPr lang="en-US" sz="8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lang="en-US" sz="8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break</a:t>
            </a:r>
            <a:endParaRPr sz="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8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8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insertBSTNode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8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8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8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8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800">
                <a:solidFill>
                  <a:srgbClr val="B776FB"/>
                </a:solidFill>
                <a:latin typeface="Consolas"/>
                <a:ea typeface="Consolas"/>
                <a:cs typeface="Consolas"/>
                <a:sym typeface="Consolas"/>
              </a:rPr>
              <a:t>\n</a:t>
            </a:r>
            <a:r>
              <a:rPr lang="en-US" sz="8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Current BST structure:</a:t>
            </a:r>
            <a:r>
              <a:rPr lang="en-US" sz="8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8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printTree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8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8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except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8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ValueError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8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8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8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Please enter a valid integer!</a:t>
            </a:r>
            <a:r>
              <a:rPr lang="en-US" sz="8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8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8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800">
                <a:solidFill>
                  <a:srgbClr val="B776FB"/>
                </a:solidFill>
                <a:latin typeface="Consolas"/>
                <a:ea typeface="Consolas"/>
                <a:cs typeface="Consolas"/>
                <a:sym typeface="Consolas"/>
              </a:rPr>
              <a:t>\n</a:t>
            </a:r>
            <a:r>
              <a:rPr lang="en-US" sz="8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Final BST structure:</a:t>
            </a:r>
            <a:r>
              <a:rPr lang="en-US" sz="8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8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printTree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8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6"/>
          <p:cNvSpPr txBox="1"/>
          <p:nvPr>
            <p:ph type="title"/>
          </p:nvPr>
        </p:nvSpPr>
        <p:spPr>
          <a:xfrm>
            <a:off x="0" y="39261"/>
            <a:ext cx="12192000" cy="6465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erdana"/>
              <a:buNone/>
            </a:pPr>
            <a:r>
              <a:rPr lang="en-US"/>
              <a:t>Q01 – Answer (Complete code – Recursive) </a:t>
            </a:r>
            <a:endParaRPr/>
          </a:p>
        </p:txBody>
      </p:sp>
      <p:sp>
        <p:nvSpPr>
          <p:cNvPr id="379" name="Google Shape;379;p26"/>
          <p:cNvSpPr/>
          <p:nvPr/>
        </p:nvSpPr>
        <p:spPr>
          <a:xfrm>
            <a:off x="838200" y="1496765"/>
            <a:ext cx="6096000" cy="42473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BTNode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__init__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0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item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left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right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0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.item = </a:t>
            </a:r>
            <a:r>
              <a:rPr lang="en-US" sz="10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item</a:t>
            </a:r>
            <a:endParaRPr sz="1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0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 = </a:t>
            </a:r>
            <a:r>
              <a:rPr lang="en-US" sz="10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left</a:t>
            </a:r>
            <a:endParaRPr sz="1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0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 = </a:t>
            </a:r>
            <a:r>
              <a:rPr lang="en-US" sz="10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right</a:t>
            </a:r>
            <a:endParaRPr sz="1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insertBSTNode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0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0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is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0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BTNode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0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0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 sz="10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.item: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0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 = </a:t>
            </a:r>
            <a:r>
              <a:rPr lang="en-US" sz="10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insertBSTNode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0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.left, </a:t>
            </a:r>
            <a:r>
              <a:rPr lang="en-US" sz="10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0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elif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&gt; </a:t>
            </a:r>
            <a:r>
              <a:rPr lang="en-US" sz="10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.item: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0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 = </a:t>
            </a:r>
            <a:r>
              <a:rPr lang="en-US" sz="10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insertBSTNode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0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.right, </a:t>
            </a:r>
            <a:r>
              <a:rPr lang="en-US" sz="10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0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endParaRPr sz="1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printTree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0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level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prefix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0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Root: </a:t>
            </a:r>
            <a:r>
              <a:rPr lang="en-US" sz="10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0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is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not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0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0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0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* </a:t>
            </a:r>
            <a:r>
              <a:rPr lang="en-US" sz="10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level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lang="en-US" sz="10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prefix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lang="en-US" sz="10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str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0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.item))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0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 </a:t>
            </a:r>
            <a:r>
              <a:rPr lang="en-US" sz="1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or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10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lang="en-US" sz="10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printTree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0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.left, </a:t>
            </a:r>
            <a:r>
              <a:rPr lang="en-US" sz="10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level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lang="en-US" sz="1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0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L--- </a:t>
            </a:r>
            <a:r>
              <a:rPr lang="en-US" sz="10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10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lang="en-US" sz="10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printTree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0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.right, </a:t>
            </a:r>
            <a:r>
              <a:rPr lang="en-US" sz="10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level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lang="en-US" sz="1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0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R--- </a:t>
            </a:r>
            <a:r>
              <a:rPr lang="en-US" sz="10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sz="1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0" name="Google Shape;380;p26"/>
          <p:cNvSpPr/>
          <p:nvPr/>
        </p:nvSpPr>
        <p:spPr>
          <a:xfrm>
            <a:off x="5638800" y="1575583"/>
            <a:ext cx="6096000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__name__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== </a:t>
            </a:r>
            <a:r>
              <a:rPr lang="en-US" sz="10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0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__main__</a:t>
            </a:r>
            <a:r>
              <a:rPr lang="en-US" sz="10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0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endParaRPr sz="1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0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0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0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Binary Search Tree Insertion Program</a:t>
            </a:r>
            <a:r>
              <a:rPr lang="en-US" sz="10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0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0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0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===================================</a:t>
            </a:r>
            <a:r>
              <a:rPr lang="en-US" sz="10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0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0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0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input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0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000">
                <a:solidFill>
                  <a:srgbClr val="B776FB"/>
                </a:solidFill>
                <a:latin typeface="Consolas"/>
                <a:ea typeface="Consolas"/>
                <a:cs typeface="Consolas"/>
                <a:sym typeface="Consolas"/>
              </a:rPr>
              <a:t>\n</a:t>
            </a:r>
            <a:r>
              <a:rPr lang="en-US" sz="10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Enter a value to insert (-1 to quit): </a:t>
            </a:r>
            <a:r>
              <a:rPr lang="en-US" sz="10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0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not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10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continue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 </a:t>
            </a:r>
            <a:r>
              <a:rPr lang="en-US" sz="10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Ignore empty inputs</a:t>
            </a:r>
            <a:endParaRPr sz="1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0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try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10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0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0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10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== -</a:t>
            </a:r>
            <a:r>
              <a:rPr lang="en-US" sz="1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lang="en-US" sz="10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break</a:t>
            </a:r>
            <a:endParaRPr sz="1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10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0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insertBSTNode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0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10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0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000">
                <a:solidFill>
                  <a:srgbClr val="B776FB"/>
                </a:solidFill>
                <a:latin typeface="Consolas"/>
                <a:ea typeface="Consolas"/>
                <a:cs typeface="Consolas"/>
                <a:sym typeface="Consolas"/>
              </a:rPr>
              <a:t>\n</a:t>
            </a:r>
            <a:r>
              <a:rPr lang="en-US" sz="10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Current BST structure:</a:t>
            </a:r>
            <a:r>
              <a:rPr lang="en-US" sz="10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10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printTree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0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0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except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ValueError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10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0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0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Invalid input! Please enter an integer.</a:t>
            </a:r>
            <a:r>
              <a:rPr lang="en-US" sz="10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0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0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000">
                <a:solidFill>
                  <a:srgbClr val="B776FB"/>
                </a:solidFill>
                <a:latin typeface="Consolas"/>
                <a:ea typeface="Consolas"/>
                <a:cs typeface="Consolas"/>
                <a:sym typeface="Consolas"/>
              </a:rPr>
              <a:t>\n</a:t>
            </a:r>
            <a:r>
              <a:rPr lang="en-US" sz="10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Final BST structure:</a:t>
            </a:r>
            <a:r>
              <a:rPr lang="en-US" sz="10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0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printTree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0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7"/>
          <p:cNvSpPr txBox="1"/>
          <p:nvPr>
            <p:ph type="title"/>
          </p:nvPr>
        </p:nvSpPr>
        <p:spPr>
          <a:xfrm>
            <a:off x="0" y="39261"/>
            <a:ext cx="12192000" cy="6465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erdana"/>
              <a:buNone/>
            </a:pPr>
            <a:r>
              <a:rPr lang="en-US"/>
              <a:t>Q02</a:t>
            </a:r>
            <a:endParaRPr/>
          </a:p>
        </p:txBody>
      </p:sp>
      <p:sp>
        <p:nvSpPr>
          <p:cNvPr id="387" name="Google Shape;387;p27"/>
          <p:cNvSpPr/>
          <p:nvPr/>
        </p:nvSpPr>
        <p:spPr>
          <a:xfrm>
            <a:off x="1295400" y="2057400"/>
            <a:ext cx="9601200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Write a function </a:t>
            </a:r>
            <a:r>
              <a:rPr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printBSTInOrder() 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that prints the items stored in a Binary Search Tree in sorted order using an in-order traversal pattern.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def printBSTInOrder(node): 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8"/>
          <p:cNvSpPr/>
          <p:nvPr/>
        </p:nvSpPr>
        <p:spPr>
          <a:xfrm>
            <a:off x="5156605" y="2023785"/>
            <a:ext cx="7035395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printBSTInOrder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"""</a:t>
            </a:r>
            <a:r>
              <a:rPr lang="en-US" sz="14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 Print BST items in sorted order using in-order traversal. 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"""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printBSTInOrder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.item,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end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4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printBSTInOrder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4" name="Google Shape;394;p28"/>
          <p:cNvSpPr txBox="1"/>
          <p:nvPr>
            <p:ph type="title"/>
          </p:nvPr>
        </p:nvSpPr>
        <p:spPr>
          <a:xfrm>
            <a:off x="0" y="39261"/>
            <a:ext cx="12192000" cy="6465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erdana"/>
              <a:buNone/>
            </a:pPr>
            <a:r>
              <a:rPr lang="en-US"/>
              <a:t>Q02 - Answer</a:t>
            </a:r>
            <a:endParaRPr/>
          </a:p>
        </p:txBody>
      </p:sp>
      <p:sp>
        <p:nvSpPr>
          <p:cNvPr id="395" name="Google Shape;395;p28"/>
          <p:cNvSpPr/>
          <p:nvPr/>
        </p:nvSpPr>
        <p:spPr>
          <a:xfrm>
            <a:off x="997987" y="1091930"/>
            <a:ext cx="99060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 u="sng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Now we will go through the printBSTInOrder(node) function </a:t>
            </a:r>
            <a:endParaRPr/>
          </a:p>
        </p:txBody>
      </p:sp>
      <p:sp>
        <p:nvSpPr>
          <p:cNvPr id="396" name="Google Shape;396;p28"/>
          <p:cNvSpPr/>
          <p:nvPr/>
        </p:nvSpPr>
        <p:spPr>
          <a:xfrm>
            <a:off x="966988" y="2209800"/>
            <a:ext cx="3124200" cy="2585323"/>
          </a:xfrm>
          <a:prstGeom prst="rect">
            <a:avLst/>
          </a:prstGeom>
          <a:noFill/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is the 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base case 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check.</a:t>
            </a:r>
            <a:endParaRPr/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node is None (meaning there’s no node here), the function simply stops and returns (does nothing).</a:t>
            </a:r>
            <a:endParaRPr/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node is not None, the traversal continues.</a:t>
            </a:r>
            <a:endParaRPr/>
          </a:p>
        </p:txBody>
      </p:sp>
      <p:sp>
        <p:nvSpPr>
          <p:cNvPr id="397" name="Google Shape;397;p28"/>
          <p:cNvSpPr/>
          <p:nvPr/>
        </p:nvSpPr>
        <p:spPr>
          <a:xfrm>
            <a:off x="4286250" y="2418778"/>
            <a:ext cx="1005087" cy="351373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8"/>
          <p:cNvSpPr/>
          <p:nvPr/>
        </p:nvSpPr>
        <p:spPr>
          <a:xfrm>
            <a:off x="5486399" y="2445731"/>
            <a:ext cx="1219201" cy="297469"/>
          </a:xfrm>
          <a:prstGeom prst="rect">
            <a:avLst/>
          </a:prstGeom>
          <a:noFill/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9"/>
          <p:cNvSpPr/>
          <p:nvPr/>
        </p:nvSpPr>
        <p:spPr>
          <a:xfrm>
            <a:off x="5156605" y="2023785"/>
            <a:ext cx="7035395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printBSTInOrder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"""</a:t>
            </a:r>
            <a:r>
              <a:rPr lang="en-US" sz="14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 Print BST items in sorted order using in-order traversal. 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"""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printBSTInOrder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.item,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end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4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printBSTInOrder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5" name="Google Shape;405;p29"/>
          <p:cNvSpPr txBox="1"/>
          <p:nvPr>
            <p:ph type="title"/>
          </p:nvPr>
        </p:nvSpPr>
        <p:spPr>
          <a:xfrm>
            <a:off x="0" y="39261"/>
            <a:ext cx="12192000" cy="6465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erdana"/>
              <a:buNone/>
            </a:pPr>
            <a:r>
              <a:rPr lang="en-US"/>
              <a:t>Q02 - Answer</a:t>
            </a:r>
            <a:endParaRPr/>
          </a:p>
        </p:txBody>
      </p:sp>
      <p:sp>
        <p:nvSpPr>
          <p:cNvPr id="406" name="Google Shape;406;p29"/>
          <p:cNvSpPr/>
          <p:nvPr/>
        </p:nvSpPr>
        <p:spPr>
          <a:xfrm>
            <a:off x="997987" y="1091930"/>
            <a:ext cx="99060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 u="sng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Now we will go through the printBSTInOrder(node) function </a:t>
            </a:r>
            <a:endParaRPr/>
          </a:p>
        </p:txBody>
      </p:sp>
      <p:sp>
        <p:nvSpPr>
          <p:cNvPr id="407" name="Google Shape;407;p29"/>
          <p:cNvSpPr/>
          <p:nvPr/>
        </p:nvSpPr>
        <p:spPr>
          <a:xfrm>
            <a:off x="982784" y="1854508"/>
            <a:ext cx="3124200" cy="3970318"/>
          </a:xfrm>
          <a:prstGeom prst="rect">
            <a:avLst/>
          </a:prstGeom>
          <a:noFill/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recursively calls the same function on the 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left child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the current node.</a:t>
            </a:r>
            <a:endParaRPr/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Since in a BST all values in the left subtree are smaller than the root, this ensures we print all smaller numbers first.</a:t>
            </a:r>
            <a:endParaRPr/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recursion will keep going left until it reaches the smallest element (leftmost node).</a:t>
            </a:r>
            <a:endParaRPr/>
          </a:p>
        </p:txBody>
      </p:sp>
      <p:sp>
        <p:nvSpPr>
          <p:cNvPr id="408" name="Google Shape;408;p29"/>
          <p:cNvSpPr/>
          <p:nvPr/>
        </p:nvSpPr>
        <p:spPr>
          <a:xfrm>
            <a:off x="4365107" y="2644429"/>
            <a:ext cx="1005087" cy="351373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9"/>
          <p:cNvSpPr/>
          <p:nvPr/>
        </p:nvSpPr>
        <p:spPr>
          <a:xfrm>
            <a:off x="5867400" y="2644429"/>
            <a:ext cx="2994450" cy="318630"/>
          </a:xfrm>
          <a:prstGeom prst="rect">
            <a:avLst/>
          </a:prstGeom>
          <a:noFill/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30"/>
          <p:cNvSpPr/>
          <p:nvPr/>
        </p:nvSpPr>
        <p:spPr>
          <a:xfrm>
            <a:off x="5156605" y="2023785"/>
            <a:ext cx="7035395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printBSTInOrder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"""</a:t>
            </a:r>
            <a:r>
              <a:rPr lang="en-US" sz="14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 Print BST items in sorted order using in-order traversal. 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"""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printBSTInOrder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.item,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end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4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printBSTInOrder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6" name="Google Shape;416;p30"/>
          <p:cNvSpPr txBox="1"/>
          <p:nvPr>
            <p:ph type="title"/>
          </p:nvPr>
        </p:nvSpPr>
        <p:spPr>
          <a:xfrm>
            <a:off x="0" y="39261"/>
            <a:ext cx="12192000" cy="6465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erdana"/>
              <a:buNone/>
            </a:pPr>
            <a:r>
              <a:rPr lang="en-US"/>
              <a:t>Q02 - Answer</a:t>
            </a:r>
            <a:endParaRPr/>
          </a:p>
        </p:txBody>
      </p:sp>
      <p:sp>
        <p:nvSpPr>
          <p:cNvPr id="417" name="Google Shape;417;p30"/>
          <p:cNvSpPr/>
          <p:nvPr/>
        </p:nvSpPr>
        <p:spPr>
          <a:xfrm>
            <a:off x="997987" y="1091930"/>
            <a:ext cx="99060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 u="sng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Now we will go through the printBSTInOrder(node) function </a:t>
            </a:r>
            <a:endParaRPr/>
          </a:p>
        </p:txBody>
      </p:sp>
      <p:sp>
        <p:nvSpPr>
          <p:cNvPr id="418" name="Google Shape;418;p30"/>
          <p:cNvSpPr/>
          <p:nvPr/>
        </p:nvSpPr>
        <p:spPr>
          <a:xfrm>
            <a:off x="1074044" y="2133600"/>
            <a:ext cx="3193156" cy="3139321"/>
          </a:xfrm>
          <a:prstGeom prst="rect">
            <a:avLst/>
          </a:prstGeom>
          <a:noFill/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After finishing the left subtree, we now process (visit) the current node.</a:t>
            </a:r>
            <a:endParaRPr/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(node.item, end=" ")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prints the node’s value.</a:t>
            </a:r>
            <a:endParaRPr/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end=" " 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makes the values print on the same line separated by spaces, instead of each value on a new line.</a:t>
            </a:r>
            <a:endParaRPr/>
          </a:p>
        </p:txBody>
      </p:sp>
      <p:sp>
        <p:nvSpPr>
          <p:cNvPr id="419" name="Google Shape;419;p30"/>
          <p:cNvSpPr/>
          <p:nvPr/>
        </p:nvSpPr>
        <p:spPr>
          <a:xfrm>
            <a:off x="4419600" y="2847660"/>
            <a:ext cx="1005087" cy="351373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30"/>
          <p:cNvSpPr/>
          <p:nvPr/>
        </p:nvSpPr>
        <p:spPr>
          <a:xfrm>
            <a:off x="5867400" y="2891579"/>
            <a:ext cx="2994450" cy="263537"/>
          </a:xfrm>
          <a:prstGeom prst="rect">
            <a:avLst/>
          </a:prstGeom>
          <a:noFill/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1"/>
          <p:cNvSpPr/>
          <p:nvPr/>
        </p:nvSpPr>
        <p:spPr>
          <a:xfrm>
            <a:off x="5156605" y="2023785"/>
            <a:ext cx="7035395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printBSTInOrder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"""</a:t>
            </a:r>
            <a:r>
              <a:rPr lang="en-US" sz="14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 Print BST items in sorted order using in-order traversal. 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"""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printBSTInOrder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.item,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end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4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printBSTInOrder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27" name="Google Shape;427;p31"/>
          <p:cNvSpPr txBox="1"/>
          <p:nvPr>
            <p:ph type="title"/>
          </p:nvPr>
        </p:nvSpPr>
        <p:spPr>
          <a:xfrm>
            <a:off x="0" y="39261"/>
            <a:ext cx="12192000" cy="6465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erdana"/>
              <a:buNone/>
            </a:pPr>
            <a:r>
              <a:rPr lang="en-US"/>
              <a:t>Q02 - Answer</a:t>
            </a:r>
            <a:endParaRPr/>
          </a:p>
        </p:txBody>
      </p:sp>
      <p:sp>
        <p:nvSpPr>
          <p:cNvPr id="428" name="Google Shape;428;p31"/>
          <p:cNvSpPr/>
          <p:nvPr/>
        </p:nvSpPr>
        <p:spPr>
          <a:xfrm>
            <a:off x="997987" y="1091930"/>
            <a:ext cx="99060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 u="sng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Now we will go through the printBSTInOrder(node) function </a:t>
            </a:r>
            <a:endParaRPr/>
          </a:p>
        </p:txBody>
      </p:sp>
      <p:sp>
        <p:nvSpPr>
          <p:cNvPr id="429" name="Google Shape;429;p31"/>
          <p:cNvSpPr/>
          <p:nvPr/>
        </p:nvSpPr>
        <p:spPr>
          <a:xfrm>
            <a:off x="1066092" y="2034671"/>
            <a:ext cx="3124200" cy="3416320"/>
          </a:xfrm>
          <a:prstGeom prst="rect">
            <a:avLst/>
          </a:prstGeom>
          <a:noFill/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Finally, the function recursively traverses the right subtree.</a:t>
            </a:r>
            <a:endParaRPr/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values in the right subtree are greater than the current node, so they come after in sorted order.</a:t>
            </a:r>
            <a:endParaRPr/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Again, recursion continues until it reaches the largest element (rightmost node).</a:t>
            </a:r>
            <a:endParaRPr/>
          </a:p>
        </p:txBody>
      </p:sp>
      <p:sp>
        <p:nvSpPr>
          <p:cNvPr id="430" name="Google Shape;430;p31"/>
          <p:cNvSpPr/>
          <p:nvPr/>
        </p:nvSpPr>
        <p:spPr>
          <a:xfrm>
            <a:off x="4548709" y="3091073"/>
            <a:ext cx="1005087" cy="351373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31"/>
          <p:cNvSpPr/>
          <p:nvPr/>
        </p:nvSpPr>
        <p:spPr>
          <a:xfrm>
            <a:off x="5950987" y="3165463"/>
            <a:ext cx="2994450" cy="263537"/>
          </a:xfrm>
          <a:prstGeom prst="rect">
            <a:avLst/>
          </a:prstGeom>
          <a:noFill/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2"/>
          <p:cNvSpPr/>
          <p:nvPr/>
        </p:nvSpPr>
        <p:spPr>
          <a:xfrm>
            <a:off x="457200" y="754757"/>
            <a:ext cx="11201400" cy="57222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32"/>
          <p:cNvSpPr txBox="1"/>
          <p:nvPr>
            <p:ph type="title"/>
          </p:nvPr>
        </p:nvSpPr>
        <p:spPr>
          <a:xfrm>
            <a:off x="0" y="39261"/>
            <a:ext cx="12192000" cy="6465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erdana"/>
              <a:buNone/>
            </a:pPr>
            <a:r>
              <a:rPr lang="en-US"/>
              <a:t>Q02 – Answer (Complete code)</a:t>
            </a:r>
            <a:endParaRPr/>
          </a:p>
        </p:txBody>
      </p:sp>
      <p:sp>
        <p:nvSpPr>
          <p:cNvPr id="439" name="Google Shape;439;p32"/>
          <p:cNvSpPr/>
          <p:nvPr/>
        </p:nvSpPr>
        <p:spPr>
          <a:xfrm>
            <a:off x="1371600" y="817096"/>
            <a:ext cx="5562600" cy="60016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8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BTNode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8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__init__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item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left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right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.item = </a:t>
            </a:r>
            <a:r>
              <a:rPr lang="en-US" sz="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item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 </a:t>
            </a:r>
            <a:r>
              <a:rPr lang="en-US" sz="8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Store the item (integer)</a:t>
            </a:r>
            <a:endParaRPr sz="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 = </a:t>
            </a:r>
            <a:r>
              <a:rPr lang="en-US" sz="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left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 </a:t>
            </a:r>
            <a:r>
              <a:rPr lang="en-US" sz="8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Reference to the left child node</a:t>
            </a:r>
            <a:endParaRPr sz="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 = </a:t>
            </a:r>
            <a:r>
              <a:rPr lang="en-US" sz="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right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 </a:t>
            </a:r>
            <a:r>
              <a:rPr lang="en-US" sz="8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Reference to the right child node</a:t>
            </a:r>
            <a:endParaRPr sz="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8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insertBSTNode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8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"""</a:t>
            </a:r>
            <a:r>
              <a:rPr lang="en-US" sz="8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 Iterative approach to insert a node into a BST. </a:t>
            </a:r>
            <a:r>
              <a:rPr lang="en-US" sz="8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"""</a:t>
            </a:r>
            <a:endParaRPr sz="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8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is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8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8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BTNode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  </a:t>
            </a:r>
            <a:r>
              <a:rPr lang="en-US" sz="8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If tree is empty, create root</a:t>
            </a:r>
            <a:endParaRPr sz="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8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parent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endParaRPr sz="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8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current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endParaRPr sz="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8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8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current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8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parent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8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current</a:t>
            </a:r>
            <a:endParaRPr sz="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8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 sz="8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current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.item: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8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current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8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current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</a:t>
            </a:r>
            <a:endParaRPr sz="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8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elif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&gt; </a:t>
            </a:r>
            <a:r>
              <a:rPr lang="en-US" sz="8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current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.item: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8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current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8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current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</a:t>
            </a:r>
            <a:endParaRPr sz="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8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8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8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 sz="8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parent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.item: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8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parent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 = </a:t>
            </a:r>
            <a:r>
              <a:rPr lang="en-US" sz="8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BTNode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8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8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parent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 = </a:t>
            </a:r>
            <a:r>
              <a:rPr lang="en-US" sz="8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BTNode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8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endParaRPr sz="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8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printTree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level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8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prefix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8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8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Root: </a:t>
            </a:r>
            <a:r>
              <a:rPr lang="en-US" sz="8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8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is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not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8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8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8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8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* </a:t>
            </a:r>
            <a:r>
              <a:rPr lang="en-US" sz="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level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lang="en-US" sz="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prefix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lang="en-US" sz="8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str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.item))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8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 </a:t>
            </a:r>
            <a:r>
              <a:rPr lang="en-US" sz="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or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8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lang="en-US" sz="8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printTree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.left, </a:t>
            </a:r>
            <a:r>
              <a:rPr lang="en-US" sz="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level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lang="en-US" sz="8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8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8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L--- </a:t>
            </a:r>
            <a:r>
              <a:rPr lang="en-US" sz="8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8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lang="en-US" sz="8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printTree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.right, </a:t>
            </a:r>
            <a:r>
              <a:rPr lang="en-US" sz="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level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lang="en-US" sz="8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8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8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R--- </a:t>
            </a:r>
            <a:r>
              <a:rPr lang="en-US" sz="8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8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printBSTInOrder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8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"""</a:t>
            </a:r>
            <a:r>
              <a:rPr lang="en-US" sz="8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 Print BST items in sorted order using in-order traversal. </a:t>
            </a:r>
            <a:r>
              <a:rPr lang="en-US" sz="8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"""</a:t>
            </a:r>
            <a:endParaRPr sz="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8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8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printBSTInOrder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8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.item, </a:t>
            </a:r>
            <a:r>
              <a:rPr lang="en-US" sz="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end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8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8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8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8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printBSTInOrder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sz="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0" name="Google Shape;440;p32"/>
          <p:cNvSpPr/>
          <p:nvPr/>
        </p:nvSpPr>
        <p:spPr>
          <a:xfrm>
            <a:off x="5791200" y="1066800"/>
            <a:ext cx="6096000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8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__name__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== </a:t>
            </a:r>
            <a:r>
              <a:rPr lang="en-US" sz="8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8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__main__</a:t>
            </a:r>
            <a:r>
              <a:rPr lang="en-US" sz="8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8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endParaRPr sz="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8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8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8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Binary Search Tree In-Order Traversal Program</a:t>
            </a:r>
            <a:r>
              <a:rPr lang="en-US" sz="8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8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8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8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===========================================</a:t>
            </a:r>
            <a:r>
              <a:rPr lang="en-US" sz="8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8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8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800">
                <a:solidFill>
                  <a:srgbClr val="B776FB"/>
                </a:solidFill>
                <a:latin typeface="Consolas"/>
                <a:ea typeface="Consolas"/>
                <a:cs typeface="Consolas"/>
                <a:sym typeface="Consolas"/>
              </a:rPr>
              <a:t>\n</a:t>
            </a:r>
            <a:r>
              <a:rPr lang="en-US" sz="8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First, let's build the BST:</a:t>
            </a:r>
            <a:r>
              <a:rPr lang="en-US" sz="8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8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8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try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8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8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input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8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800">
                <a:solidFill>
                  <a:srgbClr val="B776FB"/>
                </a:solidFill>
                <a:latin typeface="Consolas"/>
                <a:ea typeface="Consolas"/>
                <a:cs typeface="Consolas"/>
                <a:sym typeface="Consolas"/>
              </a:rPr>
              <a:t>\n</a:t>
            </a:r>
            <a:r>
              <a:rPr lang="en-US" sz="8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Enter a value to insert (-1 to quit): </a:t>
            </a:r>
            <a:r>
              <a:rPr lang="en-US" sz="8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8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not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8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lang="en-US" sz="8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continue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 </a:t>
            </a:r>
            <a:r>
              <a:rPr lang="en-US" sz="8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Ignore empty inputs</a:t>
            </a:r>
            <a:endParaRPr sz="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8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8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8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8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8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== -</a:t>
            </a:r>
            <a:r>
              <a:rPr lang="en-US" sz="8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lang="en-US" sz="8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break</a:t>
            </a:r>
            <a:endParaRPr sz="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8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8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insertBSTNode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8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8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8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except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8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ValueError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8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8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8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Invalid input! Please enter an integer.</a:t>
            </a:r>
            <a:r>
              <a:rPr lang="en-US" sz="8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8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8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800">
                <a:solidFill>
                  <a:srgbClr val="B776FB"/>
                </a:solidFill>
                <a:latin typeface="Consolas"/>
                <a:ea typeface="Consolas"/>
                <a:cs typeface="Consolas"/>
                <a:sym typeface="Consolas"/>
              </a:rPr>
              <a:t>\n</a:t>
            </a:r>
            <a:r>
              <a:rPr lang="en-US" sz="8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BST structure:</a:t>
            </a:r>
            <a:r>
              <a:rPr lang="en-US" sz="8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8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printTree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8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8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8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800">
                <a:solidFill>
                  <a:srgbClr val="B776FB"/>
                </a:solidFill>
                <a:latin typeface="Consolas"/>
                <a:ea typeface="Consolas"/>
                <a:cs typeface="Consolas"/>
                <a:sym typeface="Consolas"/>
              </a:rPr>
              <a:t>\n</a:t>
            </a:r>
            <a:r>
              <a:rPr lang="en-US" sz="8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In-order traversal (sorted order):</a:t>
            </a:r>
            <a:r>
              <a:rPr lang="en-US" sz="8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end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8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8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8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8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printBSTInOrder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8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8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33"/>
          <p:cNvSpPr txBox="1"/>
          <p:nvPr>
            <p:ph type="title"/>
          </p:nvPr>
        </p:nvSpPr>
        <p:spPr>
          <a:xfrm>
            <a:off x="0" y="39261"/>
            <a:ext cx="12192000" cy="6465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erdana"/>
              <a:buNone/>
            </a:pPr>
            <a:r>
              <a:rPr lang="en-US"/>
              <a:t>Q03</a:t>
            </a:r>
            <a:endParaRPr/>
          </a:p>
        </p:txBody>
      </p:sp>
      <p:sp>
        <p:nvSpPr>
          <p:cNvPr id="447" name="Google Shape;447;p33"/>
          <p:cNvSpPr/>
          <p:nvPr/>
        </p:nvSpPr>
        <p:spPr>
          <a:xfrm>
            <a:off x="1295400" y="1720840"/>
            <a:ext cx="9906000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Write a function isBST() that determines whether a given Binary Tree is also a Binary Search Tree. The function should return True if the tree is a BST and False otherwise. </a:t>
            </a:r>
            <a:b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def isBST(node): 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34"/>
          <p:cNvSpPr/>
          <p:nvPr/>
        </p:nvSpPr>
        <p:spPr>
          <a:xfrm>
            <a:off x="5398393" y="2024213"/>
            <a:ext cx="6793607" cy="24622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isBST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min_val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4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float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lang="en-US" sz="14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-inf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),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max_val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4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float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lang="en-US" sz="14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inf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"""</a:t>
            </a:r>
            <a:r>
              <a:rPr lang="en-US" sz="14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 Checks if a tree is a valid BST using min/max constraints. 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"""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is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min_val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.item &lt;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max_val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False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isBST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.left,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min_val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.item)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and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isBST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.right,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.item,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max_val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4" name="Google Shape;454;p34"/>
          <p:cNvSpPr txBox="1"/>
          <p:nvPr>
            <p:ph type="title"/>
          </p:nvPr>
        </p:nvSpPr>
        <p:spPr>
          <a:xfrm>
            <a:off x="0" y="39261"/>
            <a:ext cx="12192000" cy="6465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erdana"/>
              <a:buNone/>
            </a:pPr>
            <a:r>
              <a:rPr lang="en-US"/>
              <a:t>Q03 - Answer</a:t>
            </a:r>
            <a:endParaRPr/>
          </a:p>
        </p:txBody>
      </p:sp>
      <p:sp>
        <p:nvSpPr>
          <p:cNvPr id="455" name="Google Shape;455;p34"/>
          <p:cNvSpPr/>
          <p:nvPr/>
        </p:nvSpPr>
        <p:spPr>
          <a:xfrm>
            <a:off x="997987" y="1091930"/>
            <a:ext cx="99060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 u="sng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Now we will go through the isBST(node) function </a:t>
            </a:r>
            <a:endParaRPr/>
          </a:p>
        </p:txBody>
      </p:sp>
      <p:sp>
        <p:nvSpPr>
          <p:cNvPr id="456" name="Google Shape;456;p34"/>
          <p:cNvSpPr/>
          <p:nvPr/>
        </p:nvSpPr>
        <p:spPr>
          <a:xfrm>
            <a:off x="1042292" y="1828800"/>
            <a:ext cx="3124200" cy="4031873"/>
          </a:xfrm>
          <a:prstGeom prst="rect">
            <a:avLst/>
          </a:prstGeom>
          <a:noFill/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Parameters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/>
          </a:p>
          <a:p>
            <a:pPr indent="-2413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the current node being checked.</a:t>
            </a:r>
            <a:endParaRPr/>
          </a:p>
          <a:p>
            <a:pPr indent="-2413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min_val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the lower bound that this node’s value must be greater than.</a:t>
            </a:r>
            <a:endParaRPr/>
          </a:p>
          <a:p>
            <a:pPr indent="-2413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max_val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the upper bound that this node’s value must be less than.</a:t>
            </a:r>
            <a:endParaRPr/>
          </a:p>
          <a:p>
            <a:pPr indent="-2413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Defaults: </a:t>
            </a: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min_val = -∞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max_val = +∞ 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 the start, meaning the root has no restrictions initially.</a:t>
            </a:r>
            <a:endParaRPr/>
          </a:p>
        </p:txBody>
      </p:sp>
      <p:sp>
        <p:nvSpPr>
          <p:cNvPr id="457" name="Google Shape;457;p34"/>
          <p:cNvSpPr/>
          <p:nvPr/>
        </p:nvSpPr>
        <p:spPr>
          <a:xfrm rot="-1177076">
            <a:off x="4532045" y="2287095"/>
            <a:ext cx="817166" cy="35859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34"/>
          <p:cNvSpPr/>
          <p:nvPr/>
        </p:nvSpPr>
        <p:spPr>
          <a:xfrm>
            <a:off x="5398393" y="2024213"/>
            <a:ext cx="6184007" cy="261787"/>
          </a:xfrm>
          <a:prstGeom prst="rect">
            <a:avLst/>
          </a:prstGeom>
          <a:noFill/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35"/>
          <p:cNvSpPr/>
          <p:nvPr/>
        </p:nvSpPr>
        <p:spPr>
          <a:xfrm>
            <a:off x="5398393" y="2024213"/>
            <a:ext cx="6793607" cy="24622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isBST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min_val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4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float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lang="en-US" sz="14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-inf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),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max_val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4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float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lang="en-US" sz="14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inf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"""</a:t>
            </a:r>
            <a:r>
              <a:rPr lang="en-US" sz="14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 Checks if a tree is a valid BST using min/max constraints. 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"""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is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min_val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.item &lt;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max_val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False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isBST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.left,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min_val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.item)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and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isBST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.right,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.item,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max_val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65" name="Google Shape;465;p35"/>
          <p:cNvSpPr txBox="1"/>
          <p:nvPr>
            <p:ph type="title"/>
          </p:nvPr>
        </p:nvSpPr>
        <p:spPr>
          <a:xfrm>
            <a:off x="0" y="39261"/>
            <a:ext cx="12192000" cy="6465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erdana"/>
              <a:buNone/>
            </a:pPr>
            <a:r>
              <a:rPr lang="en-US"/>
              <a:t>Q03 - Answer</a:t>
            </a:r>
            <a:endParaRPr/>
          </a:p>
        </p:txBody>
      </p:sp>
      <p:sp>
        <p:nvSpPr>
          <p:cNvPr id="466" name="Google Shape;466;p35"/>
          <p:cNvSpPr/>
          <p:nvPr/>
        </p:nvSpPr>
        <p:spPr>
          <a:xfrm>
            <a:off x="997987" y="1091930"/>
            <a:ext cx="99060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 u="sng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Now we will go through the isBST(node) function </a:t>
            </a:r>
            <a:endParaRPr/>
          </a:p>
        </p:txBody>
      </p:sp>
      <p:sp>
        <p:nvSpPr>
          <p:cNvPr id="467" name="Google Shape;467;p35"/>
          <p:cNvSpPr/>
          <p:nvPr/>
        </p:nvSpPr>
        <p:spPr>
          <a:xfrm>
            <a:off x="1200477" y="2415570"/>
            <a:ext cx="3124200" cy="1569660"/>
          </a:xfrm>
          <a:prstGeom prst="rect">
            <a:avLst/>
          </a:prstGeom>
          <a:noFill/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the current node is </a:t>
            </a: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None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empty subtree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), then it is valid by definition.</a:t>
            </a:r>
            <a:endParaRPr/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stops recursion when leaves are reached.</a:t>
            </a:r>
            <a:endParaRPr/>
          </a:p>
        </p:txBody>
      </p:sp>
      <p:sp>
        <p:nvSpPr>
          <p:cNvPr id="468" name="Google Shape;468;p35"/>
          <p:cNvSpPr/>
          <p:nvPr/>
        </p:nvSpPr>
        <p:spPr>
          <a:xfrm>
            <a:off x="4482862" y="2746900"/>
            <a:ext cx="817166" cy="35859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35"/>
          <p:cNvSpPr/>
          <p:nvPr/>
        </p:nvSpPr>
        <p:spPr>
          <a:xfrm>
            <a:off x="5714763" y="2651992"/>
            <a:ext cx="2210037" cy="548408"/>
          </a:xfrm>
          <a:prstGeom prst="rect">
            <a:avLst/>
          </a:prstGeom>
          <a:noFill/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36"/>
          <p:cNvSpPr/>
          <p:nvPr/>
        </p:nvSpPr>
        <p:spPr>
          <a:xfrm>
            <a:off x="5398393" y="2024213"/>
            <a:ext cx="6793607" cy="24622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isBST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min_val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4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float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lang="en-US" sz="14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-inf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),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max_val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4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float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lang="en-US" sz="14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inf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"""</a:t>
            </a:r>
            <a:r>
              <a:rPr lang="en-US" sz="14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 Checks if a tree is a valid BST using min/max constraints. 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"""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is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min_val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.item &lt;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max_val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False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isBST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.left,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min_val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.item)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and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isBST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.right,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.item,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max_val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76" name="Google Shape;476;p36"/>
          <p:cNvSpPr txBox="1"/>
          <p:nvPr>
            <p:ph type="title"/>
          </p:nvPr>
        </p:nvSpPr>
        <p:spPr>
          <a:xfrm>
            <a:off x="0" y="39261"/>
            <a:ext cx="12192000" cy="6465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erdana"/>
              <a:buNone/>
            </a:pPr>
            <a:r>
              <a:rPr lang="en-US"/>
              <a:t>Q03 - Answer</a:t>
            </a:r>
            <a:endParaRPr/>
          </a:p>
        </p:txBody>
      </p:sp>
      <p:sp>
        <p:nvSpPr>
          <p:cNvPr id="477" name="Google Shape;477;p36"/>
          <p:cNvSpPr/>
          <p:nvPr/>
        </p:nvSpPr>
        <p:spPr>
          <a:xfrm>
            <a:off x="997987" y="1091930"/>
            <a:ext cx="99060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 u="sng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Now we will go through the isBST(node) function </a:t>
            </a:r>
            <a:endParaRPr/>
          </a:p>
        </p:txBody>
      </p:sp>
      <p:sp>
        <p:nvSpPr>
          <p:cNvPr id="478" name="Google Shape;478;p36"/>
          <p:cNvSpPr/>
          <p:nvPr/>
        </p:nvSpPr>
        <p:spPr>
          <a:xfrm>
            <a:off x="1140420" y="1794062"/>
            <a:ext cx="3124200" cy="4031873"/>
          </a:xfrm>
          <a:prstGeom prst="rect">
            <a:avLst/>
          </a:prstGeom>
          <a:noFill/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current node must follow BST rules:</a:t>
            </a:r>
            <a:endParaRPr/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values in the </a:t>
            </a:r>
            <a:r>
              <a:rPr b="1" lang="en-US" sz="1600">
                <a:solidFill>
                  <a:schemeClr val="dk1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left subtree &lt; current node value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values in the </a:t>
            </a:r>
            <a:r>
              <a:rPr b="1" lang="en-US" sz="1600">
                <a:solidFill>
                  <a:schemeClr val="dk1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right subtree &gt; current node value.</a:t>
            </a:r>
            <a:endParaRPr/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line checks if </a:t>
            </a: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node.item 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within the allowed range: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Greater than min_val</a:t>
            </a: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Less than max_val</a:t>
            </a: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the value breaks the rule, immediately return </a:t>
            </a:r>
            <a:r>
              <a:rPr b="1" lang="en-US" sz="1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False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  <p:sp>
        <p:nvSpPr>
          <p:cNvPr id="479" name="Google Shape;479;p36"/>
          <p:cNvSpPr/>
          <p:nvPr/>
        </p:nvSpPr>
        <p:spPr>
          <a:xfrm>
            <a:off x="4581227" y="3353362"/>
            <a:ext cx="817166" cy="35859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36"/>
          <p:cNvSpPr/>
          <p:nvPr/>
        </p:nvSpPr>
        <p:spPr>
          <a:xfrm>
            <a:off x="5715000" y="3255318"/>
            <a:ext cx="4114800" cy="554681"/>
          </a:xfrm>
          <a:prstGeom prst="rect">
            <a:avLst/>
          </a:prstGeom>
          <a:noFill/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37"/>
          <p:cNvSpPr/>
          <p:nvPr/>
        </p:nvSpPr>
        <p:spPr>
          <a:xfrm>
            <a:off x="5398393" y="2024213"/>
            <a:ext cx="6793607" cy="24622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isBST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min_val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4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float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lang="en-US" sz="14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-inf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),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max_val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4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float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lang="en-US" sz="14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inf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"""</a:t>
            </a:r>
            <a:r>
              <a:rPr lang="en-US" sz="14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 Checks if a tree is a valid BST using min/max constraints. 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"""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is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min_val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.item &lt;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max_val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False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isBST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.left,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min_val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.item)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and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isBST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.right,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.item,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max_val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7" name="Google Shape;487;p37"/>
          <p:cNvSpPr txBox="1"/>
          <p:nvPr>
            <p:ph type="title"/>
          </p:nvPr>
        </p:nvSpPr>
        <p:spPr>
          <a:xfrm>
            <a:off x="0" y="39261"/>
            <a:ext cx="12192000" cy="6465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erdana"/>
              <a:buNone/>
            </a:pPr>
            <a:r>
              <a:rPr lang="en-US"/>
              <a:t>Q03 - Answer</a:t>
            </a:r>
            <a:endParaRPr/>
          </a:p>
        </p:txBody>
      </p:sp>
      <p:sp>
        <p:nvSpPr>
          <p:cNvPr id="488" name="Google Shape;488;p37"/>
          <p:cNvSpPr/>
          <p:nvPr/>
        </p:nvSpPr>
        <p:spPr>
          <a:xfrm>
            <a:off x="997987" y="1091930"/>
            <a:ext cx="99060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 u="sng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Now we will go through the isBST(node) function </a:t>
            </a:r>
            <a:endParaRPr/>
          </a:p>
        </p:txBody>
      </p:sp>
      <p:sp>
        <p:nvSpPr>
          <p:cNvPr id="489" name="Google Shape;489;p37"/>
          <p:cNvSpPr/>
          <p:nvPr/>
        </p:nvSpPr>
        <p:spPr>
          <a:xfrm>
            <a:off x="907711" y="2017724"/>
            <a:ext cx="3886199" cy="4031873"/>
          </a:xfrm>
          <a:prstGeom prst="rect">
            <a:avLst/>
          </a:prstGeom>
          <a:noFill/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Recursively checks left and right subtrees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/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Left subtree: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Maximum allowed value becomes the current node’s value (</a:t>
            </a: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node.item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Because everything </a:t>
            </a:r>
            <a:r>
              <a:rPr b="1" lang="en-US" sz="1600">
                <a:solidFill>
                  <a:schemeClr val="dk1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left must be &lt; node.item.</a:t>
            </a:r>
            <a:endParaRPr/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Right subtree: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Minimum allowed value becomes the current node’s value (</a:t>
            </a: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node.item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Because everything </a:t>
            </a:r>
            <a:r>
              <a:rPr b="1" lang="en-US" sz="1600">
                <a:solidFill>
                  <a:schemeClr val="dk1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right must be &gt; node.item.</a:t>
            </a:r>
            <a:endParaRPr/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 </a:t>
            </a: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so both left and right must be valid.</a:t>
            </a:r>
            <a:endParaRPr/>
          </a:p>
        </p:txBody>
      </p:sp>
      <p:sp>
        <p:nvSpPr>
          <p:cNvPr id="490" name="Google Shape;490;p37"/>
          <p:cNvSpPr/>
          <p:nvPr/>
        </p:nvSpPr>
        <p:spPr>
          <a:xfrm>
            <a:off x="4848908" y="4058817"/>
            <a:ext cx="439489" cy="313611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37"/>
          <p:cNvSpPr/>
          <p:nvPr/>
        </p:nvSpPr>
        <p:spPr>
          <a:xfrm>
            <a:off x="5398393" y="3931745"/>
            <a:ext cx="5505594" cy="554681"/>
          </a:xfrm>
          <a:prstGeom prst="rect">
            <a:avLst/>
          </a:prstGeom>
          <a:noFill/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/>
          <p:cNvSpPr txBox="1"/>
          <p:nvPr>
            <p:ph type="title"/>
          </p:nvPr>
        </p:nvSpPr>
        <p:spPr>
          <a:xfrm>
            <a:off x="0" y="39261"/>
            <a:ext cx="12192000" cy="6465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erdana"/>
              <a:buNone/>
            </a:pPr>
            <a:r>
              <a:rPr lang="en-US"/>
              <a:t>Q03 - Answer</a:t>
            </a:r>
            <a:endParaRPr/>
          </a:p>
        </p:txBody>
      </p:sp>
      <p:sp>
        <p:nvSpPr>
          <p:cNvPr id="498" name="Google Shape;498;p38"/>
          <p:cNvSpPr/>
          <p:nvPr/>
        </p:nvSpPr>
        <p:spPr>
          <a:xfrm>
            <a:off x="997987" y="1091930"/>
            <a:ext cx="99060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 u="sng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isBST(node) function - Example </a:t>
            </a:r>
            <a:endParaRPr/>
          </a:p>
        </p:txBody>
      </p:sp>
      <p:sp>
        <p:nvSpPr>
          <p:cNvPr id="499" name="Google Shape;499;p38"/>
          <p:cNvSpPr/>
          <p:nvPr/>
        </p:nvSpPr>
        <p:spPr>
          <a:xfrm>
            <a:off x="1312280" y="3048000"/>
            <a:ext cx="2743200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7000"/>
                </a:solidFill>
                <a:latin typeface="Consolas"/>
                <a:ea typeface="Consolas"/>
                <a:cs typeface="Consolas"/>
                <a:sym typeface="Consolas"/>
              </a:rPr>
              <a:t>       10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7000"/>
                </a:solidFill>
                <a:latin typeface="Consolas"/>
                <a:ea typeface="Consolas"/>
                <a:cs typeface="Consolas"/>
                <a:sym typeface="Consolas"/>
              </a:rPr>
              <a:t>      /  \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7000"/>
                </a:solidFill>
                <a:latin typeface="Consolas"/>
                <a:ea typeface="Consolas"/>
                <a:cs typeface="Consolas"/>
                <a:sym typeface="Consolas"/>
              </a:rPr>
              <a:t>     5    15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7000"/>
                </a:solidFill>
                <a:latin typeface="Consolas"/>
                <a:ea typeface="Consolas"/>
                <a:cs typeface="Consolas"/>
                <a:sym typeface="Consolas"/>
              </a:rPr>
              <a:t>    / \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7000"/>
                </a:solidFill>
                <a:latin typeface="Consolas"/>
                <a:ea typeface="Consolas"/>
                <a:cs typeface="Consolas"/>
                <a:sym typeface="Consolas"/>
              </a:rPr>
              <a:t>   3   7</a:t>
            </a:r>
            <a:endParaRPr b="0" sz="1800">
              <a:solidFill>
                <a:srgbClr val="007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00" name="Google Shape;500;p38"/>
          <p:cNvSpPr/>
          <p:nvPr/>
        </p:nvSpPr>
        <p:spPr>
          <a:xfrm>
            <a:off x="5334000" y="1857039"/>
            <a:ext cx="4953000" cy="37548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Start at </a:t>
            </a:r>
            <a:r>
              <a:rPr b="1" lang="en-US" sz="14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b="1"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4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b="1"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Allowed </a:t>
            </a:r>
            <a:r>
              <a:rPr b="0" i="0" lang="en-US" sz="1400" u="none" cap="none" strike="noStrike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range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(-∞, ∞) </a:t>
            </a:r>
            <a:r>
              <a:rPr b="0" i="0" lang="en-US" sz="1400" u="none" cap="none" strike="noStrike">
                <a:solidFill>
                  <a:srgbClr val="007000"/>
                </a:solidFill>
                <a:latin typeface="Consolas"/>
                <a:ea typeface="Consolas"/>
                <a:cs typeface="Consolas"/>
                <a:sym typeface="Consolas"/>
              </a:rPr>
              <a:t>✅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ok.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Left child (</a:t>
            </a:r>
            <a:r>
              <a:rPr b="0" i="0" lang="en-US" sz="14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 must be &lt; </a:t>
            </a:r>
            <a:r>
              <a:rPr b="0" i="0" lang="en-US" sz="14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Right child (</a:t>
            </a:r>
            <a:r>
              <a:rPr b="0" i="0" lang="en-US" sz="14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15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 must be &gt; </a:t>
            </a:r>
            <a:r>
              <a:rPr b="0" i="0" lang="en-US" sz="14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Check left child </a:t>
            </a:r>
            <a:r>
              <a:rPr b="1" lang="en-US" sz="14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b="1"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Allowed </a:t>
            </a:r>
            <a:r>
              <a:rPr b="0" i="0" lang="en-US" sz="1400" u="none" cap="none" strike="noStrike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range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(-∞, </a:t>
            </a:r>
            <a:r>
              <a:rPr b="0" i="0" lang="en-US" sz="14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b="0" i="0" lang="en-US" sz="1400" u="none" cap="none" strike="noStrike">
                <a:solidFill>
                  <a:srgbClr val="007000"/>
                </a:solidFill>
                <a:latin typeface="Consolas"/>
                <a:ea typeface="Consolas"/>
                <a:cs typeface="Consolas"/>
                <a:sym typeface="Consolas"/>
              </a:rPr>
              <a:t>✅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ok.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Left child (</a:t>
            </a:r>
            <a:r>
              <a:rPr b="0" i="0" lang="en-US" sz="14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 must be &lt; </a:t>
            </a:r>
            <a:r>
              <a:rPr b="0" i="0" lang="en-US" sz="14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Right child (</a:t>
            </a:r>
            <a:r>
              <a:rPr b="0" i="0" lang="en-US" sz="14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 must be &gt; </a:t>
            </a:r>
            <a:r>
              <a:rPr b="0" i="0" lang="en-US" sz="14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but &lt; </a:t>
            </a:r>
            <a:r>
              <a:rPr b="0" i="0" lang="en-US" sz="14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01" name="Google Shape;501;p38"/>
          <p:cNvSpPr/>
          <p:nvPr/>
        </p:nvSpPr>
        <p:spPr>
          <a:xfrm>
            <a:off x="1027016" y="2124670"/>
            <a:ext cx="3313728" cy="9233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Suppose we insert: 10, 5, 15, 3, 7.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Tree: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39"/>
          <p:cNvSpPr txBox="1"/>
          <p:nvPr>
            <p:ph type="title"/>
          </p:nvPr>
        </p:nvSpPr>
        <p:spPr>
          <a:xfrm>
            <a:off x="0" y="39261"/>
            <a:ext cx="12192000" cy="6465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erdana"/>
              <a:buNone/>
            </a:pPr>
            <a:r>
              <a:rPr lang="en-US"/>
              <a:t>Q03 - Answer</a:t>
            </a:r>
            <a:endParaRPr/>
          </a:p>
        </p:txBody>
      </p:sp>
      <p:sp>
        <p:nvSpPr>
          <p:cNvPr id="508" name="Google Shape;508;p39"/>
          <p:cNvSpPr/>
          <p:nvPr/>
        </p:nvSpPr>
        <p:spPr>
          <a:xfrm>
            <a:off x="997987" y="1091930"/>
            <a:ext cx="99060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 u="sng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isBST(node) function - Example </a:t>
            </a:r>
            <a:endParaRPr/>
          </a:p>
        </p:txBody>
      </p:sp>
      <p:sp>
        <p:nvSpPr>
          <p:cNvPr id="509" name="Google Shape;509;p39"/>
          <p:cNvSpPr/>
          <p:nvPr/>
        </p:nvSpPr>
        <p:spPr>
          <a:xfrm>
            <a:off x="1312280" y="3048000"/>
            <a:ext cx="2743200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7000"/>
                </a:solidFill>
                <a:latin typeface="Consolas"/>
                <a:ea typeface="Consolas"/>
                <a:cs typeface="Consolas"/>
                <a:sym typeface="Consolas"/>
              </a:rPr>
              <a:t>       10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7000"/>
                </a:solidFill>
                <a:latin typeface="Consolas"/>
                <a:ea typeface="Consolas"/>
                <a:cs typeface="Consolas"/>
                <a:sym typeface="Consolas"/>
              </a:rPr>
              <a:t>      /  \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7000"/>
                </a:solidFill>
                <a:latin typeface="Consolas"/>
                <a:ea typeface="Consolas"/>
                <a:cs typeface="Consolas"/>
                <a:sym typeface="Consolas"/>
              </a:rPr>
              <a:t>     5    15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7000"/>
                </a:solidFill>
                <a:latin typeface="Consolas"/>
                <a:ea typeface="Consolas"/>
                <a:cs typeface="Consolas"/>
                <a:sym typeface="Consolas"/>
              </a:rPr>
              <a:t>    / \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7000"/>
                </a:solidFill>
                <a:latin typeface="Consolas"/>
                <a:ea typeface="Consolas"/>
                <a:cs typeface="Consolas"/>
                <a:sym typeface="Consolas"/>
              </a:rPr>
              <a:t>   3   7</a:t>
            </a:r>
            <a:endParaRPr b="0" sz="1800">
              <a:solidFill>
                <a:srgbClr val="007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10" name="Google Shape;510;p39"/>
          <p:cNvSpPr/>
          <p:nvPr/>
        </p:nvSpPr>
        <p:spPr>
          <a:xfrm>
            <a:off x="1027016" y="2124670"/>
            <a:ext cx="3313728" cy="9233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Suppose we insert: 10, 5, 15, 3, 7.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Tree:</a:t>
            </a:r>
            <a:endParaRPr/>
          </a:p>
        </p:txBody>
      </p:sp>
      <p:sp>
        <p:nvSpPr>
          <p:cNvPr id="511" name="Google Shape;511;p39"/>
          <p:cNvSpPr/>
          <p:nvPr/>
        </p:nvSpPr>
        <p:spPr>
          <a:xfrm>
            <a:off x="5660022" y="1676400"/>
            <a:ext cx="6531978" cy="41857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Check node </a:t>
            </a:r>
            <a:r>
              <a:rPr b="1" lang="en-US" sz="14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1"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Allowed </a:t>
            </a:r>
            <a:r>
              <a:rPr b="0" i="0" lang="en-US" sz="1400" u="none" cap="none" strike="noStrike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range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(-∞, </a:t>
            </a:r>
            <a:r>
              <a:rPr b="0" i="0" lang="en-US" sz="14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b="0" i="0" lang="en-US" sz="1400" u="none" cap="none" strike="noStrike">
                <a:solidFill>
                  <a:srgbClr val="007000"/>
                </a:solidFill>
                <a:latin typeface="Consolas"/>
                <a:ea typeface="Consolas"/>
                <a:cs typeface="Consolas"/>
                <a:sym typeface="Consolas"/>
              </a:rPr>
              <a:t>✅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ok.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No children → valid.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Check node </a:t>
            </a:r>
            <a:r>
              <a:rPr b="1" lang="en-US" sz="14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r>
              <a:rPr b="1"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Allowed </a:t>
            </a:r>
            <a:r>
              <a:rPr b="0" i="0" lang="en-US" sz="1400" u="none" cap="none" strike="noStrike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range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(</a:t>
            </a:r>
            <a:r>
              <a:rPr b="0" i="0" lang="en-US" sz="14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4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b="0" i="0" lang="en-US" sz="1400" u="none" cap="none" strike="noStrike">
                <a:solidFill>
                  <a:srgbClr val="007000"/>
                </a:solidFill>
                <a:latin typeface="Consolas"/>
                <a:ea typeface="Consolas"/>
                <a:cs typeface="Consolas"/>
                <a:sym typeface="Consolas"/>
              </a:rPr>
              <a:t>✅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ok.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No children → valid.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Check right child </a:t>
            </a:r>
            <a:r>
              <a:rPr b="1" lang="en-US" sz="14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15</a:t>
            </a:r>
            <a:r>
              <a:rPr b="1"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Allowed </a:t>
            </a:r>
            <a:r>
              <a:rPr b="0" i="0" lang="en-US" sz="1400" u="none" cap="none" strike="noStrike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range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(</a:t>
            </a:r>
            <a:r>
              <a:rPr b="0" i="0" lang="en-US" sz="1400" u="none" cap="none" strike="noStrike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∞) </a:t>
            </a:r>
            <a:r>
              <a:rPr b="0" i="0" lang="en-US" sz="1400" u="none" cap="none" strike="noStrike">
                <a:solidFill>
                  <a:srgbClr val="007000"/>
                </a:solidFill>
                <a:latin typeface="Consolas"/>
                <a:ea typeface="Consolas"/>
                <a:cs typeface="Consolas"/>
                <a:sym typeface="Consolas"/>
              </a:rPr>
              <a:t>✅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ok.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No children → valid.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Since </a:t>
            </a:r>
            <a:r>
              <a:rPr b="0" i="0" lang="en-US" sz="1400" u="none" cap="none" strike="noStrike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all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checks </a:t>
            </a:r>
            <a:r>
              <a:rPr b="0" i="0" lang="en-US" sz="1400" u="none" cap="none" strike="noStrike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pass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the function returns </a:t>
            </a:r>
            <a:r>
              <a:rPr b="1" i="0" lang="en-US" sz="140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40"/>
          <p:cNvSpPr/>
          <p:nvPr/>
        </p:nvSpPr>
        <p:spPr>
          <a:xfrm>
            <a:off x="5791200" y="2028616"/>
            <a:ext cx="6278997" cy="28007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-US" sz="1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createInvalidBST</a:t>
            </a:r>
            <a:r>
              <a:rPr lang="en-US" sz="1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6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"""</a:t>
            </a:r>
            <a:r>
              <a:rPr lang="en-US" sz="16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 Creates a binary tree that is NOT a valid BST for testing. </a:t>
            </a:r>
            <a:r>
              <a:rPr lang="en-US" sz="16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"""</a:t>
            </a:r>
            <a:endParaRPr sz="1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6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6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BTNode</a:t>
            </a:r>
            <a:r>
              <a:rPr lang="en-US" sz="1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6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en-US" sz="1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6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 = </a:t>
            </a:r>
            <a:r>
              <a:rPr lang="en-US" sz="16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BTNode</a:t>
            </a:r>
            <a:r>
              <a:rPr lang="en-US" sz="1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6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-US" sz="1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6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 = </a:t>
            </a:r>
            <a:r>
              <a:rPr lang="en-US" sz="16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BTNode</a:t>
            </a:r>
            <a:r>
              <a:rPr lang="en-US" sz="1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6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r>
              <a:rPr lang="en-US" sz="1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6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.left.right = </a:t>
            </a:r>
            <a:r>
              <a:rPr lang="en-US" sz="16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BTNode</a:t>
            </a:r>
            <a:r>
              <a:rPr lang="en-US" sz="1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6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r>
              <a:rPr lang="en-US" sz="1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  </a:t>
            </a:r>
            <a:r>
              <a:rPr lang="en-US" sz="16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Invalid: 6 is greater than parent 3</a:t>
            </a:r>
            <a:endParaRPr sz="1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6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1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endParaRPr sz="1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sz="1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18" name="Google Shape;518;p40"/>
          <p:cNvSpPr txBox="1"/>
          <p:nvPr>
            <p:ph type="title"/>
          </p:nvPr>
        </p:nvSpPr>
        <p:spPr>
          <a:xfrm>
            <a:off x="0" y="39261"/>
            <a:ext cx="12192000" cy="6465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erdana"/>
              <a:buNone/>
            </a:pPr>
            <a:r>
              <a:rPr lang="en-US"/>
              <a:t>Q03 - Answer</a:t>
            </a:r>
            <a:endParaRPr/>
          </a:p>
        </p:txBody>
      </p:sp>
      <p:sp>
        <p:nvSpPr>
          <p:cNvPr id="519" name="Google Shape;519;p40"/>
          <p:cNvSpPr/>
          <p:nvPr/>
        </p:nvSpPr>
        <p:spPr>
          <a:xfrm>
            <a:off x="997987" y="1091930"/>
            <a:ext cx="99060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 u="sng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Additional functions: createInvalidBST()  </a:t>
            </a:r>
            <a:endParaRPr/>
          </a:p>
        </p:txBody>
      </p:sp>
      <p:sp>
        <p:nvSpPr>
          <p:cNvPr id="520" name="Google Shape;520;p40"/>
          <p:cNvSpPr/>
          <p:nvPr/>
        </p:nvSpPr>
        <p:spPr>
          <a:xfrm>
            <a:off x="863707" y="3043154"/>
            <a:ext cx="4141585" cy="2031325"/>
          </a:xfrm>
          <a:prstGeom prst="rect">
            <a:avLst/>
          </a:prstGeom>
          <a:noFill/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root node has value 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Adds a 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left child 3 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 root.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Adds a 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right child 7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under root.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Adds a right </a:t>
            </a:r>
            <a:r>
              <a:rPr b="1"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child 6 under the node 3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  <p:sp>
        <p:nvSpPr>
          <p:cNvPr id="521" name="Google Shape;521;p40"/>
          <p:cNvSpPr/>
          <p:nvPr/>
        </p:nvSpPr>
        <p:spPr>
          <a:xfrm>
            <a:off x="5123111" y="3902010"/>
            <a:ext cx="439489" cy="313611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40"/>
          <p:cNvSpPr/>
          <p:nvPr/>
        </p:nvSpPr>
        <p:spPr>
          <a:xfrm>
            <a:off x="5638800" y="2750946"/>
            <a:ext cx="5797889" cy="1651962"/>
          </a:xfrm>
          <a:prstGeom prst="rect">
            <a:avLst/>
          </a:prstGeom>
          <a:noFill/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40"/>
          <p:cNvSpPr/>
          <p:nvPr/>
        </p:nvSpPr>
        <p:spPr>
          <a:xfrm>
            <a:off x="6159548" y="4584596"/>
            <a:ext cx="2451052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</a:t>
            </a:r>
            <a:r>
              <a:rPr lang="en-US" sz="18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/ \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</a:t>
            </a:r>
            <a:r>
              <a:rPr lang="en-US" sz="18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  </a:t>
            </a:r>
            <a:r>
              <a:rPr lang="en-US" sz="18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\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</a:t>
            </a:r>
            <a:r>
              <a:rPr lang="en-US" sz="18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❌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41"/>
          <p:cNvSpPr/>
          <p:nvPr/>
        </p:nvSpPr>
        <p:spPr>
          <a:xfrm>
            <a:off x="457200" y="754757"/>
            <a:ext cx="11201400" cy="57222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41"/>
          <p:cNvSpPr txBox="1"/>
          <p:nvPr>
            <p:ph type="title"/>
          </p:nvPr>
        </p:nvSpPr>
        <p:spPr>
          <a:xfrm>
            <a:off x="0" y="39261"/>
            <a:ext cx="12192000" cy="6465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erdana"/>
              <a:buNone/>
            </a:pPr>
            <a:r>
              <a:rPr lang="en-US"/>
              <a:t>Q03 – Answer (Complete code)</a:t>
            </a:r>
            <a:endParaRPr/>
          </a:p>
        </p:txBody>
      </p:sp>
      <p:sp>
        <p:nvSpPr>
          <p:cNvPr id="531" name="Google Shape;531;p41"/>
          <p:cNvSpPr/>
          <p:nvPr/>
        </p:nvSpPr>
        <p:spPr>
          <a:xfrm>
            <a:off x="228600" y="840968"/>
            <a:ext cx="3124200" cy="6017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BTNode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7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__init__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7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item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left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7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right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7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7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.item = </a:t>
            </a:r>
            <a:r>
              <a:rPr lang="en-US" sz="7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item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 </a:t>
            </a:r>
            <a:r>
              <a:rPr lang="en-US" sz="7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Store the item (integer)</a:t>
            </a:r>
            <a:endParaRPr sz="7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7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 = </a:t>
            </a:r>
            <a:r>
              <a:rPr lang="en-US" sz="7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left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 </a:t>
            </a:r>
            <a:r>
              <a:rPr lang="en-US" sz="7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Reference to the left child node</a:t>
            </a:r>
            <a:endParaRPr sz="7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7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 = </a:t>
            </a:r>
            <a:r>
              <a:rPr lang="en-US" sz="7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right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 </a:t>
            </a:r>
            <a:r>
              <a:rPr lang="en-US" sz="7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Reference to the right child node</a:t>
            </a:r>
            <a:endParaRPr sz="7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insertBSTNode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7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7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"""</a:t>
            </a:r>
            <a:r>
              <a:rPr lang="en-US" sz="7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 Iterative approach to insert a node into a BST. </a:t>
            </a:r>
            <a:r>
              <a:rPr lang="en-US" sz="7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"""</a:t>
            </a:r>
            <a:endParaRPr sz="7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7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is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7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BTNode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7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  </a:t>
            </a:r>
            <a:r>
              <a:rPr lang="en-US" sz="7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If tree is empty, create root</a:t>
            </a:r>
            <a:endParaRPr sz="7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7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parent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7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endParaRPr sz="7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7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current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7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endParaRPr sz="7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7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current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7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parent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7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current</a:t>
            </a:r>
            <a:endParaRPr sz="7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7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 sz="7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current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.item: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7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current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7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current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</a:t>
            </a:r>
            <a:endParaRPr sz="7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7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elif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&gt; </a:t>
            </a:r>
            <a:r>
              <a:rPr lang="en-US" sz="7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current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.item: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7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current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7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current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</a:t>
            </a:r>
            <a:endParaRPr sz="7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7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7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 </a:t>
            </a:r>
            <a:r>
              <a:rPr lang="en-US" sz="7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Value already exists, return root unchanged</a:t>
            </a:r>
            <a:endParaRPr sz="7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7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 sz="7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parent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.item: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7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parent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 = </a:t>
            </a:r>
            <a:r>
              <a:rPr lang="en-US" sz="7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BTNode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7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7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7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parent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 = </a:t>
            </a:r>
            <a:r>
              <a:rPr lang="en-US" sz="7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BTNode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7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7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endParaRPr sz="7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printBSTInOrder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7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7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"""</a:t>
            </a:r>
            <a:r>
              <a:rPr lang="en-US" sz="7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 Print BST items in sorted order using in-order traversal. </a:t>
            </a:r>
            <a:r>
              <a:rPr lang="en-US" sz="7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"""</a:t>
            </a:r>
            <a:endParaRPr sz="7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7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7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printBSTInOrder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7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7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7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.item, </a:t>
            </a:r>
            <a:r>
              <a:rPr lang="en-US" sz="7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end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7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7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7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printBSTInOrder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7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printTree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7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level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7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prefix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7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7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Root: </a:t>
            </a:r>
            <a:r>
              <a:rPr lang="en-US" sz="7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7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"""</a:t>
            </a:r>
            <a:r>
              <a:rPr lang="en-US" sz="7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 Pretty prints the tree structure for better visualization </a:t>
            </a:r>
            <a:r>
              <a:rPr lang="en-US" sz="7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"""</a:t>
            </a:r>
            <a:endParaRPr sz="7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7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is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not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7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7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7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* </a:t>
            </a:r>
            <a:r>
              <a:rPr lang="en-US" sz="7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level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lang="en-US" sz="7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prefix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lang="en-US" sz="7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str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7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.item))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7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 </a:t>
            </a:r>
            <a:r>
              <a:rPr lang="en-US" sz="7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or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7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lang="en-US" sz="7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printTree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7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.left, </a:t>
            </a:r>
            <a:r>
              <a:rPr lang="en-US" sz="7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level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lang="en-US" sz="7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7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L--- </a:t>
            </a:r>
            <a:r>
              <a:rPr lang="en-US" sz="7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7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lang="en-US" sz="7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printTree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7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.right, </a:t>
            </a:r>
            <a:r>
              <a:rPr lang="en-US" sz="7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level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lang="en-US" sz="7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7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R--- </a:t>
            </a:r>
            <a:r>
              <a:rPr lang="en-US" sz="7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sz="7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2" name="Google Shape;532;p41"/>
          <p:cNvSpPr/>
          <p:nvPr/>
        </p:nvSpPr>
        <p:spPr>
          <a:xfrm>
            <a:off x="7848600" y="1306355"/>
            <a:ext cx="6096000" cy="51706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6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__name__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== </a:t>
            </a:r>
            <a:r>
              <a:rPr lang="en-US" sz="6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6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__main__</a:t>
            </a:r>
            <a:r>
              <a:rPr lang="en-US" sz="6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6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endParaRPr sz="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6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6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6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Binary Search Tree In-Order Traversal &amp; Validation Program</a:t>
            </a:r>
            <a:r>
              <a:rPr lang="en-US" sz="6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6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6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6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===========================================================</a:t>
            </a:r>
            <a:r>
              <a:rPr lang="en-US" sz="6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6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6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600">
                <a:solidFill>
                  <a:srgbClr val="B776FB"/>
                </a:solidFill>
                <a:latin typeface="Consolas"/>
                <a:ea typeface="Consolas"/>
                <a:cs typeface="Consolas"/>
                <a:sym typeface="Consolas"/>
              </a:rPr>
              <a:t>\n</a:t>
            </a:r>
            <a:r>
              <a:rPr lang="en-US" sz="6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First, let's build the BST:</a:t>
            </a:r>
            <a:r>
              <a:rPr lang="en-US" sz="6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6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6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try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6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6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input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6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600">
                <a:solidFill>
                  <a:srgbClr val="B776FB"/>
                </a:solidFill>
                <a:latin typeface="Consolas"/>
                <a:ea typeface="Consolas"/>
                <a:cs typeface="Consolas"/>
                <a:sym typeface="Consolas"/>
              </a:rPr>
              <a:t>\n</a:t>
            </a:r>
            <a:r>
              <a:rPr lang="en-US" sz="6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Enter a value to insert (-1 to quit): </a:t>
            </a:r>
            <a:r>
              <a:rPr lang="en-US" sz="6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6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not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6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lang="en-US" sz="6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continue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 </a:t>
            </a:r>
            <a:r>
              <a:rPr lang="en-US" sz="6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Ignore empty inputs</a:t>
            </a:r>
            <a:endParaRPr sz="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6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6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6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6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6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== -</a:t>
            </a:r>
            <a:r>
              <a:rPr lang="en-US" sz="6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lang="en-US" sz="6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break</a:t>
            </a:r>
            <a:endParaRPr sz="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6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6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insertBSTNode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6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6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6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Print both in-order traversal and tree structure after each insertion</a:t>
            </a:r>
            <a:endParaRPr sz="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6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6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600">
                <a:solidFill>
                  <a:srgbClr val="B776FB"/>
                </a:solidFill>
                <a:latin typeface="Consolas"/>
                <a:ea typeface="Consolas"/>
                <a:cs typeface="Consolas"/>
                <a:sym typeface="Consolas"/>
              </a:rPr>
              <a:t>\n</a:t>
            </a:r>
            <a:r>
              <a:rPr lang="en-US" sz="6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Current in-order traversal:</a:t>
            </a:r>
            <a:r>
              <a:rPr lang="en-US" sz="6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6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end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6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6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6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6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printBSTInOrder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6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6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6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600">
                <a:solidFill>
                  <a:srgbClr val="B776FB"/>
                </a:solidFill>
                <a:latin typeface="Consolas"/>
                <a:ea typeface="Consolas"/>
                <a:cs typeface="Consolas"/>
                <a:sym typeface="Consolas"/>
              </a:rPr>
              <a:t>\n\n</a:t>
            </a:r>
            <a:r>
              <a:rPr lang="en-US" sz="6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Current BST structure:</a:t>
            </a:r>
            <a:r>
              <a:rPr lang="en-US" sz="6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6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printTree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6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6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()  </a:t>
            </a:r>
            <a:r>
              <a:rPr lang="en-US" sz="6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New line for better readability</a:t>
            </a:r>
            <a:endParaRPr sz="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6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except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6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ValueError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6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6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6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Invalid input! Please enter an integer.</a:t>
            </a:r>
            <a:r>
              <a:rPr lang="en-US" sz="6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6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6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600">
                <a:solidFill>
                  <a:srgbClr val="B776FB"/>
                </a:solidFill>
                <a:latin typeface="Consolas"/>
                <a:ea typeface="Consolas"/>
                <a:cs typeface="Consolas"/>
                <a:sym typeface="Consolas"/>
              </a:rPr>
              <a:t>\n</a:t>
            </a:r>
            <a:r>
              <a:rPr lang="en-US" sz="6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Final in-order traversal (sorted order):</a:t>
            </a:r>
            <a:r>
              <a:rPr lang="en-US" sz="6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6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end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6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6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6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6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printBSTInOrder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6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6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6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600">
                <a:solidFill>
                  <a:srgbClr val="B776FB"/>
                </a:solidFill>
                <a:latin typeface="Consolas"/>
                <a:ea typeface="Consolas"/>
                <a:cs typeface="Consolas"/>
                <a:sym typeface="Consolas"/>
              </a:rPr>
              <a:t>\n\n</a:t>
            </a:r>
            <a:r>
              <a:rPr lang="en-US" sz="6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Final BST structure:</a:t>
            </a:r>
            <a:r>
              <a:rPr lang="en-US" sz="6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6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printTree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6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6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6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Validate if the final tree is a BST</a:t>
            </a:r>
            <a:endParaRPr sz="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6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6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600">
                <a:solidFill>
                  <a:srgbClr val="B776FB"/>
                </a:solidFill>
                <a:latin typeface="Consolas"/>
                <a:ea typeface="Consolas"/>
                <a:cs typeface="Consolas"/>
                <a:sym typeface="Consolas"/>
              </a:rPr>
              <a:t>\n</a:t>
            </a:r>
            <a:r>
              <a:rPr lang="en-US" sz="6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Checking if the tree is a valid BST...</a:t>
            </a:r>
            <a:r>
              <a:rPr lang="en-US" sz="6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6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6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isBST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6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6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6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6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The tree is a valid BST!</a:t>
            </a:r>
            <a:r>
              <a:rPr lang="en-US" sz="6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6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6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6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6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The tree is NOT a valid BST!</a:t>
            </a:r>
            <a:r>
              <a:rPr lang="en-US" sz="6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6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Test with an invalid BST</a:t>
            </a:r>
            <a:endParaRPr sz="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6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6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600">
                <a:solidFill>
                  <a:srgbClr val="B776FB"/>
                </a:solidFill>
                <a:latin typeface="Consolas"/>
                <a:ea typeface="Consolas"/>
                <a:cs typeface="Consolas"/>
                <a:sym typeface="Consolas"/>
              </a:rPr>
              <a:t>\n</a:t>
            </a:r>
            <a:r>
              <a:rPr lang="en-US" sz="6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Testing with an invalid binary tree...</a:t>
            </a:r>
            <a:r>
              <a:rPr lang="en-US" sz="6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6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invalid_root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6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createInvalidBST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6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6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600">
                <a:solidFill>
                  <a:srgbClr val="B776FB"/>
                </a:solidFill>
                <a:latin typeface="Consolas"/>
                <a:ea typeface="Consolas"/>
                <a:cs typeface="Consolas"/>
                <a:sym typeface="Consolas"/>
              </a:rPr>
              <a:t>\n</a:t>
            </a:r>
            <a:r>
              <a:rPr lang="en-US" sz="6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Invalid BST structure:</a:t>
            </a:r>
            <a:r>
              <a:rPr lang="en-US" sz="6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6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printTree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6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invalid_root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6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6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600">
                <a:solidFill>
                  <a:srgbClr val="B776FB"/>
                </a:solidFill>
                <a:latin typeface="Consolas"/>
                <a:ea typeface="Consolas"/>
                <a:cs typeface="Consolas"/>
                <a:sym typeface="Consolas"/>
              </a:rPr>
              <a:t>\n</a:t>
            </a:r>
            <a:r>
              <a:rPr lang="en-US" sz="6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Checking if the invalid tree is a BST...</a:t>
            </a:r>
            <a:r>
              <a:rPr lang="en-US" sz="6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6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6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isBST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6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invalid_root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6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6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6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The tree is a valid BST!</a:t>
            </a:r>
            <a:r>
              <a:rPr lang="en-US" sz="6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6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6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6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6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The tree is NOT a valid BST!</a:t>
            </a:r>
            <a:r>
              <a:rPr lang="en-US" sz="6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41"/>
          <p:cNvSpPr/>
          <p:nvPr/>
        </p:nvSpPr>
        <p:spPr>
          <a:xfrm>
            <a:off x="3657600" y="1306355"/>
            <a:ext cx="4038600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isBST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7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min_val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7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float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7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lang="en-US" sz="7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-inf</a:t>
            </a:r>
            <a:r>
              <a:rPr lang="en-US" sz="7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), </a:t>
            </a:r>
            <a:r>
              <a:rPr lang="en-US" sz="7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max_val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7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float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7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lang="en-US" sz="7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inf</a:t>
            </a:r>
            <a:r>
              <a:rPr lang="en-US" sz="7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7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"""</a:t>
            </a:r>
            <a:r>
              <a:rPr lang="en-US" sz="7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 Checks if a tree is a valid BST using min/max constraints. </a:t>
            </a:r>
            <a:r>
              <a:rPr lang="en-US" sz="7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"""</a:t>
            </a:r>
            <a:endParaRPr sz="7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7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is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7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endParaRPr sz="7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7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not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7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min_val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 sz="7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.item &lt; </a:t>
            </a:r>
            <a:r>
              <a:rPr lang="en-US" sz="7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max_val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7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False</a:t>
            </a:r>
            <a:endParaRPr sz="7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7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isBST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7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.left, </a:t>
            </a:r>
            <a:r>
              <a:rPr lang="en-US" sz="7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min_val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.item) </a:t>
            </a:r>
            <a:r>
              <a:rPr lang="en-US" sz="7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and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isBST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7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.right, </a:t>
            </a:r>
            <a:r>
              <a:rPr lang="en-US" sz="7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.item, </a:t>
            </a:r>
            <a:r>
              <a:rPr lang="en-US" sz="7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max_val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createInvalidBST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7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"""</a:t>
            </a:r>
            <a:r>
              <a:rPr lang="en-US" sz="7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 Creates a binary tree that is NOT a valid BST for testing. </a:t>
            </a:r>
            <a:r>
              <a:rPr lang="en-US" sz="7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"""</a:t>
            </a:r>
            <a:endParaRPr sz="7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7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7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BTNode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7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7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 = </a:t>
            </a:r>
            <a:r>
              <a:rPr lang="en-US" sz="7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BTNode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7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7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 = </a:t>
            </a:r>
            <a:r>
              <a:rPr lang="en-US" sz="7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BTNode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7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7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.left.right = </a:t>
            </a:r>
            <a:r>
              <a:rPr lang="en-US" sz="7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BTNode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7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  </a:t>
            </a:r>
            <a:r>
              <a:rPr lang="en-US" sz="7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Invalid: 6 is greater than parent 3</a:t>
            </a:r>
            <a:endParaRPr sz="7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7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endParaRPr sz="7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42"/>
          <p:cNvSpPr txBox="1"/>
          <p:nvPr>
            <p:ph type="title"/>
          </p:nvPr>
        </p:nvSpPr>
        <p:spPr>
          <a:xfrm>
            <a:off x="0" y="39261"/>
            <a:ext cx="12192000" cy="6465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erdana"/>
              <a:buNone/>
            </a:pPr>
            <a:r>
              <a:rPr lang="en-US"/>
              <a:t>Q04</a:t>
            </a:r>
            <a:endParaRPr/>
          </a:p>
        </p:txBody>
      </p:sp>
      <p:sp>
        <p:nvSpPr>
          <p:cNvPr id="540" name="Google Shape;540;p42"/>
          <p:cNvSpPr/>
          <p:nvPr/>
        </p:nvSpPr>
        <p:spPr>
          <a:xfrm>
            <a:off x="1295400" y="1600200"/>
            <a:ext cx="9601200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Write a function </a:t>
            </a: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removeBSTNode()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that removes a given item from a Binary Search Tree. The function should return 0 if the item was successfully removed and -1 otherwise.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def removeBSTNode(node, value):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43"/>
          <p:cNvSpPr/>
          <p:nvPr/>
        </p:nvSpPr>
        <p:spPr>
          <a:xfrm>
            <a:off x="5053708" y="1809750"/>
            <a:ext cx="6985892" cy="41857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removeBSTNode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"""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    Returns the updated root node and a result code (0 for success, -1 for failure).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"""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is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-</a:t>
            </a:r>
            <a:r>
              <a:rPr lang="en-US" sz="14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Search for the node to remove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.item: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new_left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4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result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4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removeBSTNode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.left,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 = </a:t>
            </a:r>
            <a:r>
              <a:rPr lang="en-US" sz="14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new_left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4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result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elif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&gt;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.item: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new_right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4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result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4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removeBSTNode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.right,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 = </a:t>
            </a:r>
            <a:r>
              <a:rPr lang="en-US" sz="14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new_right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4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result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</a:t>
            </a:r>
            <a:endParaRPr b="0"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47" name="Google Shape;547;p43"/>
          <p:cNvSpPr txBox="1"/>
          <p:nvPr>
            <p:ph type="title"/>
          </p:nvPr>
        </p:nvSpPr>
        <p:spPr>
          <a:xfrm>
            <a:off x="0" y="39261"/>
            <a:ext cx="12192000" cy="6465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erdana"/>
              <a:buNone/>
            </a:pPr>
            <a:r>
              <a:rPr lang="en-US"/>
              <a:t>Q04 - Answer</a:t>
            </a:r>
            <a:endParaRPr/>
          </a:p>
        </p:txBody>
      </p:sp>
      <p:sp>
        <p:nvSpPr>
          <p:cNvPr id="548" name="Google Shape;548;p43"/>
          <p:cNvSpPr/>
          <p:nvPr/>
        </p:nvSpPr>
        <p:spPr>
          <a:xfrm>
            <a:off x="997987" y="1091930"/>
            <a:ext cx="99060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 u="sng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Now we will go through the removeBSTNode(root, value) function </a:t>
            </a:r>
            <a:endParaRPr/>
          </a:p>
        </p:txBody>
      </p:sp>
      <p:sp>
        <p:nvSpPr>
          <p:cNvPr id="549" name="Google Shape;549;p43"/>
          <p:cNvSpPr/>
          <p:nvPr/>
        </p:nvSpPr>
        <p:spPr>
          <a:xfrm>
            <a:off x="952266" y="2499201"/>
            <a:ext cx="3124200" cy="1323439"/>
          </a:xfrm>
          <a:prstGeom prst="rect">
            <a:avLst/>
          </a:prstGeom>
          <a:noFill/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the tree is empty </a:t>
            </a: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(root == None)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nothing to remove.</a:t>
            </a:r>
            <a:endParaRPr/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Return None as the new root and </a:t>
            </a: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-1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as failure.</a:t>
            </a:r>
            <a:endParaRPr/>
          </a:p>
        </p:txBody>
      </p:sp>
      <p:sp>
        <p:nvSpPr>
          <p:cNvPr id="550" name="Google Shape;550;p43"/>
          <p:cNvSpPr/>
          <p:nvPr/>
        </p:nvSpPr>
        <p:spPr>
          <a:xfrm>
            <a:off x="4301175" y="2981624"/>
            <a:ext cx="817166" cy="35859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43"/>
          <p:cNvSpPr/>
          <p:nvPr/>
        </p:nvSpPr>
        <p:spPr>
          <a:xfrm>
            <a:off x="5334001" y="2892843"/>
            <a:ext cx="2286000" cy="536157"/>
          </a:xfrm>
          <a:prstGeom prst="rect">
            <a:avLst/>
          </a:prstGeom>
          <a:noFill/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43"/>
          <p:cNvSpPr/>
          <p:nvPr/>
        </p:nvSpPr>
        <p:spPr>
          <a:xfrm>
            <a:off x="9372600" y="5581404"/>
            <a:ext cx="145103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#continued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44"/>
          <p:cNvSpPr/>
          <p:nvPr/>
        </p:nvSpPr>
        <p:spPr>
          <a:xfrm>
            <a:off x="5053708" y="1809750"/>
            <a:ext cx="6985892" cy="41857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removeBSTNode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"""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    Returns the updated root node and a result code (0 for success, -1 for failure).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"""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is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-</a:t>
            </a:r>
            <a:r>
              <a:rPr lang="en-US" sz="14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Search for the node to remove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.item: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new_left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4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result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4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removeBSTNode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.left,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 = </a:t>
            </a:r>
            <a:r>
              <a:rPr lang="en-US" sz="14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new_left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4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result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elif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&gt;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.item: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new_right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4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result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4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removeBSTNode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.right,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 = </a:t>
            </a:r>
            <a:r>
              <a:rPr lang="en-US" sz="14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new_right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4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result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</a:t>
            </a:r>
            <a:endParaRPr b="0"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59" name="Google Shape;559;p44"/>
          <p:cNvSpPr txBox="1"/>
          <p:nvPr>
            <p:ph type="title"/>
          </p:nvPr>
        </p:nvSpPr>
        <p:spPr>
          <a:xfrm>
            <a:off x="0" y="39261"/>
            <a:ext cx="12192000" cy="6465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erdana"/>
              <a:buNone/>
            </a:pPr>
            <a:r>
              <a:rPr lang="en-US"/>
              <a:t>Q04 - Answer</a:t>
            </a:r>
            <a:endParaRPr/>
          </a:p>
        </p:txBody>
      </p:sp>
      <p:sp>
        <p:nvSpPr>
          <p:cNvPr id="560" name="Google Shape;560;p44"/>
          <p:cNvSpPr/>
          <p:nvPr/>
        </p:nvSpPr>
        <p:spPr>
          <a:xfrm>
            <a:off x="997987" y="1091930"/>
            <a:ext cx="99060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 u="sng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Now we will go through the removeBSTNode(root, value) function </a:t>
            </a:r>
            <a:endParaRPr/>
          </a:p>
        </p:txBody>
      </p:sp>
      <p:sp>
        <p:nvSpPr>
          <p:cNvPr id="561" name="Google Shape;561;p44"/>
          <p:cNvSpPr/>
          <p:nvPr/>
        </p:nvSpPr>
        <p:spPr>
          <a:xfrm>
            <a:off x="938908" y="1963638"/>
            <a:ext cx="3383458" cy="4031873"/>
          </a:xfrm>
          <a:prstGeom prst="rect">
            <a:avLst/>
          </a:prstGeom>
          <a:noFill/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Searching for the Node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Standard BST search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value is </a:t>
            </a: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smaller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go left.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value is </a:t>
            </a: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bigger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go right.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Recursive call updates the subtree (</a:t>
            </a: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root.left 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 </a:t>
            </a: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root.right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Pass the result code up.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 this point, if we don’t return yet, it means: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We’ve found the node to delete (value == root.item).</a:t>
            </a:r>
            <a:endParaRPr/>
          </a:p>
        </p:txBody>
      </p:sp>
      <p:sp>
        <p:nvSpPr>
          <p:cNvPr id="562" name="Google Shape;562;p44"/>
          <p:cNvSpPr/>
          <p:nvPr/>
        </p:nvSpPr>
        <p:spPr>
          <a:xfrm>
            <a:off x="4495800" y="4433886"/>
            <a:ext cx="817166" cy="35859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44"/>
          <p:cNvSpPr/>
          <p:nvPr/>
        </p:nvSpPr>
        <p:spPr>
          <a:xfrm>
            <a:off x="5486400" y="3733800"/>
            <a:ext cx="5562600" cy="1758764"/>
          </a:xfrm>
          <a:prstGeom prst="rect">
            <a:avLst/>
          </a:prstGeom>
          <a:noFill/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44"/>
          <p:cNvSpPr/>
          <p:nvPr/>
        </p:nvSpPr>
        <p:spPr>
          <a:xfrm>
            <a:off x="9372600" y="5581404"/>
            <a:ext cx="145103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#continued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45"/>
          <p:cNvSpPr/>
          <p:nvPr/>
        </p:nvSpPr>
        <p:spPr>
          <a:xfrm>
            <a:off x="4800600" y="1671250"/>
            <a:ext cx="8610600" cy="46166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Node found, handle the three cases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Case 1: Leaf node (no children)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is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and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is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4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Case 2: Node with only one child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is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.right, </a:t>
            </a:r>
            <a:r>
              <a:rPr lang="en-US" sz="14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is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.left, </a:t>
            </a:r>
            <a:r>
              <a:rPr lang="en-US" sz="14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Case 3: Node with two children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Find the inorder successor (smallest node in right subtree)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successor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4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findMin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.item = </a:t>
            </a:r>
            <a:r>
              <a:rPr lang="en-US" sz="14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successor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.item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Remove the successor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.right, </a:t>
            </a:r>
            <a:r>
              <a:rPr lang="en-US" sz="14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_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4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removeBSTNode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.right, </a:t>
            </a:r>
            <a:r>
              <a:rPr lang="en-US" sz="14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successor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.item)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4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71" name="Google Shape;571;p45"/>
          <p:cNvSpPr txBox="1"/>
          <p:nvPr>
            <p:ph type="title"/>
          </p:nvPr>
        </p:nvSpPr>
        <p:spPr>
          <a:xfrm>
            <a:off x="0" y="39261"/>
            <a:ext cx="12192000" cy="6465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erdana"/>
              <a:buNone/>
            </a:pPr>
            <a:r>
              <a:rPr lang="en-US"/>
              <a:t>Q04 - Answer</a:t>
            </a:r>
            <a:endParaRPr/>
          </a:p>
        </p:txBody>
      </p:sp>
      <p:sp>
        <p:nvSpPr>
          <p:cNvPr id="572" name="Google Shape;572;p45"/>
          <p:cNvSpPr/>
          <p:nvPr/>
        </p:nvSpPr>
        <p:spPr>
          <a:xfrm>
            <a:off x="997987" y="1091930"/>
            <a:ext cx="99060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 u="sng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Now we will go through the removeBSTNode(root, value) function </a:t>
            </a:r>
            <a:endParaRPr/>
          </a:p>
        </p:txBody>
      </p:sp>
      <p:sp>
        <p:nvSpPr>
          <p:cNvPr id="573" name="Google Shape;573;p45"/>
          <p:cNvSpPr/>
          <p:nvPr/>
        </p:nvSpPr>
        <p:spPr>
          <a:xfrm>
            <a:off x="940729" y="2030100"/>
            <a:ext cx="3383458" cy="1323439"/>
          </a:xfrm>
          <a:prstGeom prst="rect">
            <a:avLst/>
          </a:prstGeom>
          <a:noFill/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the node has no children, just delete it.</a:t>
            </a:r>
            <a:endParaRPr/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Returning </a:t>
            </a: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None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removes the reference from its parent.</a:t>
            </a:r>
            <a:endParaRPr/>
          </a:p>
        </p:txBody>
      </p:sp>
      <p:sp>
        <p:nvSpPr>
          <p:cNvPr id="574" name="Google Shape;574;p45"/>
          <p:cNvSpPr/>
          <p:nvPr/>
        </p:nvSpPr>
        <p:spPr>
          <a:xfrm>
            <a:off x="4423242" y="2254456"/>
            <a:ext cx="560248" cy="461665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45"/>
          <p:cNvSpPr/>
          <p:nvPr/>
        </p:nvSpPr>
        <p:spPr>
          <a:xfrm>
            <a:off x="5181600" y="2030100"/>
            <a:ext cx="5562600" cy="760316"/>
          </a:xfrm>
          <a:prstGeom prst="rect">
            <a:avLst/>
          </a:prstGeom>
          <a:noFill/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46"/>
          <p:cNvSpPr/>
          <p:nvPr/>
        </p:nvSpPr>
        <p:spPr>
          <a:xfrm>
            <a:off x="4800600" y="1671250"/>
            <a:ext cx="8610600" cy="46166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Node found, handle the three cases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Case 1: Leaf node (no children)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is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and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is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4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Case 2: Node with only one child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is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.right, </a:t>
            </a:r>
            <a:r>
              <a:rPr lang="en-US" sz="14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is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.left, </a:t>
            </a:r>
            <a:r>
              <a:rPr lang="en-US" sz="14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Case 3: Node with two children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Find the inorder successor (smallest node in right subtree)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successor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4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findMin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.item = </a:t>
            </a:r>
            <a:r>
              <a:rPr lang="en-US" sz="14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successor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.item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Remove the successor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.right, </a:t>
            </a:r>
            <a:r>
              <a:rPr lang="en-US" sz="14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_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4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removeBSTNode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.right, </a:t>
            </a:r>
            <a:r>
              <a:rPr lang="en-US" sz="14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successor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.item)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4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82" name="Google Shape;582;p46"/>
          <p:cNvSpPr txBox="1"/>
          <p:nvPr>
            <p:ph type="title"/>
          </p:nvPr>
        </p:nvSpPr>
        <p:spPr>
          <a:xfrm>
            <a:off x="0" y="39261"/>
            <a:ext cx="12192000" cy="6465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erdana"/>
              <a:buNone/>
            </a:pPr>
            <a:r>
              <a:rPr lang="en-US"/>
              <a:t>Q04 - Answer</a:t>
            </a:r>
            <a:endParaRPr/>
          </a:p>
        </p:txBody>
      </p:sp>
      <p:sp>
        <p:nvSpPr>
          <p:cNvPr id="583" name="Google Shape;583;p46"/>
          <p:cNvSpPr/>
          <p:nvPr/>
        </p:nvSpPr>
        <p:spPr>
          <a:xfrm>
            <a:off x="997987" y="1091930"/>
            <a:ext cx="99060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 u="sng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Now we will go through the removeBSTNode(root, value) function </a:t>
            </a:r>
            <a:endParaRPr/>
          </a:p>
        </p:txBody>
      </p:sp>
      <p:sp>
        <p:nvSpPr>
          <p:cNvPr id="584" name="Google Shape;584;p46"/>
          <p:cNvSpPr/>
          <p:nvPr/>
        </p:nvSpPr>
        <p:spPr>
          <a:xfrm>
            <a:off x="1036142" y="3096491"/>
            <a:ext cx="3383458" cy="1077218"/>
          </a:xfrm>
          <a:prstGeom prst="rect">
            <a:avLst/>
          </a:prstGeom>
          <a:noFill/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node has only one </a:t>
            </a: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child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Replace the node with its only child.</a:t>
            </a:r>
            <a:endParaRPr/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keeps the BST structure valid.</a:t>
            </a:r>
            <a:endParaRPr/>
          </a:p>
        </p:txBody>
      </p:sp>
      <p:sp>
        <p:nvSpPr>
          <p:cNvPr id="585" name="Google Shape;585;p46"/>
          <p:cNvSpPr/>
          <p:nvPr/>
        </p:nvSpPr>
        <p:spPr>
          <a:xfrm>
            <a:off x="4520476" y="3357168"/>
            <a:ext cx="560248" cy="461665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46"/>
          <p:cNvSpPr/>
          <p:nvPr/>
        </p:nvSpPr>
        <p:spPr>
          <a:xfrm>
            <a:off x="5181600" y="2973380"/>
            <a:ext cx="3886200" cy="1217619"/>
          </a:xfrm>
          <a:prstGeom prst="rect">
            <a:avLst/>
          </a:prstGeom>
          <a:noFill/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47"/>
          <p:cNvSpPr/>
          <p:nvPr/>
        </p:nvSpPr>
        <p:spPr>
          <a:xfrm>
            <a:off x="4800600" y="1671250"/>
            <a:ext cx="8610600" cy="46166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Node found, handle the three cases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Case 1: Leaf node (no children)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is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and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is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4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Case 2: Node with only one child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is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.right, </a:t>
            </a:r>
            <a:r>
              <a:rPr lang="en-US" sz="14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is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.left, </a:t>
            </a:r>
            <a:r>
              <a:rPr lang="en-US" sz="14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Case 3: Node with two children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Find the inorder successor (smallest node in right subtree)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successor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4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findMin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.item = </a:t>
            </a:r>
            <a:r>
              <a:rPr lang="en-US" sz="14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successor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.item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Remove the successor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.right, </a:t>
            </a:r>
            <a:r>
              <a:rPr lang="en-US" sz="14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_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4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removeBSTNode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.right, </a:t>
            </a:r>
            <a:r>
              <a:rPr lang="en-US" sz="14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successor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.item)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4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4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93" name="Google Shape;593;p47"/>
          <p:cNvSpPr txBox="1"/>
          <p:nvPr>
            <p:ph type="title"/>
          </p:nvPr>
        </p:nvSpPr>
        <p:spPr>
          <a:xfrm>
            <a:off x="0" y="39261"/>
            <a:ext cx="12192000" cy="6465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erdana"/>
              <a:buNone/>
            </a:pPr>
            <a:r>
              <a:rPr lang="en-US"/>
              <a:t>Q04 - Answer</a:t>
            </a:r>
            <a:endParaRPr/>
          </a:p>
        </p:txBody>
      </p:sp>
      <p:sp>
        <p:nvSpPr>
          <p:cNvPr id="594" name="Google Shape;594;p47"/>
          <p:cNvSpPr/>
          <p:nvPr/>
        </p:nvSpPr>
        <p:spPr>
          <a:xfrm>
            <a:off x="997987" y="1091930"/>
            <a:ext cx="99060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 u="sng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Now we will go through the removeBSTNode(root, value) function </a:t>
            </a:r>
            <a:endParaRPr/>
          </a:p>
        </p:txBody>
      </p:sp>
      <p:sp>
        <p:nvSpPr>
          <p:cNvPr id="595" name="Google Shape;595;p47"/>
          <p:cNvSpPr/>
          <p:nvPr/>
        </p:nvSpPr>
        <p:spPr>
          <a:xfrm>
            <a:off x="927468" y="1770433"/>
            <a:ext cx="3383458" cy="4278094"/>
          </a:xfrm>
          <a:prstGeom prst="rect">
            <a:avLst/>
          </a:prstGeom>
          <a:noFill/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Hardest case: node has two children.</a:t>
            </a:r>
            <a:endParaRPr/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Strategy:</a:t>
            </a:r>
            <a:endParaRPr/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inorder successor (</a:t>
            </a: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smallest value in right subtree → findMin(root.right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)).</a:t>
            </a:r>
            <a:endParaRPr/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Replace current node’s value with successor’s value.</a:t>
            </a:r>
            <a:endParaRPr/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Remove the successor from right subtree (it will be a leaf or have only one child).</a:t>
            </a:r>
            <a:endParaRPr/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Keeps BST ordering intact.</a:t>
            </a:r>
            <a:endParaRPr/>
          </a:p>
        </p:txBody>
      </p:sp>
      <p:sp>
        <p:nvSpPr>
          <p:cNvPr id="596" name="Google Shape;596;p47"/>
          <p:cNvSpPr/>
          <p:nvPr/>
        </p:nvSpPr>
        <p:spPr>
          <a:xfrm>
            <a:off x="4520476" y="4743228"/>
            <a:ext cx="560248" cy="461665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47"/>
          <p:cNvSpPr/>
          <p:nvPr/>
        </p:nvSpPr>
        <p:spPr>
          <a:xfrm>
            <a:off x="5219700" y="4173709"/>
            <a:ext cx="6134100" cy="2114189"/>
          </a:xfrm>
          <a:prstGeom prst="rect">
            <a:avLst/>
          </a:prstGeom>
          <a:noFill/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48"/>
          <p:cNvSpPr txBox="1"/>
          <p:nvPr>
            <p:ph type="title"/>
          </p:nvPr>
        </p:nvSpPr>
        <p:spPr>
          <a:xfrm>
            <a:off x="0" y="39261"/>
            <a:ext cx="12192000" cy="6465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erdana"/>
              <a:buNone/>
            </a:pPr>
            <a:r>
              <a:rPr lang="en-US"/>
              <a:t>Q04 - Answer</a:t>
            </a:r>
            <a:endParaRPr/>
          </a:p>
        </p:txBody>
      </p:sp>
      <p:sp>
        <p:nvSpPr>
          <p:cNvPr id="604" name="Google Shape;604;p48"/>
          <p:cNvSpPr/>
          <p:nvPr/>
        </p:nvSpPr>
        <p:spPr>
          <a:xfrm>
            <a:off x="997987" y="1091930"/>
            <a:ext cx="99060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 u="sng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removeBSTNode(root, value) : Example</a:t>
            </a:r>
            <a:endParaRPr/>
          </a:p>
        </p:txBody>
      </p:sp>
      <p:sp>
        <p:nvSpPr>
          <p:cNvPr id="605" name="Google Shape;605;p48"/>
          <p:cNvSpPr/>
          <p:nvPr/>
        </p:nvSpPr>
        <p:spPr>
          <a:xfrm>
            <a:off x="1219200" y="1810386"/>
            <a:ext cx="125130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base BST : </a:t>
            </a:r>
            <a:endParaRPr/>
          </a:p>
        </p:txBody>
      </p:sp>
      <p:sp>
        <p:nvSpPr>
          <p:cNvPr id="606" name="Google Shape;606;p48"/>
          <p:cNvSpPr/>
          <p:nvPr/>
        </p:nvSpPr>
        <p:spPr>
          <a:xfrm>
            <a:off x="997987" y="2477437"/>
            <a:ext cx="2514470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7000"/>
                </a:solidFill>
                <a:latin typeface="Consolas"/>
                <a:ea typeface="Consolas"/>
                <a:cs typeface="Consolas"/>
                <a:sym typeface="Consolas"/>
              </a:rPr>
              <a:t>        10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7000"/>
                </a:solidFill>
                <a:latin typeface="Consolas"/>
                <a:ea typeface="Consolas"/>
                <a:cs typeface="Consolas"/>
                <a:sym typeface="Consolas"/>
              </a:rPr>
              <a:t>       /  \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7000"/>
                </a:solidFill>
                <a:latin typeface="Consolas"/>
                <a:ea typeface="Consolas"/>
                <a:cs typeface="Consolas"/>
                <a:sym typeface="Consolas"/>
              </a:rPr>
              <a:t>      5    15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7000"/>
                </a:solidFill>
                <a:latin typeface="Consolas"/>
                <a:ea typeface="Consolas"/>
                <a:cs typeface="Consolas"/>
                <a:sym typeface="Consolas"/>
              </a:rPr>
              <a:t>     / \     \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7000"/>
                </a:solidFill>
                <a:latin typeface="Consolas"/>
                <a:ea typeface="Consolas"/>
                <a:cs typeface="Consolas"/>
                <a:sym typeface="Consolas"/>
              </a:rPr>
              <a:t>    2   </a:t>
            </a:r>
            <a:r>
              <a:rPr lang="en-US" sz="1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r>
              <a:rPr lang="en-US" sz="1800">
                <a:solidFill>
                  <a:srgbClr val="007000"/>
                </a:solidFill>
                <a:latin typeface="Consolas"/>
                <a:ea typeface="Consolas"/>
                <a:cs typeface="Consolas"/>
                <a:sym typeface="Consolas"/>
              </a:rPr>
              <a:t>     20</a:t>
            </a:r>
            <a:endParaRPr b="0" sz="1800">
              <a:solidFill>
                <a:srgbClr val="007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07" name="Google Shape;607;p48"/>
          <p:cNvSpPr/>
          <p:nvPr/>
        </p:nvSpPr>
        <p:spPr>
          <a:xfrm>
            <a:off x="5181600" y="2108105"/>
            <a:ext cx="416235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 1: Delete a Leaf Node (no children)</a:t>
            </a:r>
            <a:endParaRPr/>
          </a:p>
        </p:txBody>
      </p:sp>
      <p:sp>
        <p:nvSpPr>
          <p:cNvPr id="608" name="Google Shape;608;p48"/>
          <p:cNvSpPr/>
          <p:nvPr/>
        </p:nvSpPr>
        <p:spPr>
          <a:xfrm>
            <a:off x="5410200" y="2730947"/>
            <a:ext cx="3429000" cy="1754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Times New Roman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Remove 7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 7 has </a:t>
            </a: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children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Just delete it (return None).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9" name="Google Shape;609;p48"/>
          <p:cNvSpPr/>
          <p:nvPr/>
        </p:nvSpPr>
        <p:spPr>
          <a:xfrm>
            <a:off x="1028700" y="4595888"/>
            <a:ext cx="248375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8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/  \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</a:t>
            </a:r>
            <a:r>
              <a:rPr lang="en-US" sz="18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   </a:t>
            </a:r>
            <a:r>
              <a:rPr lang="en-US" sz="18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15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/       \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8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        </a:t>
            </a:r>
            <a:r>
              <a:rPr lang="en-US" sz="18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20</a:t>
            </a:r>
            <a:endParaRPr b="0"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0" name="Google Shape;610;p48"/>
          <p:cNvSpPr/>
          <p:nvPr/>
        </p:nvSpPr>
        <p:spPr>
          <a:xfrm>
            <a:off x="1219200" y="4226556"/>
            <a:ext cx="172579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Resulting BST : 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49"/>
          <p:cNvSpPr txBox="1"/>
          <p:nvPr>
            <p:ph type="title"/>
          </p:nvPr>
        </p:nvSpPr>
        <p:spPr>
          <a:xfrm>
            <a:off x="0" y="39261"/>
            <a:ext cx="12192000" cy="6465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erdana"/>
              <a:buNone/>
            </a:pPr>
            <a:r>
              <a:rPr lang="en-US"/>
              <a:t>Q04 - Answer</a:t>
            </a:r>
            <a:endParaRPr/>
          </a:p>
        </p:txBody>
      </p:sp>
      <p:sp>
        <p:nvSpPr>
          <p:cNvPr id="617" name="Google Shape;617;p49"/>
          <p:cNvSpPr/>
          <p:nvPr/>
        </p:nvSpPr>
        <p:spPr>
          <a:xfrm>
            <a:off x="997987" y="1091930"/>
            <a:ext cx="99060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 u="sng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removeBSTNode(root, value) : Example</a:t>
            </a:r>
            <a:endParaRPr/>
          </a:p>
        </p:txBody>
      </p:sp>
      <p:sp>
        <p:nvSpPr>
          <p:cNvPr id="618" name="Google Shape;618;p49"/>
          <p:cNvSpPr/>
          <p:nvPr/>
        </p:nvSpPr>
        <p:spPr>
          <a:xfrm>
            <a:off x="5181600" y="2108105"/>
            <a:ext cx="389722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 2: Delete a Node with One Child</a:t>
            </a:r>
            <a:endParaRPr/>
          </a:p>
        </p:txBody>
      </p:sp>
      <p:sp>
        <p:nvSpPr>
          <p:cNvPr id="619" name="Google Shape;619;p49"/>
          <p:cNvSpPr/>
          <p:nvPr/>
        </p:nvSpPr>
        <p:spPr>
          <a:xfrm>
            <a:off x="5410200" y="2869447"/>
            <a:ext cx="4191000" cy="1477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Remove 15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 15 has only 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 child (20)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Replace 15 with its child 20.</a:t>
            </a:r>
            <a:endParaRPr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0" name="Google Shape;620;p49"/>
          <p:cNvSpPr/>
          <p:nvPr/>
        </p:nvSpPr>
        <p:spPr>
          <a:xfrm>
            <a:off x="1219200" y="1810386"/>
            <a:ext cx="125130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base BST : </a:t>
            </a:r>
            <a:endParaRPr/>
          </a:p>
        </p:txBody>
      </p:sp>
      <p:sp>
        <p:nvSpPr>
          <p:cNvPr id="621" name="Google Shape;621;p49"/>
          <p:cNvSpPr/>
          <p:nvPr/>
        </p:nvSpPr>
        <p:spPr>
          <a:xfrm>
            <a:off x="997987" y="2477437"/>
            <a:ext cx="2514470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7000"/>
                </a:solidFill>
                <a:latin typeface="Consolas"/>
                <a:ea typeface="Consolas"/>
                <a:cs typeface="Consolas"/>
                <a:sym typeface="Consolas"/>
              </a:rPr>
              <a:t>        10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7000"/>
                </a:solidFill>
                <a:latin typeface="Consolas"/>
                <a:ea typeface="Consolas"/>
                <a:cs typeface="Consolas"/>
                <a:sym typeface="Consolas"/>
              </a:rPr>
              <a:t>       /  \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7000"/>
                </a:solidFill>
                <a:latin typeface="Consolas"/>
                <a:ea typeface="Consolas"/>
                <a:cs typeface="Consolas"/>
                <a:sym typeface="Consolas"/>
              </a:rPr>
              <a:t>      5    </a:t>
            </a:r>
            <a:r>
              <a:rPr lang="en-US" sz="1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7000"/>
                </a:solidFill>
                <a:latin typeface="Consolas"/>
                <a:ea typeface="Consolas"/>
                <a:cs typeface="Consolas"/>
                <a:sym typeface="Consolas"/>
              </a:rPr>
              <a:t>     / \     \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7000"/>
                </a:solidFill>
                <a:latin typeface="Consolas"/>
                <a:ea typeface="Consolas"/>
                <a:cs typeface="Consolas"/>
                <a:sym typeface="Consolas"/>
              </a:rPr>
              <a:t>    2   7     20</a:t>
            </a:r>
            <a:endParaRPr b="0" sz="1800">
              <a:solidFill>
                <a:srgbClr val="007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22" name="Google Shape;622;p49"/>
          <p:cNvSpPr/>
          <p:nvPr/>
        </p:nvSpPr>
        <p:spPr>
          <a:xfrm>
            <a:off x="1034210" y="4648200"/>
            <a:ext cx="6096000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8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/  \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</a:t>
            </a:r>
            <a:r>
              <a:rPr lang="en-US" sz="18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   </a:t>
            </a:r>
            <a:r>
              <a:rPr lang="en-US" sz="18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20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/ \   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8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  </a:t>
            </a:r>
            <a:r>
              <a:rPr lang="en-US" sz="18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    </a:t>
            </a:r>
            <a:endParaRPr b="0"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23" name="Google Shape;623;p49"/>
          <p:cNvSpPr/>
          <p:nvPr/>
        </p:nvSpPr>
        <p:spPr>
          <a:xfrm>
            <a:off x="1219200" y="4226556"/>
            <a:ext cx="172579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Resulting BST : 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50"/>
          <p:cNvSpPr txBox="1"/>
          <p:nvPr>
            <p:ph type="title"/>
          </p:nvPr>
        </p:nvSpPr>
        <p:spPr>
          <a:xfrm>
            <a:off x="0" y="39261"/>
            <a:ext cx="12192000" cy="6465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erdana"/>
              <a:buNone/>
            </a:pPr>
            <a:r>
              <a:rPr lang="en-US"/>
              <a:t>Q04 - Answer</a:t>
            </a:r>
            <a:endParaRPr/>
          </a:p>
        </p:txBody>
      </p:sp>
      <p:sp>
        <p:nvSpPr>
          <p:cNvPr id="630" name="Google Shape;630;p50"/>
          <p:cNvSpPr/>
          <p:nvPr/>
        </p:nvSpPr>
        <p:spPr>
          <a:xfrm>
            <a:off x="997987" y="1091930"/>
            <a:ext cx="99060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 u="sng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removeBSTNode(root, value) : Example</a:t>
            </a:r>
            <a:endParaRPr/>
          </a:p>
        </p:txBody>
      </p:sp>
      <p:sp>
        <p:nvSpPr>
          <p:cNvPr id="631" name="Google Shape;631;p50"/>
          <p:cNvSpPr/>
          <p:nvPr/>
        </p:nvSpPr>
        <p:spPr>
          <a:xfrm>
            <a:off x="5181600" y="2108105"/>
            <a:ext cx="423083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 3: Delete a Node with Two Children</a:t>
            </a:r>
            <a:endParaRPr/>
          </a:p>
        </p:txBody>
      </p:sp>
      <p:sp>
        <p:nvSpPr>
          <p:cNvPr id="632" name="Google Shape;632;p50"/>
          <p:cNvSpPr/>
          <p:nvPr/>
        </p:nvSpPr>
        <p:spPr>
          <a:xfrm>
            <a:off x="5410200" y="2619567"/>
            <a:ext cx="5791200" cy="3416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Remove 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 5 has 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 children (2 and 7).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inorder successor 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smallest in right subtree of 5.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Right subtree of 5 is just 7.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Successor = 7.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Replace 5 with 7.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Delete 7 (now it’s a leaf).</a:t>
            </a:r>
            <a:endParaRPr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3" name="Google Shape;633;p50"/>
          <p:cNvSpPr/>
          <p:nvPr/>
        </p:nvSpPr>
        <p:spPr>
          <a:xfrm>
            <a:off x="1219200" y="1810386"/>
            <a:ext cx="125130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base BST : </a:t>
            </a:r>
            <a:endParaRPr/>
          </a:p>
        </p:txBody>
      </p:sp>
      <p:sp>
        <p:nvSpPr>
          <p:cNvPr id="634" name="Google Shape;634;p50"/>
          <p:cNvSpPr/>
          <p:nvPr/>
        </p:nvSpPr>
        <p:spPr>
          <a:xfrm>
            <a:off x="997987" y="2477437"/>
            <a:ext cx="2514470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7000"/>
                </a:solidFill>
                <a:latin typeface="Consolas"/>
                <a:ea typeface="Consolas"/>
                <a:cs typeface="Consolas"/>
                <a:sym typeface="Consolas"/>
              </a:rPr>
              <a:t>        10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7000"/>
                </a:solidFill>
                <a:latin typeface="Consolas"/>
                <a:ea typeface="Consolas"/>
                <a:cs typeface="Consolas"/>
                <a:sym typeface="Consolas"/>
              </a:rPr>
              <a:t>       /  \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7000"/>
                </a:solidFill>
                <a:latin typeface="Consolas"/>
                <a:ea typeface="Consolas"/>
                <a:cs typeface="Consolas"/>
                <a:sym typeface="Consolas"/>
              </a:rPr>
              <a:t>      </a:t>
            </a:r>
            <a:r>
              <a:rPr lang="en-US" sz="1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en-US" sz="1800">
                <a:solidFill>
                  <a:srgbClr val="007000"/>
                </a:solidFill>
                <a:latin typeface="Consolas"/>
                <a:ea typeface="Consolas"/>
                <a:cs typeface="Consolas"/>
                <a:sym typeface="Consolas"/>
              </a:rPr>
              <a:t>    15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7000"/>
                </a:solidFill>
                <a:latin typeface="Consolas"/>
                <a:ea typeface="Consolas"/>
                <a:cs typeface="Consolas"/>
                <a:sym typeface="Consolas"/>
              </a:rPr>
              <a:t>     / \     \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7000"/>
                </a:solidFill>
                <a:latin typeface="Consolas"/>
                <a:ea typeface="Consolas"/>
                <a:cs typeface="Consolas"/>
                <a:sym typeface="Consolas"/>
              </a:rPr>
              <a:t>    2   7     20</a:t>
            </a:r>
            <a:endParaRPr b="0" sz="1800">
              <a:solidFill>
                <a:srgbClr val="007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35" name="Google Shape;635;p50"/>
          <p:cNvSpPr/>
          <p:nvPr/>
        </p:nvSpPr>
        <p:spPr>
          <a:xfrm>
            <a:off x="1219200" y="4226556"/>
            <a:ext cx="172579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Resulting BST : </a:t>
            </a:r>
            <a:endParaRPr/>
          </a:p>
        </p:txBody>
      </p:sp>
      <p:sp>
        <p:nvSpPr>
          <p:cNvPr id="636" name="Google Shape;636;p50"/>
          <p:cNvSpPr/>
          <p:nvPr/>
        </p:nvSpPr>
        <p:spPr>
          <a:xfrm>
            <a:off x="1019629" y="4724400"/>
            <a:ext cx="2514470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8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/  \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</a:t>
            </a:r>
            <a:r>
              <a:rPr lang="en-US" sz="18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   </a:t>
            </a:r>
            <a:r>
              <a:rPr lang="en-US" sz="18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15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/       \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8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        </a:t>
            </a:r>
            <a:r>
              <a:rPr lang="en-US" sz="18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20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51"/>
          <p:cNvSpPr/>
          <p:nvPr/>
        </p:nvSpPr>
        <p:spPr>
          <a:xfrm>
            <a:off x="5734809" y="2278063"/>
            <a:ext cx="6370320" cy="2062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-US" sz="1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findMin</a:t>
            </a:r>
            <a:r>
              <a:rPr lang="en-US" sz="1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6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6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"""</a:t>
            </a:r>
            <a:r>
              <a:rPr lang="en-US" sz="16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 Find the node with the smallest value in a subtree. </a:t>
            </a:r>
            <a:r>
              <a:rPr lang="en-US" sz="16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"""</a:t>
            </a:r>
            <a:endParaRPr sz="1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6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n-US" sz="1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 </a:t>
            </a:r>
            <a:r>
              <a:rPr lang="en-US" sz="1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is</a:t>
            </a:r>
            <a:r>
              <a:rPr lang="en-US" sz="1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not</a:t>
            </a:r>
            <a:r>
              <a:rPr lang="en-US" sz="1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r>
              <a:rPr lang="en-US" sz="1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6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6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1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</a:t>
            </a:r>
            <a:endParaRPr sz="1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6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1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endParaRPr sz="1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sz="1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43" name="Google Shape;643;p51"/>
          <p:cNvSpPr txBox="1"/>
          <p:nvPr>
            <p:ph type="title"/>
          </p:nvPr>
        </p:nvSpPr>
        <p:spPr>
          <a:xfrm>
            <a:off x="0" y="39261"/>
            <a:ext cx="12192000" cy="6465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erdana"/>
              <a:buNone/>
            </a:pPr>
            <a:r>
              <a:rPr lang="en-US"/>
              <a:t>Q04 - Answer</a:t>
            </a:r>
            <a:endParaRPr/>
          </a:p>
        </p:txBody>
      </p:sp>
      <p:sp>
        <p:nvSpPr>
          <p:cNvPr id="644" name="Google Shape;644;p51"/>
          <p:cNvSpPr/>
          <p:nvPr/>
        </p:nvSpPr>
        <p:spPr>
          <a:xfrm>
            <a:off x="997987" y="1091930"/>
            <a:ext cx="99060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 u="sng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Additional functions: findMin(node)</a:t>
            </a:r>
            <a:endParaRPr/>
          </a:p>
        </p:txBody>
      </p:sp>
      <p:sp>
        <p:nvSpPr>
          <p:cNvPr id="645" name="Google Shape;645;p51"/>
          <p:cNvSpPr/>
          <p:nvPr/>
        </p:nvSpPr>
        <p:spPr>
          <a:xfrm>
            <a:off x="982747" y="2278063"/>
            <a:ext cx="4141585" cy="2862322"/>
          </a:xfrm>
          <a:prstGeom prst="rect">
            <a:avLst/>
          </a:prstGeom>
          <a:noFill/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 → the root of the subtree we want to search.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long as the current node has a left child, move one step to the left.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repeats until there is no left child.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 that point, you’ve reached the smallest element.</a:t>
            </a:r>
            <a:endParaRPr/>
          </a:p>
        </p:txBody>
      </p:sp>
      <p:sp>
        <p:nvSpPr>
          <p:cNvPr id="646" name="Google Shape;646;p51"/>
          <p:cNvSpPr/>
          <p:nvPr/>
        </p:nvSpPr>
        <p:spPr>
          <a:xfrm>
            <a:off x="5295320" y="3429000"/>
            <a:ext cx="439489" cy="313611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51"/>
          <p:cNvSpPr/>
          <p:nvPr/>
        </p:nvSpPr>
        <p:spPr>
          <a:xfrm>
            <a:off x="6096000" y="3045483"/>
            <a:ext cx="3505200" cy="856527"/>
          </a:xfrm>
          <a:prstGeom prst="rect">
            <a:avLst/>
          </a:prstGeom>
          <a:noFill/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52"/>
          <p:cNvSpPr/>
          <p:nvPr/>
        </p:nvSpPr>
        <p:spPr>
          <a:xfrm>
            <a:off x="457200" y="754757"/>
            <a:ext cx="11201400" cy="57222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52"/>
          <p:cNvSpPr txBox="1"/>
          <p:nvPr>
            <p:ph type="title"/>
          </p:nvPr>
        </p:nvSpPr>
        <p:spPr>
          <a:xfrm>
            <a:off x="0" y="39261"/>
            <a:ext cx="12192000" cy="6465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erdana"/>
              <a:buNone/>
            </a:pPr>
            <a:r>
              <a:rPr lang="en-US"/>
              <a:t>Q04 – Answer (Complete code)</a:t>
            </a:r>
            <a:endParaRPr/>
          </a:p>
        </p:txBody>
      </p:sp>
      <p:sp>
        <p:nvSpPr>
          <p:cNvPr id="655" name="Google Shape;655;p52"/>
          <p:cNvSpPr/>
          <p:nvPr/>
        </p:nvSpPr>
        <p:spPr>
          <a:xfrm>
            <a:off x="0" y="732634"/>
            <a:ext cx="6973530" cy="5909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6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BTNode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6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__init__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6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6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item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6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left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6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right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6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.item = </a:t>
            </a:r>
            <a:r>
              <a:rPr lang="en-US" sz="6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item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 </a:t>
            </a:r>
            <a:r>
              <a:rPr lang="en-US" sz="6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Store the item (integer)</a:t>
            </a:r>
            <a:endParaRPr sz="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6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 = </a:t>
            </a:r>
            <a:r>
              <a:rPr lang="en-US" sz="6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left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 </a:t>
            </a:r>
            <a:r>
              <a:rPr lang="en-US" sz="6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Reference to the left child node</a:t>
            </a:r>
            <a:endParaRPr sz="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6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 = </a:t>
            </a:r>
            <a:r>
              <a:rPr lang="en-US" sz="6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right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 </a:t>
            </a:r>
            <a:r>
              <a:rPr lang="en-US" sz="6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Reference to the right child node</a:t>
            </a:r>
            <a:endParaRPr sz="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6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insertBSTNode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6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6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6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"""</a:t>
            </a:r>
            <a:r>
              <a:rPr lang="en-US" sz="6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 Recursive approach to insert a node into a BST. </a:t>
            </a:r>
            <a:r>
              <a:rPr lang="en-US" sz="6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"""</a:t>
            </a:r>
            <a:endParaRPr sz="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6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6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is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6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6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BTNode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6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6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6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 sz="6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.item: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6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 = </a:t>
            </a:r>
            <a:r>
              <a:rPr lang="en-US" sz="6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insertBSTNode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6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.left, </a:t>
            </a:r>
            <a:r>
              <a:rPr lang="en-US" sz="6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6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elif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6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&gt; </a:t>
            </a:r>
            <a:r>
              <a:rPr lang="en-US" sz="6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.item: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6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 = </a:t>
            </a:r>
            <a:r>
              <a:rPr lang="en-US" sz="6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insertBSTNode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6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.right, </a:t>
            </a:r>
            <a:r>
              <a:rPr lang="en-US" sz="6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6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6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 </a:t>
            </a:r>
            <a:r>
              <a:rPr lang="en-US" sz="6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Ensure the modified node is returned</a:t>
            </a:r>
            <a:endParaRPr sz="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6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findMin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6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6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"""</a:t>
            </a:r>
            <a:r>
              <a:rPr lang="en-US" sz="6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 Find the node with the smallest value in a subtree. </a:t>
            </a:r>
            <a:r>
              <a:rPr lang="en-US" sz="6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"""</a:t>
            </a:r>
            <a:endParaRPr sz="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6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6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 </a:t>
            </a:r>
            <a:r>
              <a:rPr lang="en-US" sz="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is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not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6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6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</a:t>
            </a:r>
            <a:endParaRPr sz="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6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6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6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removeBSTNode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6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6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6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"""</a:t>
            </a:r>
            <a:endParaRPr sz="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    Returns the updated root node and a result code (0 for success, -1 for failure).</a:t>
            </a:r>
            <a:endParaRPr sz="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6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"""</a:t>
            </a:r>
            <a:endParaRPr sz="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6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6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is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6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-</a:t>
            </a:r>
            <a:r>
              <a:rPr lang="en-US" sz="6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6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Search for the node to remove</a:t>
            </a:r>
            <a:endParaRPr sz="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6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6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 sz="6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.item: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6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new_left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6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result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6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removeBSTNode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6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.left, </a:t>
            </a:r>
            <a:r>
              <a:rPr lang="en-US" sz="6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6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 = </a:t>
            </a:r>
            <a:r>
              <a:rPr lang="en-US" sz="6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new_left</a:t>
            </a:r>
            <a:endParaRPr sz="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6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6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6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result</a:t>
            </a:r>
            <a:endParaRPr sz="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6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elif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6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&gt; </a:t>
            </a:r>
            <a:r>
              <a:rPr lang="en-US" sz="6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.item: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6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new_right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6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result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6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removeBSTNode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6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.right, </a:t>
            </a:r>
            <a:r>
              <a:rPr lang="en-US" sz="6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6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 = </a:t>
            </a:r>
            <a:r>
              <a:rPr lang="en-US" sz="6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new_right</a:t>
            </a:r>
            <a:endParaRPr sz="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6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6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6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result</a:t>
            </a:r>
            <a:endParaRPr sz="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6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Node found, handle the three cases</a:t>
            </a:r>
            <a:endParaRPr sz="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6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Case 1: Leaf node (no children)</a:t>
            </a:r>
            <a:endParaRPr sz="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6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6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 </a:t>
            </a:r>
            <a:r>
              <a:rPr lang="en-US" sz="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is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and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6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 </a:t>
            </a:r>
            <a:r>
              <a:rPr lang="en-US" sz="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is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6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6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6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Case 2: Node with only one child</a:t>
            </a:r>
            <a:endParaRPr sz="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6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6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 </a:t>
            </a:r>
            <a:r>
              <a:rPr lang="en-US" sz="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is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6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6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.right, </a:t>
            </a:r>
            <a:r>
              <a:rPr lang="en-US" sz="6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6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6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 </a:t>
            </a:r>
            <a:r>
              <a:rPr lang="en-US" sz="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is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6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6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.left, </a:t>
            </a:r>
            <a:r>
              <a:rPr lang="en-US" sz="6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6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Case 3: Node with two children</a:t>
            </a:r>
            <a:endParaRPr sz="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6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Find the inorder successor (smallest node in right subtree)</a:t>
            </a:r>
            <a:endParaRPr sz="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6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successor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6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findMin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6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6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.item = </a:t>
            </a:r>
            <a:r>
              <a:rPr lang="en-US" sz="6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successor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.item</a:t>
            </a:r>
            <a:endParaRPr sz="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6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Remove the successor</a:t>
            </a:r>
            <a:endParaRPr sz="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6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.right, </a:t>
            </a:r>
            <a:r>
              <a:rPr lang="en-US" sz="6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_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6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removeBSTNode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6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.right, </a:t>
            </a:r>
            <a:r>
              <a:rPr lang="en-US" sz="6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successor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.item)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sz="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56" name="Google Shape;656;p52"/>
          <p:cNvSpPr/>
          <p:nvPr/>
        </p:nvSpPr>
        <p:spPr>
          <a:xfrm>
            <a:off x="7746345" y="754757"/>
            <a:ext cx="3124200" cy="61247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__name__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== </a:t>
            </a:r>
            <a:r>
              <a:rPr lang="en-US" sz="7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7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__main__</a:t>
            </a:r>
            <a:r>
              <a:rPr lang="en-US" sz="7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7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7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endParaRPr sz="7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7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7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7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Binary Search Tree Node Removal Program</a:t>
            </a:r>
            <a:r>
              <a:rPr lang="en-US" sz="7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7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7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7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=====================================</a:t>
            </a:r>
            <a:r>
              <a:rPr lang="en-US" sz="7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7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7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700">
                <a:solidFill>
                  <a:srgbClr val="B776FB"/>
                </a:solidFill>
                <a:latin typeface="Consolas"/>
                <a:ea typeface="Consolas"/>
                <a:cs typeface="Consolas"/>
                <a:sym typeface="Consolas"/>
              </a:rPr>
              <a:t>\n</a:t>
            </a:r>
            <a:r>
              <a:rPr lang="en-US" sz="7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First, let's build the BST:</a:t>
            </a:r>
            <a:r>
              <a:rPr lang="en-US" sz="7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7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7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try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7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7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input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7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700">
                <a:solidFill>
                  <a:srgbClr val="B776FB"/>
                </a:solidFill>
                <a:latin typeface="Consolas"/>
                <a:ea typeface="Consolas"/>
                <a:cs typeface="Consolas"/>
                <a:sym typeface="Consolas"/>
              </a:rPr>
              <a:t>\n</a:t>
            </a:r>
            <a:r>
              <a:rPr lang="en-US" sz="7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Enter a value to insert (-1 to quit): </a:t>
            </a:r>
            <a:r>
              <a:rPr lang="en-US" sz="7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7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not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lang="en-US" sz="7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continue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 </a:t>
            </a:r>
            <a:r>
              <a:rPr lang="en-US" sz="7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Ignore empty inputs</a:t>
            </a:r>
            <a:endParaRPr sz="7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7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7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7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7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== -</a:t>
            </a:r>
            <a:r>
              <a:rPr lang="en-US" sz="7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lang="en-US" sz="7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break</a:t>
            </a:r>
            <a:endParaRPr sz="7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7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7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insertBSTNode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7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7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7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700">
                <a:solidFill>
                  <a:srgbClr val="B776FB"/>
                </a:solidFill>
                <a:latin typeface="Consolas"/>
                <a:ea typeface="Consolas"/>
                <a:cs typeface="Consolas"/>
                <a:sym typeface="Consolas"/>
              </a:rPr>
              <a:t>\n</a:t>
            </a:r>
            <a:r>
              <a:rPr lang="en-US" sz="7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Current BST structure:</a:t>
            </a:r>
            <a:r>
              <a:rPr lang="en-US" sz="7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7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printTree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7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7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7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700">
                <a:solidFill>
                  <a:srgbClr val="B776FB"/>
                </a:solidFill>
                <a:latin typeface="Consolas"/>
                <a:ea typeface="Consolas"/>
                <a:cs typeface="Consolas"/>
                <a:sym typeface="Consolas"/>
              </a:rPr>
              <a:t>\n</a:t>
            </a:r>
            <a:r>
              <a:rPr lang="en-US" sz="7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In-order traversal: </a:t>
            </a:r>
            <a:r>
              <a:rPr lang="en-US" sz="7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end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7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""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7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printBSTInOrder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7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7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7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except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ValueError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7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7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7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Invalid input! Please enter an integer.</a:t>
            </a:r>
            <a:r>
              <a:rPr lang="en-US" sz="7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7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7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700">
                <a:solidFill>
                  <a:srgbClr val="B776FB"/>
                </a:solidFill>
                <a:latin typeface="Consolas"/>
                <a:ea typeface="Consolas"/>
                <a:cs typeface="Consolas"/>
                <a:sym typeface="Consolas"/>
              </a:rPr>
              <a:t>\n</a:t>
            </a:r>
            <a:r>
              <a:rPr lang="en-US" sz="7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Now let's remove nodes:</a:t>
            </a:r>
            <a:r>
              <a:rPr lang="en-US" sz="7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7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7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try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7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7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input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7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700">
                <a:solidFill>
                  <a:srgbClr val="B776FB"/>
                </a:solidFill>
                <a:latin typeface="Consolas"/>
                <a:ea typeface="Consolas"/>
                <a:cs typeface="Consolas"/>
                <a:sym typeface="Consolas"/>
              </a:rPr>
              <a:t>\n</a:t>
            </a:r>
            <a:r>
              <a:rPr lang="en-US" sz="7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Enter a value to remove (-1 to quit): </a:t>
            </a:r>
            <a:r>
              <a:rPr lang="en-US" sz="7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7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not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lang="en-US" sz="7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continue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 </a:t>
            </a:r>
            <a:r>
              <a:rPr lang="en-US" sz="7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Ignore empty inputs</a:t>
            </a:r>
            <a:endParaRPr sz="7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7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7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7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7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== -</a:t>
            </a:r>
            <a:r>
              <a:rPr lang="en-US" sz="7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lang="en-US" sz="7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break</a:t>
            </a:r>
            <a:endParaRPr sz="7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7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result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7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removeBSTNode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7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7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result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== </a:t>
            </a:r>
            <a:r>
              <a:rPr lang="en-US" sz="7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lang="en-US" sz="7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7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700">
                <a:solidFill>
                  <a:srgbClr val="B776FB"/>
                </a:solidFill>
                <a:latin typeface="Consolas"/>
                <a:ea typeface="Consolas"/>
                <a:cs typeface="Consolas"/>
                <a:sym typeface="Consolas"/>
              </a:rPr>
              <a:t>\n</a:t>
            </a:r>
            <a:r>
              <a:rPr lang="en-US" sz="7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BST structure after removal:</a:t>
            </a:r>
            <a:r>
              <a:rPr lang="en-US" sz="7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lang="en-US" sz="7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printTree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7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lang="en-US" sz="7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7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700">
                <a:solidFill>
                  <a:srgbClr val="B776FB"/>
                </a:solidFill>
                <a:latin typeface="Consolas"/>
                <a:ea typeface="Consolas"/>
                <a:cs typeface="Consolas"/>
                <a:sym typeface="Consolas"/>
              </a:rPr>
              <a:t>\n</a:t>
            </a:r>
            <a:r>
              <a:rPr lang="en-US" sz="7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In-order traversal: </a:t>
            </a:r>
            <a:r>
              <a:rPr lang="en-US" sz="7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end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7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""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lang="en-US" sz="7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printBSTInOrder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7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lang="en-US" sz="7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7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 </a:t>
            </a:r>
            <a:r>
              <a:rPr lang="en-US" sz="7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result == -1</a:t>
            </a:r>
            <a:endParaRPr sz="7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lang="en-US" sz="7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7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7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Value not found in the tree!</a:t>
            </a:r>
            <a:r>
              <a:rPr lang="en-US" sz="7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7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except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ValueError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7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7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7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Invalid input! Please enter an integer.</a:t>
            </a:r>
            <a:r>
              <a:rPr lang="en-US" sz="7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sz="7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57" name="Google Shape;657;p52"/>
          <p:cNvSpPr/>
          <p:nvPr/>
        </p:nvSpPr>
        <p:spPr>
          <a:xfrm>
            <a:off x="3810000" y="990600"/>
            <a:ext cx="3737487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6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6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6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6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printBSTInOrder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6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6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"""</a:t>
            </a:r>
            <a:r>
              <a:rPr lang="en-US" sz="6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 Print BST items in sorted order using in-order traversal. </a:t>
            </a:r>
            <a:r>
              <a:rPr lang="en-US" sz="6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"""</a:t>
            </a:r>
            <a:endParaRPr sz="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6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6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6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printBSTInOrder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6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6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6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.item, </a:t>
            </a:r>
            <a:r>
              <a:rPr lang="en-US" sz="6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end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6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6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6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6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printBSTInOrder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6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6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printTree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6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6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level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6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6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prefix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6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6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Root: </a:t>
            </a:r>
            <a:r>
              <a:rPr lang="en-US" sz="6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6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"""</a:t>
            </a:r>
            <a:r>
              <a:rPr lang="en-US" sz="6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 Pretty prints the tree structure for better visualization </a:t>
            </a:r>
            <a:r>
              <a:rPr lang="en-US" sz="6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"""</a:t>
            </a:r>
            <a:endParaRPr sz="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6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6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is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not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6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6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6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6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* </a:t>
            </a:r>
            <a:r>
              <a:rPr lang="en-US" sz="6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level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lang="en-US" sz="6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prefix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lang="en-US" sz="600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str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6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.item))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6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6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 </a:t>
            </a:r>
            <a:r>
              <a:rPr lang="en-US" sz="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or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6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6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6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lang="en-US" sz="6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printTree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6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.left, </a:t>
            </a:r>
            <a:r>
              <a:rPr lang="en-US" sz="6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level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lang="en-US" sz="6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6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6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L--- </a:t>
            </a:r>
            <a:r>
              <a:rPr lang="en-US" sz="6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</a:t>
            </a:r>
            <a:r>
              <a:rPr lang="en-US" sz="6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6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 </a:t>
            </a:r>
            <a:r>
              <a:rPr lang="en-US" sz="6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printTree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6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.right, </a:t>
            </a:r>
            <a:r>
              <a:rPr lang="en-US" sz="6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level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lang="en-US" sz="6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6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6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R--- </a:t>
            </a:r>
            <a:r>
              <a:rPr lang="en-US" sz="600">
                <a:solidFill>
                  <a:srgbClr val="E21F1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2024-09-01T19:11:44Z</dcterms:created>
  <dc:creator>Thisura Embuldeniya</dc:creator>
</cp:coreProperties>
</file>