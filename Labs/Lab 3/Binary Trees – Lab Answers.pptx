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97" r:id="rId1"/>
  </p:sldMasterIdLst>
  <p:notesMasterIdLst>
    <p:notesMasterId r:id="rId33"/>
  </p:notesMasterIdLst>
  <p:handoutMasterIdLst>
    <p:handoutMasterId r:id="rId34"/>
  </p:handoutMasterIdLst>
  <p:sldIdLst>
    <p:sldId id="256" r:id="rId2"/>
    <p:sldId id="270" r:id="rId3"/>
    <p:sldId id="288" r:id="rId4"/>
    <p:sldId id="293" r:id="rId5"/>
    <p:sldId id="393" r:id="rId6"/>
    <p:sldId id="394" r:id="rId7"/>
    <p:sldId id="395" r:id="rId8"/>
    <p:sldId id="321" r:id="rId9"/>
    <p:sldId id="396" r:id="rId10"/>
    <p:sldId id="397" r:id="rId11"/>
    <p:sldId id="398" r:id="rId12"/>
    <p:sldId id="399" r:id="rId13"/>
    <p:sldId id="370" r:id="rId14"/>
    <p:sldId id="327" r:id="rId15"/>
    <p:sldId id="328" r:id="rId16"/>
    <p:sldId id="400" r:id="rId17"/>
    <p:sldId id="401" r:id="rId18"/>
    <p:sldId id="374" r:id="rId19"/>
    <p:sldId id="334" r:id="rId20"/>
    <p:sldId id="375" r:id="rId21"/>
    <p:sldId id="402" r:id="rId22"/>
    <p:sldId id="403" r:id="rId23"/>
    <p:sldId id="404" r:id="rId24"/>
    <p:sldId id="382" r:id="rId25"/>
    <p:sldId id="342" r:id="rId26"/>
    <p:sldId id="383" r:id="rId27"/>
    <p:sldId id="405" r:id="rId28"/>
    <p:sldId id="406" r:id="rId29"/>
    <p:sldId id="407" r:id="rId30"/>
    <p:sldId id="408" r:id="rId31"/>
    <p:sldId id="392" r:id="rId32"/>
  </p:sldIdLst>
  <p:sldSz cx="12192000" cy="6858000"/>
  <p:notesSz cx="6858000" cy="91170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isura Embuldeniya" initials="TE" lastIdx="1" clrIdx="0">
    <p:extLst>
      <p:ext uri="{19B8F6BF-5375-455C-9EA6-DF929625EA0E}">
        <p15:presenceInfo xmlns:p15="http://schemas.microsoft.com/office/powerpoint/2012/main" userId="Thisura Embuldeniy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00"/>
    <a:srgbClr val="005684"/>
    <a:srgbClr val="990000"/>
    <a:srgbClr val="008101"/>
    <a:srgbClr val="00D500"/>
    <a:srgbClr val="00D5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92" autoAdjust="0"/>
    <p:restoredTop sz="73505" autoAdjust="0"/>
  </p:normalViewPr>
  <p:slideViewPr>
    <p:cSldViewPr>
      <p:cViewPr>
        <p:scale>
          <a:sx n="66" d="100"/>
          <a:sy n="66" d="100"/>
        </p:scale>
        <p:origin x="2550" y="4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209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755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0006009-C8A5-F11E-E268-93F974210EC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56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CC0CA48C-09AF-7C9A-4195-3D2328B8982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56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7776C944-EA5B-1FAF-B28C-8D8CA6F34CCB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61400"/>
            <a:ext cx="2971800" cy="4556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413" name="Rectangle 5">
            <a:extLst>
              <a:ext uri="{FF2B5EF4-FFF2-40B4-BE49-F238E27FC236}">
                <a16:creationId xmlns:a16="http://schemas.microsoft.com/office/drawing/2014/main" id="{84F00AD5-AD79-FF2F-0790-B8A4F97E4A1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61400"/>
            <a:ext cx="2971800" cy="4556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4317DC3-BFDA-0947-A178-1C298ABFF0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88A19D3-F2AC-CA32-3DA3-E3ED416DC1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56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B7701A-D056-2203-2DC3-AE192D1E50C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56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" charset="0"/>
                <a:ea typeface="ＭＳ Ｐゴシック" charset="-128"/>
              </a:defRPr>
            </a:lvl1pPr>
          </a:lstStyle>
          <a:p>
            <a:pPr>
              <a:defRPr/>
            </a:pPr>
            <a:fld id="{D6B0F57A-04E5-0540-A1A0-952260D73BE1}" type="datetimeFigureOut">
              <a:rPr lang="en-US" altLang="en-US"/>
              <a:pPr>
                <a:defRPr/>
              </a:pPr>
              <a:t>8/23/2025</a:t>
            </a:fld>
            <a:endParaRPr lang="en-US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896BB95-6A69-34AB-1339-78BD7D1883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92113" y="684213"/>
            <a:ext cx="6073775" cy="34178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A727E08-A12F-E29B-335E-D474A03265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30700"/>
            <a:ext cx="5486400" cy="4102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6FFD0A-71DC-9E9D-A3BD-CA756C07BF7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59813"/>
            <a:ext cx="2971800" cy="4556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imes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8BAAF5-D0F0-5094-5D9A-B211B413BB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59813"/>
            <a:ext cx="2971800" cy="4556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1BD23AC-336B-CE4A-AE44-9815AB59A40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1BD23AC-336B-CE4A-AE44-9815AB59A406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99801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298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 </a:t>
            </a:r>
            <a:r>
              <a:rPr lang="en-US" b="1" dirty="0"/>
              <a:t>class</a:t>
            </a:r>
            <a:r>
              <a:rPr lang="en-US" dirty="0"/>
              <a:t> is like a blueprint for an object. Here, </a:t>
            </a:r>
            <a:r>
              <a:rPr lang="en-US" dirty="0" err="1"/>
              <a:t>BTNode</a:t>
            </a:r>
            <a:r>
              <a:rPr lang="en-US" dirty="0"/>
              <a:t> represents a </a:t>
            </a:r>
            <a:r>
              <a:rPr lang="en-US" b="1" dirty="0"/>
              <a:t>single node</a:t>
            </a:r>
            <a:r>
              <a:rPr lang="en-US" dirty="0"/>
              <a:t> of a Binary Tree (BT).</a:t>
            </a:r>
            <a:br>
              <a:rPr lang="en-US" dirty="0"/>
            </a:br>
            <a:endParaRPr lang="en-US" dirty="0"/>
          </a:p>
          <a:p>
            <a:r>
              <a:rPr lang="en-US" dirty="0"/>
              <a:t>__init__ is the </a:t>
            </a:r>
            <a:r>
              <a:rPr lang="en-US" b="1" dirty="0"/>
              <a:t>constructor</a:t>
            </a:r>
            <a:r>
              <a:rPr lang="en-US" dirty="0"/>
              <a:t> that runs when a new node is created.</a:t>
            </a:r>
            <a:br>
              <a:rPr lang="en-US" dirty="0"/>
            </a:br>
            <a:endParaRPr lang="en-US" dirty="0"/>
          </a:p>
          <a:p>
            <a:r>
              <a:rPr lang="en-US" dirty="0"/>
              <a:t>Each node has:</a:t>
            </a:r>
            <a:br>
              <a:rPr lang="en-US" dirty="0"/>
            </a:b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item: The actual data stored in the node (e.g., an integer).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left: A link to the </a:t>
            </a:r>
            <a:r>
              <a:rPr lang="en-US" b="1" dirty="0"/>
              <a:t>left child</a:t>
            </a:r>
            <a:r>
              <a:rPr lang="en-US" dirty="0"/>
              <a:t> node (default None, meaning no left child initially).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right: A link to the </a:t>
            </a:r>
            <a:r>
              <a:rPr lang="en-US" b="1" dirty="0"/>
              <a:t>right child</a:t>
            </a:r>
            <a:r>
              <a:rPr lang="en-US" dirty="0"/>
              <a:t> node (default None).</a:t>
            </a:r>
            <a:br>
              <a:rPr lang="en-US" dirty="0"/>
            </a:br>
            <a:endParaRPr lang="en-US" dirty="0"/>
          </a:p>
          <a:p>
            <a:r>
              <a:rPr lang="en-US" dirty="0"/>
              <a:t>In a BT:</a:t>
            </a:r>
            <a:br>
              <a:rPr lang="en-US" dirty="0"/>
            </a:br>
            <a:endParaRPr lang="en-US" dirty="0"/>
          </a:p>
          <a:p>
            <a:r>
              <a:rPr lang="en-US" dirty="0"/>
              <a:t>Left child stores values </a:t>
            </a:r>
            <a:r>
              <a:rPr lang="en-US" b="1" dirty="0"/>
              <a:t>smaller</a:t>
            </a:r>
            <a:r>
              <a:rPr lang="en-US" dirty="0"/>
              <a:t> than the current node’s item.</a:t>
            </a:r>
          </a:p>
          <a:p>
            <a:r>
              <a:rPr lang="en-US" dirty="0"/>
              <a:t>Right child stores values </a:t>
            </a:r>
            <a:r>
              <a:rPr lang="en-US" b="1" dirty="0"/>
              <a:t>greater</a:t>
            </a:r>
            <a:r>
              <a:rPr lang="en-US" dirty="0"/>
              <a:t> than the current node’s item.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4713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9495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28164-F540-8319-FAC2-C5A791094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9BAB64-AB28-F6AC-603A-8EC82FAC3F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24B929-FBAF-8098-546E-60B8DAB66F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75F9CB-3FF9-25E6-B723-9122C01A0C6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332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08DC1-0154-1C8A-E9AC-5FE128F7B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0A9C6C-C8AF-77A9-2536-883C1A96D4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0BC390-DEA6-4A0A-511D-6EEF39C8DE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A7617-CF1A-F2E7-4E6F-1E851D3A13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4345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EB63D-8F41-747C-0150-4443784EB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D5CABB-FD7E-C9D1-36E0-D0A1C44500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4B5966-3BEA-6082-855E-44899597B7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92E6F6-EDD4-3183-2CDB-0E12D16C88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060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invoke our custom function in the main in order to test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2288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invoke our custom function in the main in order to test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1993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invoke our custom function in the main in order to test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8605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invoke our custom function in the main in order to test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7126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invoke our custom function in the main in order to test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9047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 u="sng" dirty="0"/>
              <a:t>Refer to mirrorTree.py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6727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1444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3094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5782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4958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 u="sng" dirty="0"/>
              <a:t>Refer to printSmallerValues.py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1970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9995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660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7840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1907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79461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 u="sng" dirty="0"/>
              <a:t>Refer to smallest_value.py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6072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3866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3246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11175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4535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155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06811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 u="sng" dirty="0"/>
              <a:t>Refer to hasGreatGrandchild.py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35E5AC7-8B0F-BE49-BF91-70CFAC4BAE5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1249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A257E-3053-48F9-AF47-8B01721D45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6174E0-5944-4878-AEF1-C5259EDCE3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80E95-E146-4257-8F12-3E0D566F93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C5C43-CA97-470C-ADE9-4AC83332F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95057-47E6-487A-BAEE-43A95AC05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7230A5-D5CA-A246-A156-56ED2EC776E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921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588DE-A057-42F6-A6DC-1E6DF10AF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44FE7-DE29-4220-B45B-E3165A57A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E7D05-41BE-4646-ADC0-F29FF52FA7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EFC04D-2B6D-4F02-9379-39DFF221D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B7C647-66B2-43EA-9EED-9BA0B1484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9012656-71E1-C743-8C98-B63CD25CF2C9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25089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9D9EB-7DC7-4DB2-8F4F-CFC947777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C1CF0-6AB6-49D7-BECC-7021BA4C3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DE906-1373-4F27-A451-5D3267D2C4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0FA46-69A7-4811-90E1-DEDA05B50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CAD46-5D9D-4D4A-A154-E4EF4B1D0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046413-4138-1741-9544-A971B9E4B96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9586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D648D-C56C-438A-A0B5-241602DB9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DFEC0-93F6-4BD7-BB41-54D2A7877E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346F53-6ED2-4C35-A945-F0DB5BB67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7E855A-2919-49A1-9404-A262E1AB89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3CF54-A1EF-4ABE-88A3-1958B1545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9EBC3D-C887-42C4-B1FC-D798377A8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5B943D-DA51-A44E-9BC0-B926421C4F9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F9CD365C-8F07-492B-BA5A-847747DB0CCC}"/>
              </a:ext>
            </a:extLst>
          </p:cNvPr>
          <p:cNvSpPr txBox="1">
            <a:spLocks/>
          </p:cNvSpPr>
          <p:nvPr userDrawn="1"/>
        </p:nvSpPr>
        <p:spPr>
          <a:xfrm>
            <a:off x="8737600" y="647700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4605DB1-9E3D-0A41-A768-42B3EF17CCC2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31593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AB275-7417-43D8-9207-B8A69C1A4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0D745B-7392-4FF0-B273-B59D5BB33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1A104B-C8A4-4139-A010-907410F459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3191E3-BE5A-4659-8984-E68769E894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35E952-80E1-40AA-9342-48B3C6807E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433580-B74A-4F2A-AD5E-261D58F91B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7028E1-C39E-4724-BB9B-5A310E0BF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842FC7-CCA5-45FB-A278-92F4FC464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5C4715-6A71-1C46-9980-4AE305EAD29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8587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41C20-B2EB-48DC-A5EC-875632D22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5DF8CB-93B7-409D-97EF-356CB34304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3394EB-F370-4E97-9997-BE95563EA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B02EBB-F440-4B59-B9FD-2AD261BC2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605DB1-9E3D-0A41-A768-42B3EF17CCC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6472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0B2A47-46D6-42D5-BDBE-E52134F7AD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F62E42-B7B3-4F33-84D7-831A1B126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8FE50F-0B21-4838-90C1-7F40FB4EA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E362868-DD1E-A642-8FEC-D36C0278388C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8254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3B924-D81C-44C0-BCB3-553AB7B0A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BD6CF-C78F-4B8A-9B44-1FB03E176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80BBEC-DD5A-499C-A78A-03DEA8384F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5498EE-3406-4371-8BC1-4EFAC61D45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395007-4873-4C8D-B644-8C0C3EE8B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8359E-A9CF-4F4B-8649-D470D91CB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DE60E2-CFCD-8D45-BC62-DECE35FE1F6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31562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FAB15-9B2D-438E-BC92-9D0A8F429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4865A-3459-441D-8F43-4997461B09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C2B3DD-A484-4942-8A0C-B7C3E16722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4CE3D4-C063-49D7-9B3B-782D063E03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8D7425-E34A-4A52-BCF8-D008C1856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3D05D9-6E17-46C2-A1DD-9681823A1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5E8B059-8C46-F247-8A74-0D28BDE5E33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8657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A5B43-A193-4493-A2BE-590A4341C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7B9682-392E-4813-AD6E-F3DCE6BF9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CA28A7-1DD5-422E-BEC2-4643876042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B67C8-162D-4B22-AD42-B006811CE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B4873-B533-4221-8469-57AA3753B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4490574-997A-3847-9212-FE26D546377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735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123116-7B90-4155-BA93-0075939EBD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A8B8FC-A1A9-43F9-AFDC-2D5477B47D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2D2FD-FD11-4EDB-AB71-E449803ED8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AF371-418F-48A7-B0BC-45A3E60E4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86000" y="6353464"/>
            <a:ext cx="76200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93C50-2A85-45FB-BCC2-76043CB75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33E6B6-6649-824A-9F70-3BBE9847395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8097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3">
            <a:extLst>
              <a:ext uri="{FF2B5EF4-FFF2-40B4-BE49-F238E27FC236}">
                <a16:creationId xmlns:a16="http://schemas.microsoft.com/office/drawing/2014/main" id="{B16F45E7-D03F-4586-B0E0-EC63E9664911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838200" y="1066800"/>
            <a:ext cx="10363200" cy="5105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rtlCol="0">
            <a:norm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buFont typeface="Arial"/>
              <a:buChar char="•"/>
              <a:defRPr/>
            </a:pPr>
            <a:endParaRPr lang="en-US" sz="2800" i="1" dirty="0">
              <a:solidFill>
                <a:schemeClr val="tx2"/>
              </a:solidFill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B8F009-9366-4850-9E23-2A84A3F79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1130530"/>
            <a:ext cx="10020300" cy="5041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A422F-6D07-497F-B7A0-A689BBB3B5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63200" y="6416675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37E0829-F0AB-F54C-9D83-2E2209BD69BB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987D6C82-C460-43F0-9B4C-C710E9B5099C}"/>
              </a:ext>
            </a:extLst>
          </p:cNvPr>
          <p:cNvSpPr txBox="1">
            <a:spLocks/>
          </p:cNvSpPr>
          <p:nvPr userDrawn="1"/>
        </p:nvSpPr>
        <p:spPr bwMode="auto">
          <a:xfrm>
            <a:off x="0" y="0"/>
            <a:ext cx="12192000" cy="712560"/>
          </a:xfrm>
          <a:prstGeom prst="rect">
            <a:avLst/>
          </a:prstGeom>
          <a:solidFill>
            <a:srgbClr val="005684"/>
          </a:solidFill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 sz="28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C0534D-CF79-4C82-943E-954E07D70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9261"/>
            <a:ext cx="12192000" cy="6465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FC978768-B8C8-4719-8F17-5A23840DCCE2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638300" y="6416675"/>
            <a:ext cx="87630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MS PGothic" panose="020B0600070205080204" pitchFamily="34" charset="-128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MS PGothic" panose="020B0600070205080204" pitchFamily="34" charset="-128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r>
              <a:rPr lang="en-US" sz="1400" dirty="0">
                <a:latin typeface="Verdana" panose="020B0604030504040204" pitchFamily="34" charset="0"/>
                <a:ea typeface="Verdana" panose="020B0604030504040204" pitchFamily="34" charset="0"/>
              </a:rPr>
              <a:t>Content Copyright Nanyang Technological University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8F39C9BC-F78C-4B17-929F-32B2ED95D225}"/>
              </a:ext>
            </a:extLst>
          </p:cNvPr>
          <p:cNvSpPr txBox="1">
            <a:spLocks/>
          </p:cNvSpPr>
          <p:nvPr userDrawn="1"/>
        </p:nvSpPr>
        <p:spPr>
          <a:xfrm>
            <a:off x="8737600" y="647700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4605DB1-9E3D-0A41-A768-42B3EF17CCC2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3372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 bldLvl="4" autoUpdateAnimBg="0"/>
      <p:bldP spid="3" grpId="0" build="p" bldLvl="4" autoUpdateAnimBg="0"/>
    </p:bldLst>
  </p:timing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bg1"/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E4E137-ACEE-41BF-87CB-D2B72CD526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091" r="18989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2057" name="Rectangle 2056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">
            <a:extLst>
              <a:ext uri="{FF2B5EF4-FFF2-40B4-BE49-F238E27FC236}">
                <a16:creationId xmlns:a16="http://schemas.microsoft.com/office/drawing/2014/main" id="{1DDACFC5-EB70-4F0D-A5C1-F08AA8632C9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3719" y="2865536"/>
            <a:ext cx="6128481" cy="1672517"/>
          </a:xfrm>
        </p:spPr>
        <p:txBody>
          <a:bodyPr rtlCol="0" anchor="b">
            <a:noAutofit/>
          </a:bodyPr>
          <a:lstStyle/>
          <a:p>
            <a:pPr algn="l">
              <a:defRPr/>
            </a:pPr>
            <a:r>
              <a:rPr lang="en-US" sz="2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Data Structures &amp; Algorithms in Python</a:t>
            </a:r>
            <a:br>
              <a:rPr lang="en-US" sz="2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</a:br>
            <a:br>
              <a:rPr lang="en-US" sz="20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</a:br>
            <a:r>
              <a:rPr lang="en-US" sz="1800" dirty="0"/>
              <a:t>Binary Trees – Lab Answers</a:t>
            </a:r>
            <a:br>
              <a:rPr lang="en-US" sz="2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</a:br>
            <a:br>
              <a:rPr lang="en-US" sz="20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</a:br>
            <a:r>
              <a:rPr lang="fr-FR" altLang="en-US" sz="14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Dr. Owen Noel Newton Fernando</a:t>
            </a:r>
            <a:br>
              <a:rPr lang="en-US" altLang="en-US" sz="2000" dirty="0">
                <a:solidFill>
                  <a:schemeClr val="bg1"/>
                </a:solidFill>
                <a:latin typeface="Verdana" panose="020B0604030504040204" pitchFamily="34" charset="0"/>
              </a:rPr>
            </a:br>
            <a:endParaRPr lang="en-US" sz="20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+mj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4A57AFD-D505-4500-9697-EDFFEF0B2629}"/>
              </a:ext>
            </a:extLst>
          </p:cNvPr>
          <p:cNvSpPr txBox="1"/>
          <p:nvPr/>
        </p:nvSpPr>
        <p:spPr>
          <a:xfrm>
            <a:off x="43719" y="5641705"/>
            <a:ext cx="4248279" cy="10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SG" sz="1400" b="1" dirty="0">
                <a:solidFill>
                  <a:schemeClr val="bg1"/>
                </a:solidFill>
              </a:rPr>
              <a:t>College of Engineering </a:t>
            </a:r>
            <a:br>
              <a:rPr lang="en-SG" sz="1400" dirty="0">
                <a:solidFill>
                  <a:schemeClr val="bg1"/>
                </a:solidFill>
              </a:rPr>
            </a:br>
            <a:r>
              <a:rPr lang="en-SG" sz="1400" dirty="0">
                <a:solidFill>
                  <a:schemeClr val="bg1"/>
                </a:solidFill>
              </a:rPr>
              <a:t>School of Computer Science and Engineering</a:t>
            </a:r>
          </a:p>
          <a:p>
            <a:pPr>
              <a:lnSpc>
                <a:spcPct val="150000"/>
              </a:lnSpc>
            </a:pPr>
            <a:endParaRPr lang="en-SG" sz="1400" dirty="0">
              <a:solidFill>
                <a:schemeClr val="bg1"/>
              </a:solidFill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9DDBA02-A0B9-4A7D-9F97-3DA4C9378C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106704"/>
            <a:ext cx="3878519" cy="15514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BD78E2-8F60-4FE9-AB92-C50D665E75DF}"/>
              </a:ext>
            </a:extLst>
          </p:cNvPr>
          <p:cNvSpPr/>
          <p:nvPr/>
        </p:nvSpPr>
        <p:spPr>
          <a:xfrm>
            <a:off x="1295400" y="1566208"/>
            <a:ext cx="96012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recursive function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mirrorTree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that will modify a binary tree so that the resulting tree is a mirror image of the original structure.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mirrorTree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(node):</a:t>
            </a:r>
            <a:b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should not create any intermediate or temporary trees. The function accepts a single parameter: a reference to the root node of the binary tree to be mirrored.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563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Q01 - Answer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E24775-85BF-4C1C-9047-247B2D1723ED}"/>
              </a:ext>
            </a:extLst>
          </p:cNvPr>
          <p:cNvSpPr/>
          <p:nvPr/>
        </p:nvSpPr>
        <p:spPr>
          <a:xfrm>
            <a:off x="1143000" y="1371600"/>
            <a:ext cx="990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Let’s go through the answer step-by-step  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60827-942E-482E-8B34-E253BF44CE36}"/>
              </a:ext>
            </a:extLst>
          </p:cNvPr>
          <p:cNvSpPr/>
          <p:nvPr/>
        </p:nvSpPr>
        <p:spPr>
          <a:xfrm>
            <a:off x="1676400" y="2057400"/>
            <a:ext cx="990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1. Class Definitions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8E54A4-A621-4784-A144-3400E3108B6C}"/>
              </a:ext>
            </a:extLst>
          </p:cNvPr>
          <p:cNvSpPr/>
          <p:nvPr/>
        </p:nvSpPr>
        <p:spPr>
          <a:xfrm>
            <a:off x="2552700" y="2743200"/>
            <a:ext cx="849630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4531F"/>
                </a:solidFill>
                <a:latin typeface="Consolas" panose="020B0609020204030204" pitchFamily="49" charset="0"/>
              </a:rPr>
              <a:t>__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init</a:t>
            </a:r>
            <a:r>
              <a:rPr lang="en-US" sz="1400" dirty="0">
                <a:solidFill>
                  <a:srgbClr val="74531F"/>
                </a:solidFill>
                <a:latin typeface="Consolas" panose="020B0609020204030204" pitchFamily="49" charset="0"/>
              </a:rPr>
              <a:t>__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item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left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right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.item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item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# Store the item (integer)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left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# Reference to the left child node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right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  <a:r>
              <a:rPr lang="en-US" sz="1400" dirty="0">
                <a:solidFill>
                  <a:srgbClr val="008000"/>
                </a:solidFill>
                <a:latin typeface="Consolas" panose="020B0609020204030204" pitchFamily="49" charset="0"/>
              </a:rPr>
              <a:t># Reference to the right child node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2BA9FA-D73C-4053-80FD-7453C6451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4136886"/>
            <a:ext cx="90678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defines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Binary Tree Node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node has: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item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the value stored in the node (an integer in this case).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pointer/reference to the left child node (default None).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pointer/reference to the right child node (default None).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01721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C9BCD48-85A7-0337-9F4C-BAC9C8B4999A}"/>
              </a:ext>
            </a:extLst>
          </p:cNvPr>
          <p:cNvSpPr txBox="1"/>
          <p:nvPr/>
        </p:nvSpPr>
        <p:spPr>
          <a:xfrm>
            <a:off x="5499203" y="2133600"/>
            <a:ext cx="6096000" cy="3007426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mirrorTree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node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mirrorTree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node.left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temp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node.left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node.left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node.right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node.right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temp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mirrorTree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node.left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Q01 - Answer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91BBA7-C33F-45BC-B728-36E9BDF0BBCB}"/>
              </a:ext>
            </a:extLst>
          </p:cNvPr>
          <p:cNvSpPr/>
          <p:nvPr/>
        </p:nvSpPr>
        <p:spPr>
          <a:xfrm>
            <a:off x="914400" y="829139"/>
            <a:ext cx="2895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Functions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D917A1-E1B1-4E69-813E-5AB4975D1E27}"/>
              </a:ext>
            </a:extLst>
          </p:cNvPr>
          <p:cNvSpPr/>
          <p:nvPr/>
        </p:nvSpPr>
        <p:spPr>
          <a:xfrm>
            <a:off x="961571" y="1334837"/>
            <a:ext cx="3886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000" b="1" u="sng" dirty="0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Answer: Mirror Function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4BD3B217-8C8F-4C7E-AFA2-CA2F57BA6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2167" y="2317503"/>
            <a:ext cx="3254912" cy="1323439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case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there’s no node, return (nothing to mirror).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42C7A4E-F58A-4630-BD94-E67826170FE3}"/>
              </a:ext>
            </a:extLst>
          </p:cNvPr>
          <p:cNvSpPr/>
          <p:nvPr/>
        </p:nvSpPr>
        <p:spPr>
          <a:xfrm>
            <a:off x="4821684" y="2748408"/>
            <a:ext cx="899717" cy="334164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00096-0027-4913-8BA4-5F92FA55F883}"/>
              </a:ext>
            </a:extLst>
          </p:cNvPr>
          <p:cNvSpPr/>
          <p:nvPr/>
        </p:nvSpPr>
        <p:spPr>
          <a:xfrm>
            <a:off x="5943600" y="2554381"/>
            <a:ext cx="1981200" cy="72221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6245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B4B1E-86AD-99EF-8A57-640C892AF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DA20902D-B460-C328-5941-CFC3587F0831}"/>
              </a:ext>
            </a:extLst>
          </p:cNvPr>
          <p:cNvSpPr txBox="1"/>
          <p:nvPr/>
        </p:nvSpPr>
        <p:spPr>
          <a:xfrm>
            <a:off x="5499203" y="2133600"/>
            <a:ext cx="6096000" cy="3007426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mirrorTree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node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mirrorTree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node.left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temp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node.left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node.left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node.right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node.right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temp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mirrorTree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node.left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D298BACC-9D88-A51E-B292-B1576F8402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Q01 - Answer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06EEC8-5154-9B74-D3A3-955C04992167}"/>
              </a:ext>
            </a:extLst>
          </p:cNvPr>
          <p:cNvSpPr/>
          <p:nvPr/>
        </p:nvSpPr>
        <p:spPr>
          <a:xfrm>
            <a:off x="914400" y="829139"/>
            <a:ext cx="2895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Functions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1EC777-AC06-8214-66AC-9C89A50BB2E9}"/>
              </a:ext>
            </a:extLst>
          </p:cNvPr>
          <p:cNvSpPr/>
          <p:nvPr/>
        </p:nvSpPr>
        <p:spPr>
          <a:xfrm>
            <a:off x="961571" y="1334837"/>
            <a:ext cx="3886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000" b="1" u="sng" dirty="0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Answer: Mirror Function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7D61D69E-5099-D835-7E3E-C29BF5280C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775" y="2427959"/>
            <a:ext cx="3385711" cy="2862322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mirrorTree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node.left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call first goes deep into the original left subtree.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the time this returns, the left subtree is already mirrored.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63873694-3EB2-E263-D9A5-4338E38B6555}"/>
              </a:ext>
            </a:extLst>
          </p:cNvPr>
          <p:cNvSpPr/>
          <p:nvPr/>
        </p:nvSpPr>
        <p:spPr>
          <a:xfrm>
            <a:off x="4760685" y="3322531"/>
            <a:ext cx="899717" cy="334164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6F7857-061B-F4EE-5656-4C9C2A12E9A4}"/>
              </a:ext>
            </a:extLst>
          </p:cNvPr>
          <p:cNvSpPr/>
          <p:nvPr/>
        </p:nvSpPr>
        <p:spPr>
          <a:xfrm>
            <a:off x="5943600" y="3245427"/>
            <a:ext cx="2438400" cy="48837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9977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AC94B-F86F-E07E-9390-D2A746060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AC387658-18F5-AC73-FACE-A489784B0EE1}"/>
              </a:ext>
            </a:extLst>
          </p:cNvPr>
          <p:cNvSpPr txBox="1"/>
          <p:nvPr/>
        </p:nvSpPr>
        <p:spPr>
          <a:xfrm>
            <a:off x="5499203" y="2133600"/>
            <a:ext cx="6096000" cy="3007426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mirrorTree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node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mirrorTree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node.left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temp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node.left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node.left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node.right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node.right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temp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mirrorTree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node.left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794FDC36-4CCE-9919-C0E9-672981FC7B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Q01 - Answer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451D9C-6310-80F1-F1C7-D361EBB713C6}"/>
              </a:ext>
            </a:extLst>
          </p:cNvPr>
          <p:cNvSpPr/>
          <p:nvPr/>
        </p:nvSpPr>
        <p:spPr>
          <a:xfrm>
            <a:off x="914400" y="829139"/>
            <a:ext cx="2895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Functions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4B7E03-1C61-1564-CDC6-B14FE7656AFB}"/>
              </a:ext>
            </a:extLst>
          </p:cNvPr>
          <p:cNvSpPr/>
          <p:nvPr/>
        </p:nvSpPr>
        <p:spPr>
          <a:xfrm>
            <a:off x="961571" y="1334837"/>
            <a:ext cx="3886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000" b="1" u="sng" dirty="0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Answer: Mirror Function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3FD60337-5094-18B4-9022-6774932A5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775" y="2427959"/>
            <a:ext cx="3385711" cy="2862322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Swap children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original left subtree (already mirrored) moves to the right.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original right subtree (still untouched) moves to the left.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E8CB4FC9-CAE8-6109-3B12-9723C836D018}"/>
              </a:ext>
            </a:extLst>
          </p:cNvPr>
          <p:cNvSpPr/>
          <p:nvPr/>
        </p:nvSpPr>
        <p:spPr>
          <a:xfrm>
            <a:off x="4847771" y="3907168"/>
            <a:ext cx="899717" cy="334164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2537C9-1345-8ACE-86C2-A4DE41114B34}"/>
              </a:ext>
            </a:extLst>
          </p:cNvPr>
          <p:cNvSpPr/>
          <p:nvPr/>
        </p:nvSpPr>
        <p:spPr>
          <a:xfrm>
            <a:off x="5867146" y="3659084"/>
            <a:ext cx="2804199" cy="110946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3132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12A05-ECAD-9B77-5E5A-510FBF2D7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76163ED-5721-CD57-255B-A0023F76DF71}"/>
              </a:ext>
            </a:extLst>
          </p:cNvPr>
          <p:cNvSpPr txBox="1"/>
          <p:nvPr/>
        </p:nvSpPr>
        <p:spPr>
          <a:xfrm>
            <a:off x="5499203" y="2133600"/>
            <a:ext cx="6096000" cy="3007426"/>
          </a:xfrm>
          <a:prstGeom prst="rect">
            <a:avLst/>
          </a:prstGeom>
          <a:noFill/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mirrorTree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node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node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mirrorTree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node.left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temp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node.left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node.left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node.right</a:t>
            </a:r>
            <a:endParaRPr lang="en-US" sz="16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node.right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temp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mirrorTree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node.left</a:t>
            </a:r>
            <a:r>
              <a:rPr lang="en-US" sz="16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11558D9B-576F-124D-8738-EDD90DD668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Q01 - Answer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9580DA-AE58-23C8-9DC0-78A2736FD871}"/>
              </a:ext>
            </a:extLst>
          </p:cNvPr>
          <p:cNvSpPr/>
          <p:nvPr/>
        </p:nvSpPr>
        <p:spPr>
          <a:xfrm>
            <a:off x="914400" y="829139"/>
            <a:ext cx="2895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Functions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7E5ED7E-30AC-B48A-1E0F-419DC1C95327}"/>
              </a:ext>
            </a:extLst>
          </p:cNvPr>
          <p:cNvSpPr/>
          <p:nvPr/>
        </p:nvSpPr>
        <p:spPr>
          <a:xfrm>
            <a:off x="961571" y="1334837"/>
            <a:ext cx="3886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000" b="1" u="sng" dirty="0">
                <a:solidFill>
                  <a:srgbClr val="005684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Answer: Mirror Function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688E2C2C-7BB7-DE53-E5F9-D0D3F2018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7288" y="3511617"/>
            <a:ext cx="3385711" cy="2554545"/>
          </a:xfrm>
          <a:prstGeom prst="rect">
            <a:avLst/>
          </a:prstGeom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mirrorTree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node.left</a:t>
            </a: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Now, </a:t>
            </a:r>
            <a:r>
              <a:rPr lang="en-US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node.left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pointing to what used to be the original right subtree.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call mirrors that subtree.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586B779B-CB01-32C1-249D-6912EAF249F2}"/>
              </a:ext>
            </a:extLst>
          </p:cNvPr>
          <p:cNvSpPr/>
          <p:nvPr/>
        </p:nvSpPr>
        <p:spPr>
          <a:xfrm>
            <a:off x="4700385" y="4788890"/>
            <a:ext cx="899717" cy="334164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8A9B19-9F4E-9925-4700-81D3EE40F3D3}"/>
              </a:ext>
            </a:extLst>
          </p:cNvPr>
          <p:cNvSpPr/>
          <p:nvPr/>
        </p:nvSpPr>
        <p:spPr>
          <a:xfrm>
            <a:off x="5747488" y="4735547"/>
            <a:ext cx="2804199" cy="40547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1825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Q01 - Answer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60827-942E-482E-8B34-E253BF44CE36}"/>
              </a:ext>
            </a:extLst>
          </p:cNvPr>
          <p:cNvSpPr/>
          <p:nvPr/>
        </p:nvSpPr>
        <p:spPr>
          <a:xfrm>
            <a:off x="1066800" y="1133208"/>
            <a:ext cx="33900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Testing our functions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83EC4B-4B3E-4818-A292-574F55D8E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9695" y="2051591"/>
            <a:ext cx="2534588" cy="369332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Tree Construction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62AF53F-9F1E-44CA-A745-782F1E8614AE}"/>
              </a:ext>
            </a:extLst>
          </p:cNvPr>
          <p:cNvSpPr/>
          <p:nvPr/>
        </p:nvSpPr>
        <p:spPr>
          <a:xfrm>
            <a:off x="4856204" y="2107650"/>
            <a:ext cx="1005087" cy="351373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2FCFB1-AC94-4773-AF21-4F3F7A12414A}"/>
              </a:ext>
            </a:extLst>
          </p:cNvPr>
          <p:cNvSpPr/>
          <p:nvPr/>
        </p:nvSpPr>
        <p:spPr>
          <a:xfrm>
            <a:off x="6324600" y="1594873"/>
            <a:ext cx="2872609" cy="137692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304428-56D2-4986-A47E-D8216B14054C}"/>
              </a:ext>
            </a:extLst>
          </p:cNvPr>
          <p:cNvSpPr/>
          <p:nvPr/>
        </p:nvSpPr>
        <p:spPr>
          <a:xfrm>
            <a:off x="6025288" y="1359020"/>
            <a:ext cx="4537017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__name__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__main__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.left.left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.left.right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.right.left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.right.right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Original Tree Structure: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printTree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B776FB"/>
                </a:solidFill>
                <a:latin typeface="Consolas" panose="020B0609020204030204" pitchFamily="49" charset="0"/>
              </a:rPr>
              <a:t>\</a:t>
            </a:r>
            <a:r>
              <a:rPr lang="en-US" sz="1200" dirty="0" err="1">
                <a:solidFill>
                  <a:srgbClr val="B776FB"/>
                </a:solidFill>
                <a:latin typeface="Consolas" panose="020B0609020204030204" pitchFamily="49" charset="0"/>
              </a:rPr>
              <a:t>n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Original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 Tree (In-Order):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print_tree_in_order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mirrorTree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B776FB"/>
                </a:solidFill>
                <a:latin typeface="Consolas" panose="020B0609020204030204" pitchFamily="49" charset="0"/>
              </a:rPr>
              <a:t>\</a:t>
            </a:r>
            <a:r>
              <a:rPr lang="en-US" sz="1200" dirty="0" err="1">
                <a:solidFill>
                  <a:srgbClr val="B776FB"/>
                </a:solidFill>
                <a:latin typeface="Consolas" panose="020B0609020204030204" pitchFamily="49" charset="0"/>
              </a:rPr>
              <a:t>n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Mirrored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 Tree Structure: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printTree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B776FB"/>
                </a:solidFill>
                <a:latin typeface="Consolas" panose="020B0609020204030204" pitchFamily="49" charset="0"/>
              </a:rPr>
              <a:t>\</a:t>
            </a:r>
            <a:r>
              <a:rPr lang="en-US" sz="1200" dirty="0" err="1">
                <a:solidFill>
                  <a:srgbClr val="B776FB"/>
                </a:solidFill>
                <a:latin typeface="Consolas" panose="020B0609020204030204" pitchFamily="49" charset="0"/>
              </a:rPr>
              <a:t>n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Mirrored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 Tree (In-Order):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print_tree_in_order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09408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304428-56D2-4986-A47E-D8216B14054C}"/>
              </a:ext>
            </a:extLst>
          </p:cNvPr>
          <p:cNvSpPr/>
          <p:nvPr/>
        </p:nvSpPr>
        <p:spPr>
          <a:xfrm>
            <a:off x="6025288" y="1359020"/>
            <a:ext cx="4537017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__name__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__main__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.left.left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.left.right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.right.left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.right.right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Original Tree Structure: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printTree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B776FB"/>
                </a:solidFill>
                <a:latin typeface="Consolas" panose="020B0609020204030204" pitchFamily="49" charset="0"/>
              </a:rPr>
              <a:t>\</a:t>
            </a:r>
            <a:r>
              <a:rPr lang="en-US" sz="1200" dirty="0" err="1">
                <a:solidFill>
                  <a:srgbClr val="B776FB"/>
                </a:solidFill>
                <a:latin typeface="Consolas" panose="020B0609020204030204" pitchFamily="49" charset="0"/>
              </a:rPr>
              <a:t>n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Original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 Tree (In-Order):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print_tree_in_order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mirrorTree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B776FB"/>
                </a:solidFill>
                <a:latin typeface="Consolas" panose="020B0609020204030204" pitchFamily="49" charset="0"/>
              </a:rPr>
              <a:t>\</a:t>
            </a:r>
            <a:r>
              <a:rPr lang="en-US" sz="1200" dirty="0" err="1">
                <a:solidFill>
                  <a:srgbClr val="B776FB"/>
                </a:solidFill>
                <a:latin typeface="Consolas" panose="020B0609020204030204" pitchFamily="49" charset="0"/>
              </a:rPr>
              <a:t>n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Mirrored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 Tree Structure: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printTree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B776FB"/>
                </a:solidFill>
                <a:latin typeface="Consolas" panose="020B0609020204030204" pitchFamily="49" charset="0"/>
              </a:rPr>
              <a:t>\</a:t>
            </a:r>
            <a:r>
              <a:rPr lang="en-US" sz="1200" dirty="0" err="1">
                <a:solidFill>
                  <a:srgbClr val="B776FB"/>
                </a:solidFill>
                <a:latin typeface="Consolas" panose="020B0609020204030204" pitchFamily="49" charset="0"/>
              </a:rPr>
              <a:t>n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Mirrored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 Tree (In-Order):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print_tree_in_order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Q01 - Answer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60827-942E-482E-8B34-E253BF44CE36}"/>
              </a:ext>
            </a:extLst>
          </p:cNvPr>
          <p:cNvSpPr/>
          <p:nvPr/>
        </p:nvSpPr>
        <p:spPr>
          <a:xfrm>
            <a:off x="1066800" y="1133208"/>
            <a:ext cx="33900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Testing our functions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83EC4B-4B3E-4818-A292-574F55D8E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0252" y="3017824"/>
            <a:ext cx="2534588" cy="369332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Printing Original Tree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62AF53F-9F1E-44CA-A745-782F1E8614AE}"/>
              </a:ext>
            </a:extLst>
          </p:cNvPr>
          <p:cNvSpPr/>
          <p:nvPr/>
        </p:nvSpPr>
        <p:spPr>
          <a:xfrm>
            <a:off x="4899083" y="3048001"/>
            <a:ext cx="1005087" cy="351373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2FCFB1-AC94-4773-AF21-4F3F7A12414A}"/>
              </a:ext>
            </a:extLst>
          </p:cNvPr>
          <p:cNvSpPr/>
          <p:nvPr/>
        </p:nvSpPr>
        <p:spPr>
          <a:xfrm>
            <a:off x="6248400" y="3048001"/>
            <a:ext cx="3200400" cy="3810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9602677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304428-56D2-4986-A47E-D8216B14054C}"/>
              </a:ext>
            </a:extLst>
          </p:cNvPr>
          <p:cNvSpPr/>
          <p:nvPr/>
        </p:nvSpPr>
        <p:spPr>
          <a:xfrm>
            <a:off x="6025288" y="1359020"/>
            <a:ext cx="4537017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__name__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__main__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.left.left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.left.right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.right.left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.right.right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Original Tree Structure: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printTree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B776FB"/>
                </a:solidFill>
                <a:latin typeface="Consolas" panose="020B0609020204030204" pitchFamily="49" charset="0"/>
              </a:rPr>
              <a:t>\</a:t>
            </a:r>
            <a:r>
              <a:rPr lang="en-US" sz="1200" dirty="0" err="1">
                <a:solidFill>
                  <a:srgbClr val="B776FB"/>
                </a:solidFill>
                <a:latin typeface="Consolas" panose="020B0609020204030204" pitchFamily="49" charset="0"/>
              </a:rPr>
              <a:t>n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Original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 Tree (In-Order):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print_tree_in_order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mirrorTree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B776FB"/>
                </a:solidFill>
                <a:latin typeface="Consolas" panose="020B0609020204030204" pitchFamily="49" charset="0"/>
              </a:rPr>
              <a:t>\</a:t>
            </a:r>
            <a:r>
              <a:rPr lang="en-US" sz="1200" dirty="0" err="1">
                <a:solidFill>
                  <a:srgbClr val="B776FB"/>
                </a:solidFill>
                <a:latin typeface="Consolas" panose="020B0609020204030204" pitchFamily="49" charset="0"/>
              </a:rPr>
              <a:t>n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Mirrored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 Tree Structure: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printTree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B776FB"/>
                </a:solidFill>
                <a:latin typeface="Consolas" panose="020B0609020204030204" pitchFamily="49" charset="0"/>
              </a:rPr>
              <a:t>\</a:t>
            </a:r>
            <a:r>
              <a:rPr lang="en-US" sz="1200" dirty="0" err="1">
                <a:solidFill>
                  <a:srgbClr val="B776FB"/>
                </a:solidFill>
                <a:latin typeface="Consolas" panose="020B0609020204030204" pitchFamily="49" charset="0"/>
              </a:rPr>
              <a:t>n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Mirrored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 Tree (In-Order):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print_tree_in_order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Q01 - Answer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60827-942E-482E-8B34-E253BF44CE36}"/>
              </a:ext>
            </a:extLst>
          </p:cNvPr>
          <p:cNvSpPr/>
          <p:nvPr/>
        </p:nvSpPr>
        <p:spPr>
          <a:xfrm>
            <a:off x="1066800" y="1133208"/>
            <a:ext cx="33900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Testing our functions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83EC4B-4B3E-4818-A292-574F55D8E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1288" y="3281520"/>
            <a:ext cx="3529702" cy="646331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print_tree_in_order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traverses Left → Root → Right.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62AF53F-9F1E-44CA-A745-782F1E8614AE}"/>
              </a:ext>
            </a:extLst>
          </p:cNvPr>
          <p:cNvSpPr/>
          <p:nvPr/>
        </p:nvSpPr>
        <p:spPr>
          <a:xfrm>
            <a:off x="5020201" y="3429000"/>
            <a:ext cx="1005087" cy="351373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2FCFB1-AC94-4773-AF21-4F3F7A12414A}"/>
              </a:ext>
            </a:extLst>
          </p:cNvPr>
          <p:cNvSpPr/>
          <p:nvPr/>
        </p:nvSpPr>
        <p:spPr>
          <a:xfrm>
            <a:off x="6400800" y="3429000"/>
            <a:ext cx="3200400" cy="3810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3948485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304428-56D2-4986-A47E-D8216B14054C}"/>
              </a:ext>
            </a:extLst>
          </p:cNvPr>
          <p:cNvSpPr/>
          <p:nvPr/>
        </p:nvSpPr>
        <p:spPr>
          <a:xfrm>
            <a:off x="6025288" y="1359020"/>
            <a:ext cx="4537017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__name__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__main__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.left.left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.left.right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.right.left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.right.right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Original Tree Structure: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printTree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B776FB"/>
                </a:solidFill>
                <a:latin typeface="Consolas" panose="020B0609020204030204" pitchFamily="49" charset="0"/>
              </a:rPr>
              <a:t>\</a:t>
            </a:r>
            <a:r>
              <a:rPr lang="en-US" sz="1200" dirty="0" err="1">
                <a:solidFill>
                  <a:srgbClr val="B776FB"/>
                </a:solidFill>
                <a:latin typeface="Consolas" panose="020B0609020204030204" pitchFamily="49" charset="0"/>
              </a:rPr>
              <a:t>n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Original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 Tree (In-Order):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print_tree_in_order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mirrorTree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B776FB"/>
                </a:solidFill>
                <a:latin typeface="Consolas" panose="020B0609020204030204" pitchFamily="49" charset="0"/>
              </a:rPr>
              <a:t>\</a:t>
            </a:r>
            <a:r>
              <a:rPr lang="en-US" sz="1200" dirty="0" err="1">
                <a:solidFill>
                  <a:srgbClr val="B776FB"/>
                </a:solidFill>
                <a:latin typeface="Consolas" panose="020B0609020204030204" pitchFamily="49" charset="0"/>
              </a:rPr>
              <a:t>n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Mirrored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 Tree Structure: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printTree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B776FB"/>
                </a:solidFill>
                <a:latin typeface="Consolas" panose="020B0609020204030204" pitchFamily="49" charset="0"/>
              </a:rPr>
              <a:t>\</a:t>
            </a:r>
            <a:r>
              <a:rPr lang="en-US" sz="1200" dirty="0" err="1">
                <a:solidFill>
                  <a:srgbClr val="B776FB"/>
                </a:solidFill>
                <a:latin typeface="Consolas" panose="020B0609020204030204" pitchFamily="49" charset="0"/>
              </a:rPr>
              <a:t>n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Mirrored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 Tree (In-Order):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print_tree_in_order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Q01 - Answer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60827-942E-482E-8B34-E253BF44CE36}"/>
              </a:ext>
            </a:extLst>
          </p:cNvPr>
          <p:cNvSpPr/>
          <p:nvPr/>
        </p:nvSpPr>
        <p:spPr>
          <a:xfrm>
            <a:off x="1066800" y="1133208"/>
            <a:ext cx="33900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Testing our functions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83EC4B-4B3E-4818-A292-574F55D8E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1187" y="4016919"/>
            <a:ext cx="3529702" cy="369332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Mirroring the Tree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62AF53F-9F1E-44CA-A745-782F1E8614AE}"/>
              </a:ext>
            </a:extLst>
          </p:cNvPr>
          <p:cNvSpPr/>
          <p:nvPr/>
        </p:nvSpPr>
        <p:spPr>
          <a:xfrm>
            <a:off x="5058301" y="4025900"/>
            <a:ext cx="1005087" cy="351373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2FCFB1-AC94-4773-AF21-4F3F7A12414A}"/>
              </a:ext>
            </a:extLst>
          </p:cNvPr>
          <p:cNvSpPr/>
          <p:nvPr/>
        </p:nvSpPr>
        <p:spPr>
          <a:xfrm>
            <a:off x="6400800" y="4038600"/>
            <a:ext cx="1905000" cy="3810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8324668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F304428-56D2-4986-A47E-D8216B14054C}"/>
              </a:ext>
            </a:extLst>
          </p:cNvPr>
          <p:cNvSpPr/>
          <p:nvPr/>
        </p:nvSpPr>
        <p:spPr>
          <a:xfrm>
            <a:off x="6025288" y="1359020"/>
            <a:ext cx="4537017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__name__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__main__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.left.left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.left.right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.right.left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.right.right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2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Original Tree Structure: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printTree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B776FB"/>
                </a:solidFill>
                <a:latin typeface="Consolas" panose="020B0609020204030204" pitchFamily="49" charset="0"/>
              </a:rPr>
              <a:t>\</a:t>
            </a:r>
            <a:r>
              <a:rPr lang="en-US" sz="1200" dirty="0" err="1">
                <a:solidFill>
                  <a:srgbClr val="B776FB"/>
                </a:solidFill>
                <a:latin typeface="Consolas" panose="020B0609020204030204" pitchFamily="49" charset="0"/>
              </a:rPr>
              <a:t>n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Original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 Tree (In-Order):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print_tree_in_order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mirrorTree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B776FB"/>
                </a:solidFill>
                <a:latin typeface="Consolas" panose="020B0609020204030204" pitchFamily="49" charset="0"/>
              </a:rPr>
              <a:t>\</a:t>
            </a:r>
            <a:r>
              <a:rPr lang="en-US" sz="1200" dirty="0" err="1">
                <a:solidFill>
                  <a:srgbClr val="B776FB"/>
                </a:solidFill>
                <a:latin typeface="Consolas" panose="020B0609020204030204" pitchFamily="49" charset="0"/>
              </a:rPr>
              <a:t>n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Mirrored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 Tree Structure: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printTree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B776FB"/>
                </a:solidFill>
                <a:latin typeface="Consolas" panose="020B0609020204030204" pitchFamily="49" charset="0"/>
              </a:rPr>
              <a:t>\</a:t>
            </a:r>
            <a:r>
              <a:rPr lang="en-US" sz="1200" dirty="0" err="1">
                <a:solidFill>
                  <a:srgbClr val="B776FB"/>
                </a:solidFill>
                <a:latin typeface="Consolas" panose="020B0609020204030204" pitchFamily="49" charset="0"/>
              </a:rPr>
              <a:t>n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</a:rPr>
              <a:t>Mirrored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</a:rPr>
              <a:t> Tree (In-Order):</a:t>
            </a:r>
            <a:r>
              <a:rPr lang="en-US" sz="12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print_tree_in_order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2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Q01 - Answer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60827-942E-482E-8B34-E253BF44CE36}"/>
              </a:ext>
            </a:extLst>
          </p:cNvPr>
          <p:cNvSpPr/>
          <p:nvPr/>
        </p:nvSpPr>
        <p:spPr>
          <a:xfrm>
            <a:off x="1066800" y="1133208"/>
            <a:ext cx="339000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Testing our functions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83EC4B-4B3E-4818-A292-574F55D8E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1925" y="4613492"/>
            <a:ext cx="3529702" cy="646331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Printing the mirrored tree as before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62AF53F-9F1E-44CA-A745-782F1E8614AE}"/>
              </a:ext>
            </a:extLst>
          </p:cNvPr>
          <p:cNvSpPr/>
          <p:nvPr/>
        </p:nvSpPr>
        <p:spPr>
          <a:xfrm>
            <a:off x="5103613" y="4769950"/>
            <a:ext cx="1005087" cy="351373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2FCFB1-AC94-4773-AF21-4F3F7A12414A}"/>
              </a:ext>
            </a:extLst>
          </p:cNvPr>
          <p:cNvSpPr/>
          <p:nvPr/>
        </p:nvSpPr>
        <p:spPr>
          <a:xfrm>
            <a:off x="6415286" y="4377272"/>
            <a:ext cx="3185913" cy="113673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0633932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Q01 – Answer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0AE3AD-76DA-49B2-9BE0-111A7DC6785C}"/>
              </a:ext>
            </a:extLst>
          </p:cNvPr>
          <p:cNvSpPr/>
          <p:nvPr/>
        </p:nvSpPr>
        <p:spPr>
          <a:xfrm>
            <a:off x="1219200" y="1219200"/>
            <a:ext cx="50292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74531F"/>
                </a:solidFill>
                <a:latin typeface="Consolas" panose="020B0609020204030204" pitchFamily="49" charset="0"/>
              </a:rPr>
              <a:t>__init__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item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left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right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.item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item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left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right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print_tree_in_order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is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0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print_tree_in_order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.item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end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print_tree_in_order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printTree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level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0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prefix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Root: 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is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0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level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prefix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000" dirty="0">
                <a:solidFill>
                  <a:srgbClr val="2B91AF"/>
                </a:solidFill>
                <a:latin typeface="Consolas" panose="020B0609020204030204" pitchFamily="49" charset="0"/>
              </a:rPr>
              <a:t>str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.item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0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or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0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printTree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level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0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L--- 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0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printTree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level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0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R--- 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mirrorTree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is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0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mirrorTree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1F377F"/>
                </a:solidFill>
                <a:latin typeface="Consolas" panose="020B0609020204030204" pitchFamily="49" charset="0"/>
              </a:rPr>
              <a:t>temp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>
                <a:solidFill>
                  <a:srgbClr val="1F377F"/>
                </a:solidFill>
                <a:latin typeface="Consolas" panose="020B0609020204030204" pitchFamily="49" charset="0"/>
              </a:rPr>
              <a:t>temp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mirrorTree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9083BB-4893-4B10-8F2B-2214C75C1802}"/>
              </a:ext>
            </a:extLst>
          </p:cNvPr>
          <p:cNvSpPr/>
          <p:nvPr/>
        </p:nvSpPr>
        <p:spPr>
          <a:xfrm>
            <a:off x="6553200" y="1371600"/>
            <a:ext cx="411480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1F377F"/>
                </a:solidFill>
                <a:latin typeface="Consolas" panose="020B0609020204030204" pitchFamily="49" charset="0"/>
              </a:rPr>
              <a:t>__name__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__main__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.left.left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.left.right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.right.left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.right.right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Original Tree Structure: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printTree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B776FB"/>
                </a:solidFill>
                <a:latin typeface="Consolas" panose="020B0609020204030204" pitchFamily="49" charset="0"/>
              </a:rPr>
              <a:t>\</a:t>
            </a:r>
            <a:r>
              <a:rPr lang="en-US" sz="1000" dirty="0" err="1">
                <a:solidFill>
                  <a:srgbClr val="B776FB"/>
                </a:solidFill>
                <a:latin typeface="Consolas" panose="020B0609020204030204" pitchFamily="49" charset="0"/>
              </a:rPr>
              <a:t>n</a:t>
            </a:r>
            <a:r>
              <a:rPr lang="en-US" sz="1000" dirty="0" err="1">
                <a:solidFill>
                  <a:srgbClr val="A31515"/>
                </a:solidFill>
                <a:latin typeface="Consolas" panose="020B0609020204030204" pitchFamily="49" charset="0"/>
              </a:rPr>
              <a:t>Original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 Tree (In-Order):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print_tree_in_order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b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mirrorTree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B776FB"/>
                </a:solidFill>
                <a:latin typeface="Consolas" panose="020B0609020204030204" pitchFamily="49" charset="0"/>
              </a:rPr>
              <a:t>\</a:t>
            </a:r>
            <a:r>
              <a:rPr lang="en-US" sz="1000" dirty="0" err="1">
                <a:solidFill>
                  <a:srgbClr val="B776FB"/>
                </a:solidFill>
                <a:latin typeface="Consolas" panose="020B0609020204030204" pitchFamily="49" charset="0"/>
              </a:rPr>
              <a:t>n</a:t>
            </a:r>
            <a:r>
              <a:rPr lang="en-US" sz="1000" dirty="0" err="1">
                <a:solidFill>
                  <a:srgbClr val="A31515"/>
                </a:solidFill>
                <a:latin typeface="Consolas" panose="020B0609020204030204" pitchFamily="49" charset="0"/>
              </a:rPr>
              <a:t>Mirrored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 Tree Structure: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printTree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B776FB"/>
                </a:solidFill>
                <a:latin typeface="Consolas" panose="020B0609020204030204" pitchFamily="49" charset="0"/>
              </a:rPr>
              <a:t>\</a:t>
            </a:r>
            <a:r>
              <a:rPr lang="en-US" sz="1000" dirty="0" err="1">
                <a:solidFill>
                  <a:srgbClr val="B776FB"/>
                </a:solidFill>
                <a:latin typeface="Consolas" panose="020B0609020204030204" pitchFamily="49" charset="0"/>
              </a:rPr>
              <a:t>n</a:t>
            </a:r>
            <a:r>
              <a:rPr lang="en-US" sz="1000" dirty="0" err="1">
                <a:solidFill>
                  <a:srgbClr val="A31515"/>
                </a:solidFill>
                <a:latin typeface="Consolas" panose="020B0609020204030204" pitchFamily="49" charset="0"/>
              </a:rPr>
              <a:t>Mirrored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 Tree (In-Order):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print_tree_in_order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3623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60827-942E-482E-8B34-E253BF44CE36}"/>
              </a:ext>
            </a:extLst>
          </p:cNvPr>
          <p:cNvSpPr/>
          <p:nvPr/>
        </p:nvSpPr>
        <p:spPr>
          <a:xfrm>
            <a:off x="1295400" y="2057400"/>
            <a:ext cx="9601200" cy="18774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Python function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printSmallerValues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accepts a reference to the root node of a binary tree and prints all integers stored in the tree that are smaller than a given value m. The function definition is given as follows: 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printSmallerValues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(node, m): </a:t>
            </a:r>
            <a:endParaRPr lang="en-US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6171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283D5A-9590-4B71-88E2-808CA693FD7C}"/>
              </a:ext>
            </a:extLst>
          </p:cNvPr>
          <p:cNvSpPr/>
          <p:nvPr/>
        </p:nvSpPr>
        <p:spPr>
          <a:xfrm>
            <a:off x="6248400" y="1828800"/>
            <a:ext cx="43434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printSmallerValues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.item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.item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end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printSmallerValues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printSmallerValues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Q02 - Answer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60827-942E-482E-8B34-E253BF44CE36}"/>
              </a:ext>
            </a:extLst>
          </p:cNvPr>
          <p:cNvSpPr/>
          <p:nvPr/>
        </p:nvSpPr>
        <p:spPr>
          <a:xfrm>
            <a:off x="997987" y="1091930"/>
            <a:ext cx="990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Now we will go through the </a:t>
            </a:r>
            <a:r>
              <a:rPr lang="en-US" sz="2400" b="1" u="sng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printSmallerValues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(node, m) function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83EC4B-4B3E-4818-A292-574F55D8E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2191434"/>
            <a:ext cx="3124200" cy="646331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case to stop the recursion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62AF53F-9F1E-44CA-A745-782F1E8614AE}"/>
              </a:ext>
            </a:extLst>
          </p:cNvPr>
          <p:cNvSpPr/>
          <p:nvPr/>
        </p:nvSpPr>
        <p:spPr>
          <a:xfrm>
            <a:off x="5090913" y="2391827"/>
            <a:ext cx="1005087" cy="351373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2FCFB1-AC94-4773-AF21-4F3F7A12414A}"/>
              </a:ext>
            </a:extLst>
          </p:cNvPr>
          <p:cNvSpPr/>
          <p:nvPr/>
        </p:nvSpPr>
        <p:spPr>
          <a:xfrm>
            <a:off x="6477000" y="2286000"/>
            <a:ext cx="2286000" cy="4572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8428310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283D5A-9590-4B71-88E2-808CA693FD7C}"/>
              </a:ext>
            </a:extLst>
          </p:cNvPr>
          <p:cNvSpPr/>
          <p:nvPr/>
        </p:nvSpPr>
        <p:spPr>
          <a:xfrm>
            <a:off x="6248400" y="1828800"/>
            <a:ext cx="43434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printSmallerValues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.item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.item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end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printSmallerValues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printSmallerValues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Q02 - Answer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60827-942E-482E-8B34-E253BF44CE36}"/>
              </a:ext>
            </a:extLst>
          </p:cNvPr>
          <p:cNvSpPr/>
          <p:nvPr/>
        </p:nvSpPr>
        <p:spPr>
          <a:xfrm>
            <a:off x="997987" y="1091930"/>
            <a:ext cx="990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Now we will go through the </a:t>
            </a:r>
            <a:r>
              <a:rPr lang="en-US" sz="2400" b="1" u="sng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printSmallerValues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(node, m) function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83EC4B-4B3E-4818-A292-574F55D8E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3351" y="1720840"/>
            <a:ext cx="3124200" cy="3416320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Visit the current node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Check the current node’s value.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it’s strictly smaller than m</a:t>
            </a: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print it (with a trailing comma and space).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it’s equal to or greater than m, print nothing and continue.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62AF53F-9F1E-44CA-A745-782F1E8614AE}"/>
              </a:ext>
            </a:extLst>
          </p:cNvPr>
          <p:cNvSpPr/>
          <p:nvPr/>
        </p:nvSpPr>
        <p:spPr>
          <a:xfrm>
            <a:off x="5384814" y="2759870"/>
            <a:ext cx="1005087" cy="351373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2FCFB1-AC94-4773-AF21-4F3F7A12414A}"/>
              </a:ext>
            </a:extLst>
          </p:cNvPr>
          <p:cNvSpPr/>
          <p:nvPr/>
        </p:nvSpPr>
        <p:spPr>
          <a:xfrm>
            <a:off x="6629400" y="2723584"/>
            <a:ext cx="3276600" cy="4572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3588576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283D5A-9590-4B71-88E2-808CA693FD7C}"/>
              </a:ext>
            </a:extLst>
          </p:cNvPr>
          <p:cNvSpPr/>
          <p:nvPr/>
        </p:nvSpPr>
        <p:spPr>
          <a:xfrm>
            <a:off x="6248400" y="1828800"/>
            <a:ext cx="43434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printSmallerValues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.item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.item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end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printSmallerValues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printSmallerValues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Q02 - Answer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60827-942E-482E-8B34-E253BF44CE36}"/>
              </a:ext>
            </a:extLst>
          </p:cNvPr>
          <p:cNvSpPr/>
          <p:nvPr/>
        </p:nvSpPr>
        <p:spPr>
          <a:xfrm>
            <a:off x="997987" y="1091930"/>
            <a:ext cx="990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Now we will go through the </a:t>
            </a:r>
            <a:r>
              <a:rPr lang="en-US" sz="2400" b="1" u="sng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printSmallerValues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(node, m) function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83EC4B-4B3E-4818-A292-574F55D8E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3351" y="1997840"/>
            <a:ext cx="3124200" cy="2862322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Recurse into subtrees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Explore the left subtree, then the right subtree.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is a preorder-style check (current node first, then children), though we only “act” (print) based on the condition.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62AF53F-9F1E-44CA-A745-782F1E8614AE}"/>
              </a:ext>
            </a:extLst>
          </p:cNvPr>
          <p:cNvSpPr/>
          <p:nvPr/>
        </p:nvSpPr>
        <p:spPr>
          <a:xfrm>
            <a:off x="5236057" y="3167826"/>
            <a:ext cx="1005087" cy="351373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2FCFB1-AC94-4773-AF21-4F3F7A12414A}"/>
              </a:ext>
            </a:extLst>
          </p:cNvPr>
          <p:cNvSpPr/>
          <p:nvPr/>
        </p:nvSpPr>
        <p:spPr>
          <a:xfrm>
            <a:off x="6629400" y="3142426"/>
            <a:ext cx="3581400" cy="59137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12214300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E9DA136-C986-41B1-A093-3BD7EC7B405D}"/>
              </a:ext>
            </a:extLst>
          </p:cNvPr>
          <p:cNvSpPr/>
          <p:nvPr/>
        </p:nvSpPr>
        <p:spPr>
          <a:xfrm>
            <a:off x="457200" y="754757"/>
            <a:ext cx="11201400" cy="57222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Q02 – Answer (Complete code)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FAFFB3-F670-4D36-8C53-7018C60216C4}"/>
              </a:ext>
            </a:extLst>
          </p:cNvPr>
          <p:cNvSpPr/>
          <p:nvPr/>
        </p:nvSpPr>
        <p:spPr>
          <a:xfrm>
            <a:off x="990600" y="1151453"/>
            <a:ext cx="6096000" cy="455509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74531F"/>
                </a:solidFill>
                <a:latin typeface="Consolas" panose="020B0609020204030204" pitchFamily="49" charset="0"/>
              </a:rPr>
              <a:t>__init__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item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left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right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.item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item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left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right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print_tree_in_order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is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0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print_tree_in_order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.item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end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print_tree_in_order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printTree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level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0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prefix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Root: 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is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0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level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prefix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000" dirty="0">
                <a:solidFill>
                  <a:srgbClr val="2B91AF"/>
                </a:solidFill>
                <a:latin typeface="Consolas" panose="020B0609020204030204" pitchFamily="49" charset="0"/>
              </a:rPr>
              <a:t>str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.item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0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or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0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printTree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level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0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L--- 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0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printTree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level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0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R--- 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printSmallerValues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m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is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0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.item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&lt;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m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0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.item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end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printSmallerValues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m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printSmallerValues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m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786B85-F0F8-4E63-B90E-F89B411F8FD5}"/>
              </a:ext>
            </a:extLst>
          </p:cNvPr>
          <p:cNvSpPr/>
          <p:nvPr/>
        </p:nvSpPr>
        <p:spPr>
          <a:xfrm>
            <a:off x="6324600" y="1336625"/>
            <a:ext cx="6096000" cy="31700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1F377F"/>
                </a:solidFill>
                <a:latin typeface="Consolas" panose="020B0609020204030204" pitchFamily="49" charset="0"/>
              </a:rPr>
              <a:t>__name__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__main__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.left.right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.right.left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.right.right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Tree Structure: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printTree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B776FB"/>
                </a:solidFill>
                <a:latin typeface="Consolas" panose="020B0609020204030204" pitchFamily="49" charset="0"/>
              </a:rPr>
              <a:t>\</a:t>
            </a:r>
            <a:r>
              <a:rPr lang="en-US" sz="1000" dirty="0" err="1">
                <a:solidFill>
                  <a:srgbClr val="B776FB"/>
                </a:solidFill>
                <a:latin typeface="Consolas" panose="020B0609020204030204" pitchFamily="49" charset="0"/>
              </a:rPr>
              <a:t>n</a:t>
            </a:r>
            <a:r>
              <a:rPr lang="en-US" sz="1000" dirty="0" err="1">
                <a:solidFill>
                  <a:srgbClr val="A31515"/>
                </a:solidFill>
                <a:latin typeface="Consolas" panose="020B0609020204030204" pitchFamily="49" charset="0"/>
              </a:rPr>
              <a:t>Tree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 (In-Order):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print_tree_in_order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008000"/>
                </a:solidFill>
                <a:latin typeface="Consolas" panose="020B0609020204030204" pitchFamily="49" charset="0"/>
              </a:rPr>
              <a:t># Using a hardcoded value instead of input()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1F377F"/>
                </a:solidFill>
                <a:latin typeface="Consolas" panose="020B0609020204030204" pitchFamily="49" charset="0"/>
              </a:rPr>
              <a:t>m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  <a:r>
              <a:rPr lang="en-US" sz="1000" dirty="0">
                <a:solidFill>
                  <a:srgbClr val="008000"/>
                </a:solidFill>
                <a:latin typeface="Consolas" panose="020B0609020204030204" pitchFamily="49" charset="0"/>
              </a:rPr>
              <a:t># You can change this value for testing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f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B776FB"/>
                </a:solidFill>
                <a:latin typeface="Consolas" panose="020B0609020204030204" pitchFamily="49" charset="0"/>
              </a:rPr>
              <a:t>\</a:t>
            </a:r>
            <a:r>
              <a:rPr lang="en-US" sz="1000" dirty="0" err="1">
                <a:solidFill>
                  <a:srgbClr val="B776FB"/>
                </a:solidFill>
                <a:latin typeface="Consolas" panose="020B0609020204030204" pitchFamily="49" charset="0"/>
              </a:rPr>
              <a:t>n</a:t>
            </a:r>
            <a:r>
              <a:rPr lang="en-US" sz="1000" dirty="0" err="1">
                <a:solidFill>
                  <a:srgbClr val="A31515"/>
                </a:solidFill>
                <a:latin typeface="Consolas" panose="020B0609020204030204" pitchFamily="49" charset="0"/>
              </a:rPr>
              <a:t>The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 values smaller than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US" sz="1000" dirty="0">
                <a:solidFill>
                  <a:srgbClr val="1F377F"/>
                </a:solidFill>
                <a:latin typeface="Consolas" panose="020B0609020204030204" pitchFamily="49" charset="0"/>
              </a:rPr>
              <a:t>m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 are:"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end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printSmallerValues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1F377F"/>
                </a:solidFill>
                <a:latin typeface="Consolas" panose="020B0609020204030204" pitchFamily="49" charset="0"/>
              </a:rPr>
              <a:t>m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33632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60827-942E-482E-8B34-E253BF44CE36}"/>
              </a:ext>
            </a:extLst>
          </p:cNvPr>
          <p:cNvSpPr/>
          <p:nvPr/>
        </p:nvSpPr>
        <p:spPr>
          <a:xfrm>
            <a:off x="1295400" y="1720840"/>
            <a:ext cx="9906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function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smallest_value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returns the smallest value stored in a given tree. The function accepts a reference to the root of the given tree. You should determine the correct function definition. </a:t>
            </a: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581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873554-E2E2-49DC-9A48-5EF0EBD02FF2}"/>
              </a:ext>
            </a:extLst>
          </p:cNvPr>
          <p:cNvSpPr/>
          <p:nvPr/>
        </p:nvSpPr>
        <p:spPr>
          <a:xfrm>
            <a:off x="5442396" y="2442920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smallest_value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float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E21F1F"/>
                </a:solidFill>
                <a:latin typeface="Consolas" panose="020B0609020204030204" pitchFamily="49" charset="0"/>
              </a:rPr>
              <a:t>'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inf</a:t>
            </a:r>
            <a:r>
              <a:rPr lang="en-US" sz="1400" dirty="0">
                <a:solidFill>
                  <a:srgbClr val="E21F1F"/>
                </a:solidFill>
                <a:latin typeface="Consolas" panose="020B0609020204030204" pitchFamily="49" charset="0"/>
              </a:rPr>
              <a:t>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left_smallest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smallest_value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right_smallest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smallest_value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4531F"/>
                </a:solidFill>
                <a:latin typeface="Consolas" panose="020B0609020204030204" pitchFamily="49" charset="0"/>
              </a:rPr>
              <a:t>min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.item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left_smallest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right_smallest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Q03 - Answer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60827-942E-482E-8B34-E253BF44CE36}"/>
              </a:ext>
            </a:extLst>
          </p:cNvPr>
          <p:cNvSpPr/>
          <p:nvPr/>
        </p:nvSpPr>
        <p:spPr>
          <a:xfrm>
            <a:off x="997987" y="1091930"/>
            <a:ext cx="990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Now we will go through the </a:t>
            </a:r>
            <a:r>
              <a:rPr lang="en-US" sz="2400" b="1" u="sng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smallest_value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(node) function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83EC4B-4B3E-4818-A292-574F55D8E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1959725"/>
            <a:ext cx="3124200" cy="2554545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Case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the function is called with an empty node (None), it means there is no value here.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return float</a:t>
            </a: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('inf') (infinity), 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is bigger than any real number in the tree.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2FCFB1-AC94-4773-AF21-4F3F7A12414A}"/>
              </a:ext>
            </a:extLst>
          </p:cNvPr>
          <p:cNvSpPr/>
          <p:nvPr/>
        </p:nvSpPr>
        <p:spPr>
          <a:xfrm>
            <a:off x="5562600" y="2667000"/>
            <a:ext cx="2743200" cy="4572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0A1E6FF5-7F34-43B5-84ED-A6451BD1C857}"/>
              </a:ext>
            </a:extLst>
          </p:cNvPr>
          <p:cNvSpPr/>
          <p:nvPr/>
        </p:nvSpPr>
        <p:spPr>
          <a:xfrm>
            <a:off x="4547516" y="2716304"/>
            <a:ext cx="817166" cy="358592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5847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873554-E2E2-49DC-9A48-5EF0EBD02FF2}"/>
              </a:ext>
            </a:extLst>
          </p:cNvPr>
          <p:cNvSpPr/>
          <p:nvPr/>
        </p:nvSpPr>
        <p:spPr>
          <a:xfrm>
            <a:off x="5442396" y="2442920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smallest_value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float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E21F1F"/>
                </a:solidFill>
                <a:latin typeface="Consolas" panose="020B0609020204030204" pitchFamily="49" charset="0"/>
              </a:rPr>
              <a:t>'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inf</a:t>
            </a:r>
            <a:r>
              <a:rPr lang="en-US" sz="1400" dirty="0">
                <a:solidFill>
                  <a:srgbClr val="E21F1F"/>
                </a:solidFill>
                <a:latin typeface="Consolas" panose="020B0609020204030204" pitchFamily="49" charset="0"/>
              </a:rPr>
              <a:t>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left_smallest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smallest_value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right_smallest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smallest_value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4531F"/>
                </a:solidFill>
                <a:latin typeface="Consolas" panose="020B0609020204030204" pitchFamily="49" charset="0"/>
              </a:rPr>
              <a:t>min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.item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left_smallest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right_smallest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Q03 - Answer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60827-942E-482E-8B34-E253BF44CE36}"/>
              </a:ext>
            </a:extLst>
          </p:cNvPr>
          <p:cNvSpPr/>
          <p:nvPr/>
        </p:nvSpPr>
        <p:spPr>
          <a:xfrm>
            <a:off x="997987" y="1091930"/>
            <a:ext cx="990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Now we will go through the </a:t>
            </a:r>
            <a:r>
              <a:rPr lang="en-US" sz="2400" b="1" u="sng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smallest_value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(node) function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83EC4B-4B3E-4818-A292-574F55D8E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0804" y="2397948"/>
            <a:ext cx="3124200" cy="2062103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Recursive Case: Explore Left Subtree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Recursively go down the left child of the current node.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recursion continues until it either finds a leaf or a None.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2FCFB1-AC94-4773-AF21-4F3F7A12414A}"/>
              </a:ext>
            </a:extLst>
          </p:cNvPr>
          <p:cNvSpPr/>
          <p:nvPr/>
        </p:nvSpPr>
        <p:spPr>
          <a:xfrm>
            <a:off x="5715000" y="3122697"/>
            <a:ext cx="4616004" cy="2286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0A1E6FF5-7F34-43B5-84ED-A6451BD1C857}"/>
              </a:ext>
            </a:extLst>
          </p:cNvPr>
          <p:cNvSpPr/>
          <p:nvPr/>
        </p:nvSpPr>
        <p:spPr>
          <a:xfrm>
            <a:off x="4551213" y="3071897"/>
            <a:ext cx="817166" cy="358592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7842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873554-E2E2-49DC-9A48-5EF0EBD02FF2}"/>
              </a:ext>
            </a:extLst>
          </p:cNvPr>
          <p:cNvSpPr/>
          <p:nvPr/>
        </p:nvSpPr>
        <p:spPr>
          <a:xfrm>
            <a:off x="5442396" y="2442920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smallest_value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float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E21F1F"/>
                </a:solidFill>
                <a:latin typeface="Consolas" panose="020B0609020204030204" pitchFamily="49" charset="0"/>
              </a:rPr>
              <a:t>'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inf</a:t>
            </a:r>
            <a:r>
              <a:rPr lang="en-US" sz="1400" dirty="0">
                <a:solidFill>
                  <a:srgbClr val="E21F1F"/>
                </a:solidFill>
                <a:latin typeface="Consolas" panose="020B0609020204030204" pitchFamily="49" charset="0"/>
              </a:rPr>
              <a:t>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left_smallest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smallest_value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right_smallest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smallest_value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4531F"/>
                </a:solidFill>
                <a:latin typeface="Consolas" panose="020B0609020204030204" pitchFamily="49" charset="0"/>
              </a:rPr>
              <a:t>min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.item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left_smallest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right_smallest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Q03 - Answer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60827-942E-482E-8B34-E253BF44CE36}"/>
              </a:ext>
            </a:extLst>
          </p:cNvPr>
          <p:cNvSpPr/>
          <p:nvPr/>
        </p:nvSpPr>
        <p:spPr>
          <a:xfrm>
            <a:off x="997987" y="1091930"/>
            <a:ext cx="990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Now we will go through the </a:t>
            </a:r>
            <a:r>
              <a:rPr lang="en-US" sz="2400" b="1" u="sng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smallest_value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(node) function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83EC4B-4B3E-4818-A292-574F55D8E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0804" y="2767280"/>
            <a:ext cx="3124200" cy="1323439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Recursive Case: Explore Right Subtree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Similarly, recursively check the right child of the current node..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2FCFB1-AC94-4773-AF21-4F3F7A12414A}"/>
              </a:ext>
            </a:extLst>
          </p:cNvPr>
          <p:cNvSpPr/>
          <p:nvPr/>
        </p:nvSpPr>
        <p:spPr>
          <a:xfrm>
            <a:off x="5742645" y="3310715"/>
            <a:ext cx="4616004" cy="22860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0A1E6FF5-7F34-43B5-84ED-A6451BD1C857}"/>
              </a:ext>
            </a:extLst>
          </p:cNvPr>
          <p:cNvSpPr/>
          <p:nvPr/>
        </p:nvSpPr>
        <p:spPr>
          <a:xfrm>
            <a:off x="4625230" y="3245719"/>
            <a:ext cx="817166" cy="358592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984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873554-E2E2-49DC-9A48-5EF0EBD02FF2}"/>
              </a:ext>
            </a:extLst>
          </p:cNvPr>
          <p:cNvSpPr/>
          <p:nvPr/>
        </p:nvSpPr>
        <p:spPr>
          <a:xfrm>
            <a:off x="5442396" y="2442920"/>
            <a:ext cx="6096000" cy="138499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smallest_value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2B91AF"/>
                </a:solidFill>
                <a:latin typeface="Consolas" panose="020B0609020204030204" pitchFamily="49" charset="0"/>
              </a:rPr>
              <a:t>float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E21F1F"/>
                </a:solidFill>
                <a:latin typeface="Consolas" panose="020B0609020204030204" pitchFamily="49" charset="0"/>
              </a:rPr>
              <a:t>'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inf</a:t>
            </a:r>
            <a:r>
              <a:rPr lang="en-US" sz="1400" dirty="0">
                <a:solidFill>
                  <a:srgbClr val="E21F1F"/>
                </a:solidFill>
                <a:latin typeface="Consolas" panose="020B0609020204030204" pitchFamily="49" charset="0"/>
              </a:rPr>
              <a:t>'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left_smallest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smallest_value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right_smallest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smallest_value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74531F"/>
                </a:solidFill>
                <a:latin typeface="Consolas" panose="020B0609020204030204" pitchFamily="49" charset="0"/>
              </a:rPr>
              <a:t>min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.item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left_smallest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right_smallest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Q03 - Answer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60827-942E-482E-8B34-E253BF44CE36}"/>
              </a:ext>
            </a:extLst>
          </p:cNvPr>
          <p:cNvSpPr/>
          <p:nvPr/>
        </p:nvSpPr>
        <p:spPr>
          <a:xfrm>
            <a:off x="997987" y="1091930"/>
            <a:ext cx="990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Now we will go through the </a:t>
            </a:r>
            <a:r>
              <a:rPr lang="en-US" sz="2400" b="1" u="sng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smallest_value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(node) function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83EC4B-4B3E-4818-A292-574F55D8E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257" y="1981084"/>
            <a:ext cx="3614543" cy="3785652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Current Node with Children</a:t>
            </a:r>
            <a:b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each node, we compare three values: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value stored in the current node </a:t>
            </a: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6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node.item</a:t>
            </a: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smallest value in the left subtree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smallest value in the right subtree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min() 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ensures that the smallest among the three is returned upward in the recursion.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2FCFB1-AC94-4773-AF21-4F3F7A12414A}"/>
              </a:ext>
            </a:extLst>
          </p:cNvPr>
          <p:cNvSpPr/>
          <p:nvPr/>
        </p:nvSpPr>
        <p:spPr>
          <a:xfrm>
            <a:off x="5832622" y="3579229"/>
            <a:ext cx="5248574" cy="23077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0A1E6FF5-7F34-43B5-84ED-A6451BD1C857}"/>
              </a:ext>
            </a:extLst>
          </p:cNvPr>
          <p:cNvSpPr/>
          <p:nvPr/>
        </p:nvSpPr>
        <p:spPr>
          <a:xfrm>
            <a:off x="4625230" y="3515318"/>
            <a:ext cx="817166" cy="358592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0885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E9DA136-C986-41B1-A093-3BD7EC7B405D}"/>
              </a:ext>
            </a:extLst>
          </p:cNvPr>
          <p:cNvSpPr/>
          <p:nvPr/>
        </p:nvSpPr>
        <p:spPr>
          <a:xfrm>
            <a:off x="457200" y="754757"/>
            <a:ext cx="11201400" cy="57222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Q03 – Answer (Complete code)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8BA0FC0-EFAA-428D-8705-28D0E0CFA9FA}"/>
              </a:ext>
            </a:extLst>
          </p:cNvPr>
          <p:cNvSpPr/>
          <p:nvPr/>
        </p:nvSpPr>
        <p:spPr>
          <a:xfrm>
            <a:off x="990600" y="1074509"/>
            <a:ext cx="6096000" cy="470898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74531F"/>
                </a:solidFill>
                <a:latin typeface="Consolas" panose="020B0609020204030204" pitchFamily="49" charset="0"/>
              </a:rPr>
              <a:t>__init__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item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left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right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.item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item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left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right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</a:p>
          <a:p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print_tree_in_order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is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0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print_tree_in_order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.item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end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print_tree_in_order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printTree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level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0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prefix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Root: 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is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0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level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prefix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000" dirty="0">
                <a:solidFill>
                  <a:srgbClr val="2B91AF"/>
                </a:solidFill>
                <a:latin typeface="Consolas" panose="020B0609020204030204" pitchFamily="49" charset="0"/>
              </a:rPr>
              <a:t>str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.item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0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or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0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printTree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level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0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L--- 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0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printTree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level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0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R--- 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smallest_value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is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0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2B91AF"/>
                </a:solidFill>
                <a:latin typeface="Consolas" panose="020B0609020204030204" pitchFamily="49" charset="0"/>
              </a:rPr>
              <a:t>float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'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inf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'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1F377F"/>
                </a:solidFill>
                <a:latin typeface="Consolas" panose="020B0609020204030204" pitchFamily="49" charset="0"/>
              </a:rPr>
              <a:t>left_smallest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smallest_value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1F377F"/>
                </a:solidFill>
                <a:latin typeface="Consolas" panose="020B0609020204030204" pitchFamily="49" charset="0"/>
              </a:rPr>
              <a:t>right_smallest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smallest_value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74531F"/>
                </a:solidFill>
                <a:latin typeface="Consolas" panose="020B0609020204030204" pitchFamily="49" charset="0"/>
              </a:rPr>
              <a:t>min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.item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 err="1">
                <a:solidFill>
                  <a:srgbClr val="1F377F"/>
                </a:solidFill>
                <a:latin typeface="Consolas" panose="020B0609020204030204" pitchFamily="49" charset="0"/>
              </a:rPr>
              <a:t>left_smallest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 err="1">
                <a:solidFill>
                  <a:srgbClr val="1F377F"/>
                </a:solidFill>
                <a:latin typeface="Consolas" panose="020B0609020204030204" pitchFamily="49" charset="0"/>
              </a:rPr>
              <a:t>right_smallest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B685EF-EEA6-4784-89D8-B42406B592BD}"/>
              </a:ext>
            </a:extLst>
          </p:cNvPr>
          <p:cNvSpPr/>
          <p:nvPr/>
        </p:nvSpPr>
        <p:spPr>
          <a:xfrm>
            <a:off x="6076043" y="1192449"/>
            <a:ext cx="6096000" cy="378565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smallest_value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is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0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2B91AF"/>
                </a:solidFill>
                <a:latin typeface="Consolas" panose="020B0609020204030204" pitchFamily="49" charset="0"/>
              </a:rPr>
              <a:t>float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'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inf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'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1F377F"/>
                </a:solidFill>
                <a:latin typeface="Consolas" panose="020B0609020204030204" pitchFamily="49" charset="0"/>
              </a:rPr>
              <a:t>left_smallest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smallest_value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1F377F"/>
                </a:solidFill>
                <a:latin typeface="Consolas" panose="020B0609020204030204" pitchFamily="49" charset="0"/>
              </a:rPr>
              <a:t>right_smallest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smallest_value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74531F"/>
                </a:solidFill>
                <a:latin typeface="Consolas" panose="020B0609020204030204" pitchFamily="49" charset="0"/>
              </a:rPr>
              <a:t>min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.item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 err="1">
                <a:solidFill>
                  <a:srgbClr val="1F377F"/>
                </a:solidFill>
                <a:latin typeface="Consolas" panose="020B0609020204030204" pitchFamily="49" charset="0"/>
              </a:rPr>
              <a:t>left_smallest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 err="1">
                <a:solidFill>
                  <a:srgbClr val="1F377F"/>
                </a:solidFill>
                <a:latin typeface="Consolas" panose="020B0609020204030204" pitchFamily="49" charset="0"/>
              </a:rPr>
              <a:t>right_smallest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0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1F377F"/>
                </a:solidFill>
                <a:latin typeface="Consolas" panose="020B0609020204030204" pitchFamily="49" charset="0"/>
              </a:rPr>
              <a:t>__name__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__main__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.left.left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.left.right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.right.left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.right.right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Tree Structure: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printTree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B776FB"/>
                </a:solidFill>
                <a:latin typeface="Consolas" panose="020B0609020204030204" pitchFamily="49" charset="0"/>
              </a:rPr>
              <a:t>\</a:t>
            </a:r>
            <a:r>
              <a:rPr lang="en-US" sz="1000" dirty="0" err="1">
                <a:solidFill>
                  <a:srgbClr val="B776FB"/>
                </a:solidFill>
                <a:latin typeface="Consolas" panose="020B0609020204030204" pitchFamily="49" charset="0"/>
              </a:rPr>
              <a:t>n</a:t>
            </a:r>
            <a:r>
              <a:rPr lang="en-US" sz="1000" dirty="0" err="1">
                <a:solidFill>
                  <a:srgbClr val="A31515"/>
                </a:solidFill>
                <a:latin typeface="Consolas" panose="020B0609020204030204" pitchFamily="49" charset="0"/>
              </a:rPr>
              <a:t>Tree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 (In-Order):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print_tree_in_order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B776FB"/>
                </a:solidFill>
                <a:latin typeface="Consolas" panose="020B0609020204030204" pitchFamily="49" charset="0"/>
              </a:rPr>
              <a:t>\</a:t>
            </a:r>
            <a:r>
              <a:rPr lang="en-US" sz="1000" dirty="0" err="1">
                <a:solidFill>
                  <a:srgbClr val="B776FB"/>
                </a:solidFill>
                <a:latin typeface="Consolas" panose="020B0609020204030204" pitchFamily="49" charset="0"/>
              </a:rPr>
              <a:t>n</a:t>
            </a:r>
            <a:r>
              <a:rPr lang="en-US" sz="1000" dirty="0" err="1">
                <a:solidFill>
                  <a:srgbClr val="A31515"/>
                </a:solidFill>
                <a:latin typeface="Consolas" panose="020B0609020204030204" pitchFamily="49" charset="0"/>
              </a:rPr>
              <a:t>The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 smallest value in the tree is: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smallest_value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64894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60827-942E-482E-8B34-E253BF44CE36}"/>
              </a:ext>
            </a:extLst>
          </p:cNvPr>
          <p:cNvSpPr/>
          <p:nvPr/>
        </p:nvSpPr>
        <p:spPr>
          <a:xfrm>
            <a:off x="1295400" y="1600200"/>
            <a:ext cx="9601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recursive function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hasGreatGrandchild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prints the values stored in all nodes of a binary tree that have at least one great-grandchild. The function accepts a single parameter: a reference to the root node of the binary tree. 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hasGreatGrandchild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(node): </a:t>
            </a: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Hint: Determine the common property shared by nodes with great-grandchild nodes and write a recursive function that computes that property.</a:t>
            </a:r>
            <a:endParaRPr lang="en-US" sz="2400" i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25484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209338E-DF18-4803-A000-856840243323}"/>
              </a:ext>
            </a:extLst>
          </p:cNvPr>
          <p:cNvSpPr/>
          <p:nvPr/>
        </p:nvSpPr>
        <p:spPr>
          <a:xfrm>
            <a:off x="5143734" y="1965961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hasGreatGrandchild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-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left_height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hasGreatGrandchild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right_height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hasGreatGrandchild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max_height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74531F"/>
                </a:solidFill>
                <a:latin typeface="Consolas" panose="020B0609020204030204" pitchFamily="49" charset="0"/>
              </a:rPr>
              <a:t>max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left_height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right_height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max_height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.item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end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max_height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Q04 - Answer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60827-942E-482E-8B34-E253BF44CE36}"/>
              </a:ext>
            </a:extLst>
          </p:cNvPr>
          <p:cNvSpPr/>
          <p:nvPr/>
        </p:nvSpPr>
        <p:spPr>
          <a:xfrm>
            <a:off x="997987" y="1091930"/>
            <a:ext cx="990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Now we will go through the </a:t>
            </a:r>
            <a:r>
              <a:rPr lang="en-US" sz="2400" b="1" u="sng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hasGreatGrandchild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(node) function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83EC4B-4B3E-4818-A292-574F55D8E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266" y="2129870"/>
            <a:ext cx="3124200" cy="2062103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the node doesn’t exist (None), </a:t>
            </a: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 -1.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trick helps: when you calculate height, a leaf node ends up with height 0 </a:t>
            </a: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(since both its children return -1, and max(-1,-1)+1 = 0).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62AF53F-9F1E-44CA-A745-782F1E8614AE}"/>
              </a:ext>
            </a:extLst>
          </p:cNvPr>
          <p:cNvSpPr/>
          <p:nvPr/>
        </p:nvSpPr>
        <p:spPr>
          <a:xfrm>
            <a:off x="4326568" y="2272629"/>
            <a:ext cx="817166" cy="358592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2FCFB1-AC94-4773-AF21-4F3F7A12414A}"/>
              </a:ext>
            </a:extLst>
          </p:cNvPr>
          <p:cNvSpPr/>
          <p:nvPr/>
        </p:nvSpPr>
        <p:spPr>
          <a:xfrm>
            <a:off x="5486400" y="2236851"/>
            <a:ext cx="2133600" cy="43014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255034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209338E-DF18-4803-A000-856840243323}"/>
              </a:ext>
            </a:extLst>
          </p:cNvPr>
          <p:cNvSpPr/>
          <p:nvPr/>
        </p:nvSpPr>
        <p:spPr>
          <a:xfrm>
            <a:off x="5143734" y="1965961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hasGreatGrandchild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-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left_height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hasGreatGrandchild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right_height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hasGreatGrandchild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max_height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74531F"/>
                </a:solidFill>
                <a:latin typeface="Consolas" panose="020B0609020204030204" pitchFamily="49" charset="0"/>
              </a:rPr>
              <a:t>max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left_height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right_height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max_height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.item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end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max_height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Q04 - Answer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60827-942E-482E-8B34-E253BF44CE36}"/>
              </a:ext>
            </a:extLst>
          </p:cNvPr>
          <p:cNvSpPr/>
          <p:nvPr/>
        </p:nvSpPr>
        <p:spPr>
          <a:xfrm>
            <a:off x="997987" y="1091930"/>
            <a:ext cx="990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Now we will go through the </a:t>
            </a:r>
            <a:r>
              <a:rPr lang="en-US" sz="2400" b="1" u="sng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hasGreatGrandchild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(node) function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83EC4B-4B3E-4818-A292-574F55D8E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5724" y="2319903"/>
            <a:ext cx="3124200" cy="1323439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Recursively call the function on the </a:t>
            </a: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left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subtrees.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calls return the </a:t>
            </a:r>
            <a:r>
              <a:rPr lang="en-US" altLang="en-US" sz="1600" b="1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heights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the left and right subtrees.</a:t>
            </a:r>
            <a:endParaRPr lang="en-US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62AF53F-9F1E-44CA-A745-782F1E8614AE}"/>
              </a:ext>
            </a:extLst>
          </p:cNvPr>
          <p:cNvSpPr/>
          <p:nvPr/>
        </p:nvSpPr>
        <p:spPr>
          <a:xfrm>
            <a:off x="4319311" y="2692144"/>
            <a:ext cx="817166" cy="358592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2FCFB1-AC94-4773-AF21-4F3F7A12414A}"/>
              </a:ext>
            </a:extLst>
          </p:cNvPr>
          <p:cNvSpPr/>
          <p:nvPr/>
        </p:nvSpPr>
        <p:spPr>
          <a:xfrm>
            <a:off x="5401106" y="2618681"/>
            <a:ext cx="4733493" cy="50551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6384975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209338E-DF18-4803-A000-856840243323}"/>
              </a:ext>
            </a:extLst>
          </p:cNvPr>
          <p:cNvSpPr/>
          <p:nvPr/>
        </p:nvSpPr>
        <p:spPr>
          <a:xfrm>
            <a:off x="5143734" y="1965961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hasGreatGrandchild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-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left_height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hasGreatGrandchild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right_height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hasGreatGrandchild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max_height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74531F"/>
                </a:solidFill>
                <a:latin typeface="Consolas" panose="020B0609020204030204" pitchFamily="49" charset="0"/>
              </a:rPr>
              <a:t>max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left_height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right_height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max_height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.item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end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max_height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Q04 - Answer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60827-942E-482E-8B34-E253BF44CE36}"/>
              </a:ext>
            </a:extLst>
          </p:cNvPr>
          <p:cNvSpPr/>
          <p:nvPr/>
        </p:nvSpPr>
        <p:spPr>
          <a:xfrm>
            <a:off x="997987" y="1091930"/>
            <a:ext cx="990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Now we will go through the </a:t>
            </a:r>
            <a:r>
              <a:rPr lang="en-US" sz="2400" b="1" u="sng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hasGreatGrandchild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(node) function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83EC4B-4B3E-4818-A292-574F55D8E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035" y="2534604"/>
            <a:ext cx="3124200" cy="1323439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 the taller side’s </a:t>
            </a: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height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tells us how many levels exist below this node.</a:t>
            </a:r>
            <a:endParaRPr lang="en-US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62AF53F-9F1E-44CA-A745-782F1E8614AE}"/>
              </a:ext>
            </a:extLst>
          </p:cNvPr>
          <p:cNvSpPr/>
          <p:nvPr/>
        </p:nvSpPr>
        <p:spPr>
          <a:xfrm>
            <a:off x="4326568" y="3017028"/>
            <a:ext cx="817166" cy="358592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2FCFB1-AC94-4773-AF21-4F3F7A12414A}"/>
              </a:ext>
            </a:extLst>
          </p:cNvPr>
          <p:cNvSpPr/>
          <p:nvPr/>
        </p:nvSpPr>
        <p:spPr>
          <a:xfrm>
            <a:off x="5486400" y="3050736"/>
            <a:ext cx="4733493" cy="291177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753236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209338E-DF18-4803-A000-856840243323}"/>
              </a:ext>
            </a:extLst>
          </p:cNvPr>
          <p:cNvSpPr/>
          <p:nvPr/>
        </p:nvSpPr>
        <p:spPr>
          <a:xfrm>
            <a:off x="5143734" y="1965961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hasGreatGrandchild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-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left_height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hasGreatGrandchild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right_height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hasGreatGrandchild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max_height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74531F"/>
                </a:solidFill>
                <a:latin typeface="Consolas" panose="020B0609020204030204" pitchFamily="49" charset="0"/>
              </a:rPr>
              <a:t>max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left_height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right_height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max_height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.item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end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max_height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Q04 - Answer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60827-942E-482E-8B34-E253BF44CE36}"/>
              </a:ext>
            </a:extLst>
          </p:cNvPr>
          <p:cNvSpPr/>
          <p:nvPr/>
        </p:nvSpPr>
        <p:spPr>
          <a:xfrm>
            <a:off x="997987" y="1091930"/>
            <a:ext cx="990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Now we will go through the </a:t>
            </a:r>
            <a:r>
              <a:rPr lang="en-US" sz="2400" b="1" u="sng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hasGreatGrandchild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(node) function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83EC4B-4B3E-4818-A292-574F55D8E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1035" y="2533739"/>
            <a:ext cx="3124200" cy="2308324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the maximum depth below this node is greater than 1, it means this node has a descendant at </a:t>
            </a:r>
            <a:r>
              <a:rPr lang="en-US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least 3 levels down → a great-grandchild 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exists.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Therefore, print the node’s value.</a:t>
            </a:r>
            <a:endParaRPr lang="en-US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62AF53F-9F1E-44CA-A745-782F1E8614AE}"/>
              </a:ext>
            </a:extLst>
          </p:cNvPr>
          <p:cNvSpPr/>
          <p:nvPr/>
        </p:nvSpPr>
        <p:spPr>
          <a:xfrm>
            <a:off x="4326568" y="3329309"/>
            <a:ext cx="817166" cy="358592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2FCFB1-AC94-4773-AF21-4F3F7A12414A}"/>
              </a:ext>
            </a:extLst>
          </p:cNvPr>
          <p:cNvSpPr/>
          <p:nvPr/>
        </p:nvSpPr>
        <p:spPr>
          <a:xfrm>
            <a:off x="5486401" y="3283411"/>
            <a:ext cx="3429000" cy="450389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6327218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209338E-DF18-4803-A000-856840243323}"/>
              </a:ext>
            </a:extLst>
          </p:cNvPr>
          <p:cNvSpPr/>
          <p:nvPr/>
        </p:nvSpPr>
        <p:spPr>
          <a:xfrm>
            <a:off x="5143734" y="1965961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hasGreatGrandchild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-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left_height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hasGreatGrandchild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right_height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 err="1">
                <a:solidFill>
                  <a:srgbClr val="74531F"/>
                </a:solidFill>
                <a:latin typeface="Consolas" panose="020B0609020204030204" pitchFamily="49" charset="0"/>
              </a:rPr>
              <a:t>hasGreatGrandchild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max_height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74531F"/>
                </a:solidFill>
                <a:latin typeface="Consolas" panose="020B0609020204030204" pitchFamily="49" charset="0"/>
              </a:rPr>
              <a:t>max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left_height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right_height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max_height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4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.item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end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4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1F377F"/>
                </a:solidFill>
                <a:latin typeface="Consolas" panose="020B0609020204030204" pitchFamily="49" charset="0"/>
              </a:rPr>
              <a:t>max_height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4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Q04 - Answer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A160827-942E-482E-8B34-E253BF44CE36}"/>
              </a:ext>
            </a:extLst>
          </p:cNvPr>
          <p:cNvSpPr/>
          <p:nvPr/>
        </p:nvSpPr>
        <p:spPr>
          <a:xfrm>
            <a:off x="997987" y="1091930"/>
            <a:ext cx="9906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>
              <a:spcBef>
                <a:spcPts val="0"/>
              </a:spcBef>
              <a:spcAft>
                <a:spcPts val="0"/>
              </a:spcAft>
            </a:pP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Now we will go through the </a:t>
            </a:r>
            <a:r>
              <a:rPr lang="en-US" sz="2400" b="1" u="sng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hasGreatGrandchild</a:t>
            </a:r>
            <a:r>
              <a:rPr lang="en-US" sz="24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(node) function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A83EC4B-4B3E-4818-A292-574F55D8E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634" y="3066836"/>
            <a:ext cx="3124200" cy="1569660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1 to include the current node in the height count.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ensures the parent receives the correct height of this subtree.</a:t>
            </a:r>
            <a:endParaRPr lang="en-US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762AF53F-9F1E-44CA-A745-782F1E8614AE}"/>
              </a:ext>
            </a:extLst>
          </p:cNvPr>
          <p:cNvSpPr/>
          <p:nvPr/>
        </p:nvSpPr>
        <p:spPr>
          <a:xfrm>
            <a:off x="4412234" y="3638694"/>
            <a:ext cx="817166" cy="358592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2FCFB1-AC94-4773-AF21-4F3F7A12414A}"/>
              </a:ext>
            </a:extLst>
          </p:cNvPr>
          <p:cNvSpPr/>
          <p:nvPr/>
        </p:nvSpPr>
        <p:spPr>
          <a:xfrm>
            <a:off x="5486400" y="3706045"/>
            <a:ext cx="2575768" cy="29124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8660115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E9DA136-C986-41B1-A093-3BD7EC7B405D}"/>
              </a:ext>
            </a:extLst>
          </p:cNvPr>
          <p:cNvSpPr/>
          <p:nvPr/>
        </p:nvSpPr>
        <p:spPr>
          <a:xfrm>
            <a:off x="457200" y="754757"/>
            <a:ext cx="11201400" cy="57222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Q04 – Answer (Complete code)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FD2A6A-26BB-432B-B301-314A118D499F}"/>
              </a:ext>
            </a:extLst>
          </p:cNvPr>
          <p:cNvSpPr/>
          <p:nvPr/>
        </p:nvSpPr>
        <p:spPr>
          <a:xfrm>
            <a:off x="990600" y="997565"/>
            <a:ext cx="6096000" cy="486287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74531F"/>
                </a:solidFill>
                <a:latin typeface="Consolas" panose="020B0609020204030204" pitchFamily="49" charset="0"/>
              </a:rPr>
              <a:t>__init__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item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left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right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.item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item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left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self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right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print_tree_in_order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is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0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print_tree_in_order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.item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end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print_tree_in_order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printTree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level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000" dirty="0">
                <a:solidFill>
                  <a:srgbClr val="098658"/>
                </a:solidFill>
                <a:latin typeface="Consolas" panose="020B0609020204030204" pitchFamily="49" charset="0"/>
              </a:rPr>
              <a:t>0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prefix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Root: 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is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not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0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level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prefix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000" dirty="0">
                <a:solidFill>
                  <a:srgbClr val="2B91AF"/>
                </a:solidFill>
                <a:latin typeface="Consolas" panose="020B0609020204030204" pitchFamily="49" charset="0"/>
              </a:rPr>
              <a:t>str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.item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0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or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0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printTree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level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0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L--- 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0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printTree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level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0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R--- 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def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hasGreatGrandchild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is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0000FF"/>
                </a:solidFill>
                <a:latin typeface="Consolas" panose="020B0609020204030204" pitchFamily="49" charset="0"/>
              </a:rPr>
              <a:t>None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0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-</a:t>
            </a:r>
            <a:r>
              <a:rPr lang="en-US" sz="10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1F377F"/>
                </a:solidFill>
                <a:latin typeface="Consolas" panose="020B0609020204030204" pitchFamily="49" charset="0"/>
              </a:rPr>
              <a:t>left_height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hasGreatGrandchild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1F377F"/>
                </a:solidFill>
                <a:latin typeface="Consolas" panose="020B0609020204030204" pitchFamily="49" charset="0"/>
              </a:rPr>
              <a:t>right_height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hasGreatGrandchild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1F377F"/>
                </a:solidFill>
                <a:latin typeface="Consolas" panose="020B0609020204030204" pitchFamily="49" charset="0"/>
              </a:rPr>
              <a:t>max_height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>
                <a:solidFill>
                  <a:srgbClr val="74531F"/>
                </a:solidFill>
                <a:latin typeface="Consolas" panose="020B0609020204030204" pitchFamily="49" charset="0"/>
              </a:rPr>
              <a:t>max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1F377F"/>
                </a:solidFill>
                <a:latin typeface="Consolas" panose="020B0609020204030204" pitchFamily="49" charset="0"/>
              </a:rPr>
              <a:t>left_height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 err="1">
                <a:solidFill>
                  <a:srgbClr val="1F377F"/>
                </a:solidFill>
                <a:latin typeface="Consolas" panose="020B0609020204030204" pitchFamily="49" charset="0"/>
              </a:rPr>
              <a:t>right_height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1F377F"/>
                </a:solidFill>
                <a:latin typeface="Consolas" panose="020B0609020204030204" pitchFamily="49" charset="0"/>
              </a:rPr>
              <a:t>max_height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&gt; </a:t>
            </a:r>
            <a:r>
              <a:rPr lang="en-US" sz="10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0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 err="1">
                <a:solidFill>
                  <a:srgbClr val="808080"/>
                </a:solidFill>
                <a:latin typeface="Consolas" panose="020B0609020204030204" pitchFamily="49" charset="0"/>
              </a:rPr>
              <a:t>node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.item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end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8F08C4"/>
                </a:solidFill>
                <a:latin typeface="Consolas" panose="020B0609020204030204" pitchFamily="49" charset="0"/>
              </a:rPr>
              <a:t>return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 err="1">
                <a:solidFill>
                  <a:srgbClr val="1F377F"/>
                </a:solidFill>
                <a:latin typeface="Consolas" panose="020B0609020204030204" pitchFamily="49" charset="0"/>
              </a:rPr>
              <a:t>max_height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sz="10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264D06-D6A9-4281-8C42-54ACCA0D72C8}"/>
              </a:ext>
            </a:extLst>
          </p:cNvPr>
          <p:cNvSpPr/>
          <p:nvPr/>
        </p:nvSpPr>
        <p:spPr>
          <a:xfrm>
            <a:off x="6553200" y="1028415"/>
            <a:ext cx="6096000" cy="393954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000" dirty="0">
                <a:solidFill>
                  <a:srgbClr val="8F08C4"/>
                </a:solidFill>
                <a:latin typeface="Consolas" panose="020B0609020204030204" pitchFamily="49" charset="0"/>
              </a:rPr>
              <a:t>if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1F377F"/>
                </a:solidFill>
                <a:latin typeface="Consolas" panose="020B0609020204030204" pitchFamily="49" charset="0"/>
              </a:rPr>
              <a:t>__name__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== 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__main__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008000"/>
                </a:solidFill>
                <a:latin typeface="Consolas" panose="020B0609020204030204" pitchFamily="49" charset="0"/>
              </a:rPr>
              <a:t># Create a tree with nodes having great-grandchildren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008000"/>
                </a:solidFill>
                <a:latin typeface="Consolas" panose="020B0609020204030204" pitchFamily="49" charset="0"/>
              </a:rPr>
              <a:t># Left subtree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.left.left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.left.left.left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098658"/>
                </a:solidFill>
                <a:latin typeface="Consolas" panose="020B0609020204030204" pitchFamily="49" charset="0"/>
              </a:rPr>
              <a:t>8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.left.left.left.left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098658"/>
                </a:solidFill>
                <a:latin typeface="Consolas" panose="020B0609020204030204" pitchFamily="49" charset="0"/>
              </a:rPr>
              <a:t>16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008000"/>
                </a:solidFill>
                <a:latin typeface="Consolas" panose="020B0609020204030204" pitchFamily="49" charset="0"/>
              </a:rPr>
              <a:t># Right subtree  </a:t>
            </a:r>
            <a:endParaRPr lang="en-US" sz="1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.right.right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.right.right.right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098658"/>
                </a:solidFill>
                <a:latin typeface="Consolas" panose="020B0609020204030204" pitchFamily="49" charset="0"/>
              </a:rPr>
              <a:t>15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000" dirty="0" err="1">
                <a:solidFill>
                  <a:srgbClr val="000000"/>
                </a:solidFill>
                <a:latin typeface="Consolas" panose="020B0609020204030204" pitchFamily="49" charset="0"/>
              </a:rPr>
              <a:t>.right.right.right.right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000" dirty="0" err="1">
                <a:solidFill>
                  <a:srgbClr val="2B91AF"/>
                </a:solidFill>
                <a:latin typeface="Consolas" panose="020B0609020204030204" pitchFamily="49" charset="0"/>
              </a:rPr>
              <a:t>BTNode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098658"/>
                </a:solidFill>
                <a:latin typeface="Consolas" panose="020B0609020204030204" pitchFamily="49" charset="0"/>
              </a:rPr>
              <a:t>31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b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Visual representation of the tree: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printTree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B776FB"/>
                </a:solidFill>
                <a:latin typeface="Consolas" panose="020B0609020204030204" pitchFamily="49" charset="0"/>
              </a:rPr>
              <a:t>\</a:t>
            </a:r>
            <a:r>
              <a:rPr lang="en-US" sz="1000" dirty="0" err="1">
                <a:solidFill>
                  <a:srgbClr val="B776FB"/>
                </a:solidFill>
                <a:latin typeface="Consolas" panose="020B0609020204030204" pitchFamily="49" charset="0"/>
              </a:rPr>
              <a:t>n</a:t>
            </a:r>
            <a:r>
              <a:rPr lang="en-US" sz="1000" dirty="0" err="1">
                <a:solidFill>
                  <a:srgbClr val="A31515"/>
                </a:solidFill>
                <a:latin typeface="Consolas" panose="020B0609020204030204" pitchFamily="49" charset="0"/>
              </a:rPr>
              <a:t>Tree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 (In-Order):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print_tree_in_order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B776FB"/>
                </a:solidFill>
                <a:latin typeface="Consolas" panose="020B0609020204030204" pitchFamily="49" charset="0"/>
              </a:rPr>
              <a:t>\</a:t>
            </a:r>
            <a:r>
              <a:rPr lang="en-US" sz="1000" dirty="0" err="1">
                <a:solidFill>
                  <a:srgbClr val="B776FB"/>
                </a:solidFill>
                <a:latin typeface="Consolas" panose="020B0609020204030204" pitchFamily="49" charset="0"/>
              </a:rPr>
              <a:t>n</a:t>
            </a:r>
            <a:r>
              <a:rPr lang="en-US" sz="1000" dirty="0" err="1">
                <a:solidFill>
                  <a:srgbClr val="A31515"/>
                </a:solidFill>
                <a:latin typeface="Consolas" panose="020B0609020204030204" pitchFamily="49" charset="0"/>
              </a:rPr>
              <a:t>Nodes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 with great-grandchildren: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000" dirty="0">
                <a:solidFill>
                  <a:srgbClr val="808080"/>
                </a:solidFill>
                <a:latin typeface="Consolas" panose="020B0609020204030204" pitchFamily="49" charset="0"/>
              </a:rPr>
              <a:t>end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A31515"/>
                </a:solidFill>
                <a:latin typeface="Consolas" panose="020B0609020204030204" pitchFamily="49" charset="0"/>
              </a:rPr>
              <a:t> </a:t>
            </a:r>
            <a:r>
              <a:rPr lang="en-US" sz="1000" dirty="0">
                <a:solidFill>
                  <a:srgbClr val="E21F1F"/>
                </a:solidFill>
                <a:latin typeface="Consolas" panose="020B0609020204030204" pitchFamily="49" charset="0"/>
              </a:rPr>
              <a:t>"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 err="1">
                <a:solidFill>
                  <a:srgbClr val="74531F"/>
                </a:solidFill>
                <a:latin typeface="Consolas" panose="020B0609020204030204" pitchFamily="49" charset="0"/>
              </a:rPr>
              <a:t>hasGreatGrandchild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000" dirty="0">
                <a:solidFill>
                  <a:srgbClr val="1F377F"/>
                </a:solidFill>
                <a:latin typeface="Consolas" panose="020B0609020204030204" pitchFamily="49" charset="0"/>
              </a:rPr>
              <a:t>root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000" dirty="0">
                <a:solidFill>
                  <a:srgbClr val="74531F"/>
                </a:solidFill>
                <a:latin typeface="Consolas" panose="020B0609020204030204" pitchFamily="49" charset="0"/>
              </a:rPr>
              <a:t>print</a:t>
            </a:r>
            <a:r>
              <a:rPr lang="en-US" sz="10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755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solidFill>
          <a:schemeClr val="bg1"/>
        </a:solidFill>
        <a:ln>
          <a:noFill/>
        </a:ln>
        <a:effectLst>
          <a:outerShdw blurRad="149987" dist="250190" dir="8460000" algn="ctr">
            <a:srgbClr val="000000">
              <a:alpha val="2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500000"/>
          </a:lightRig>
        </a:scene3d>
        <a:sp3d prstMaterial="metal">
          <a:bevelT w="88900" h="88900"/>
        </a:sp3d>
      </a:spPr>
      <a:bodyPr rtlCol="0">
        <a:normAutofit/>
      </a:bodyPr>
      <a:lstStyle>
        <a:defPPr algn="l" eaLnBrk="1" fontAlgn="auto" hangingPunct="1">
          <a:spcAft>
            <a:spcPts val="0"/>
          </a:spcAft>
          <a:buFont typeface="Arial"/>
          <a:buChar char="•"/>
          <a:defRPr sz="2800" i="1" dirty="0">
            <a:solidFill>
              <a:schemeClr val="tx2"/>
            </a:solidFill>
            <a:latin typeface="Verdana" panose="020B0604030504040204" pitchFamily="34" charset="0"/>
            <a:ea typeface="Verdana" panose="020B0604030504040204" pitchFamily="34" charset="0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1259</Words>
  <Application>Microsoft Office PowerPoint</Application>
  <PresentationFormat>Widescreen</PresentationFormat>
  <Paragraphs>621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MS PGothic</vt:lpstr>
      <vt:lpstr>MS PGothic</vt:lpstr>
      <vt:lpstr>Arial</vt:lpstr>
      <vt:lpstr>Calibri</vt:lpstr>
      <vt:lpstr>Consolas</vt:lpstr>
      <vt:lpstr>Courier New</vt:lpstr>
      <vt:lpstr>Times</vt:lpstr>
      <vt:lpstr>Times New Roman</vt:lpstr>
      <vt:lpstr>Verdana</vt:lpstr>
      <vt:lpstr>Office Theme</vt:lpstr>
      <vt:lpstr>Data Structures &amp; Algorithms in Python  Binary Trees – Lab Answers  Dr. Owen Noel Newton Fernando </vt:lpstr>
      <vt:lpstr>Q01</vt:lpstr>
      <vt:lpstr>Q01 - Answer</vt:lpstr>
      <vt:lpstr>Q01 - Answer</vt:lpstr>
      <vt:lpstr>Q01 - Answer</vt:lpstr>
      <vt:lpstr>Q01 - Answer</vt:lpstr>
      <vt:lpstr>Q01 - Answer</vt:lpstr>
      <vt:lpstr>Q01 - Answer</vt:lpstr>
      <vt:lpstr>Q01 - Answer</vt:lpstr>
      <vt:lpstr>Q01 - Answer</vt:lpstr>
      <vt:lpstr>Q01 - Answer</vt:lpstr>
      <vt:lpstr>Q01 - Answer</vt:lpstr>
      <vt:lpstr>Q01 – Answer</vt:lpstr>
      <vt:lpstr>Q02</vt:lpstr>
      <vt:lpstr>Q02 - Answer</vt:lpstr>
      <vt:lpstr>Q02 - Answer</vt:lpstr>
      <vt:lpstr>Q02 - Answer</vt:lpstr>
      <vt:lpstr>Q02 – Answer (Complete code)</vt:lpstr>
      <vt:lpstr>Q03</vt:lpstr>
      <vt:lpstr>Q03 - Answer</vt:lpstr>
      <vt:lpstr>Q03 - Answer</vt:lpstr>
      <vt:lpstr>Q03 - Answer</vt:lpstr>
      <vt:lpstr>Q03 - Answer</vt:lpstr>
      <vt:lpstr>Q03 – Answer (Complete code)</vt:lpstr>
      <vt:lpstr>Q04</vt:lpstr>
      <vt:lpstr>Q04 - Answer</vt:lpstr>
      <vt:lpstr>Q04 - Answer</vt:lpstr>
      <vt:lpstr>Q04 - Answer</vt:lpstr>
      <vt:lpstr>Q04 - Answer</vt:lpstr>
      <vt:lpstr>Q04 - Answer</vt:lpstr>
      <vt:lpstr>Q04 – Answer (Complete code)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 &amp; Algorithms in Python  Chapter 01 – Overview  Dr. Owen Noel Newton Fernando </dc:title>
  <dc:creator>Thisura Embuldeniya</dc:creator>
  <cp:lastModifiedBy>Thisura Embuldeniya</cp:lastModifiedBy>
  <cp:revision>255</cp:revision>
  <dcterms:created xsi:type="dcterms:W3CDTF">2024-09-01T19:11:44Z</dcterms:created>
  <dcterms:modified xsi:type="dcterms:W3CDTF">2025-08-22T22:51:14Z</dcterms:modified>
</cp:coreProperties>
</file>